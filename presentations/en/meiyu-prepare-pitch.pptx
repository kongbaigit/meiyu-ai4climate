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48ba417c2840e5" /><Relationship Type="http://schemas.openxmlformats.org/officeDocument/2006/relationships/extended-properties" Target="/docProps/app.xml" Id="Rb380b0acdecf4e2d" /><Relationship Type="http://schemas.openxmlformats.org/officeDocument/2006/relationships/officeDocument" Target="/ppt/presentation.xml" Id="Rd8e298c5160f4ef5" /></Relationships>
</file>

<file path=ppt/presentation.xml><?xml version="1.0" encoding="utf-8"?>
<p:presentation xmlns:p="http://schemas.openxmlformats.org/presentationml/2006/main">
  <p:sldMasterIdLst>
    <p:sldMasterId xmlns:r="http://schemas.openxmlformats.org/officeDocument/2006/relationships" id="2147483648" r:id="R50a619c8386a4b40"/>
  </p:sldMasterIdLst>
  <p:notesMasterIdLst>
    <p:notesMasterId xmlns:r="http://schemas.openxmlformats.org/officeDocument/2006/relationships" r:id="R8dcdfbe6b7464530"/>
  </p:notesMasterIdLst>
  <p:sldIdLst>
    <p:sldId xmlns:r="http://schemas.openxmlformats.org/officeDocument/2006/relationships" id="256" r:id="Rb3121482a1024c92"/>
    <p:sldId xmlns:r="http://schemas.openxmlformats.org/officeDocument/2006/relationships" id="257" r:id="R16eecfd50c334415"/>
    <p:sldId xmlns:r="http://schemas.openxmlformats.org/officeDocument/2006/relationships" id="258" r:id="R461e32642bd549a3"/>
    <p:sldId xmlns:r="http://schemas.openxmlformats.org/officeDocument/2006/relationships" id="259" r:id="R9c1cb2bc9d1b415b"/>
    <p:sldId xmlns:r="http://schemas.openxmlformats.org/officeDocument/2006/relationships" id="260" r:id="R5e48a4324c224219"/>
    <p:sldId xmlns:r="http://schemas.openxmlformats.org/officeDocument/2006/relationships" id="261" r:id="Rdb641275e0a6428e"/>
    <p:sldId xmlns:r="http://schemas.openxmlformats.org/officeDocument/2006/relationships" id="262" r:id="R82e48830dbb14747"/>
    <p:sldId xmlns:r="http://schemas.openxmlformats.org/officeDocument/2006/relationships" id="263" r:id="R29b809cb84084468"/>
    <p:sldId xmlns:r="http://schemas.openxmlformats.org/officeDocument/2006/relationships" id="264" r:id="Race3d24ee9db49e8"/>
    <p:sldId xmlns:r="http://schemas.openxmlformats.org/officeDocument/2006/relationships" id="265" r:id="Rc7be1cfa392f40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eb00f521434f46" /><Relationship Type="http://schemas.openxmlformats.org/officeDocument/2006/relationships/slideMaster" Target="/ppt/slideMasters/slideMaster1.xml" Id="R50a619c8386a4b40" /><Relationship Type="http://schemas.openxmlformats.org/officeDocument/2006/relationships/notesMaster" Target="/ppt/notesMasters/notesMaster1.xml" Id="R8dcdfbe6b7464530" /><Relationship Type="http://schemas.openxmlformats.org/officeDocument/2006/relationships/presProps" Target="/ppt/presProps.xml" Id="Reae226a51a7b4935" /><Relationship Type="http://schemas.openxmlformats.org/officeDocument/2006/relationships/tableStyles" Target="/ppt/tableStyles.xml" Id="R052ce94251074c3d" /><Relationship Type="http://schemas.openxmlformats.org/officeDocument/2006/relationships/slide" Target="/ppt/slides/slide1.xml" Id="Rb3121482a1024c92" /><Relationship Type="http://schemas.openxmlformats.org/officeDocument/2006/relationships/slide" Target="/ppt/slides/slide2.xml" Id="R16eecfd50c334415" /><Relationship Type="http://schemas.openxmlformats.org/officeDocument/2006/relationships/slide" Target="/ppt/slides/slide3.xml" Id="R461e32642bd549a3" /><Relationship Type="http://schemas.openxmlformats.org/officeDocument/2006/relationships/slide" Target="/ppt/slides/slide4.xml" Id="R9c1cb2bc9d1b415b" /><Relationship Type="http://schemas.openxmlformats.org/officeDocument/2006/relationships/slide" Target="/ppt/slides/slide5.xml" Id="R5e48a4324c224219" /><Relationship Type="http://schemas.openxmlformats.org/officeDocument/2006/relationships/slide" Target="/ppt/slides/slide6.xml" Id="Rdb641275e0a6428e" /><Relationship Type="http://schemas.openxmlformats.org/officeDocument/2006/relationships/slide" Target="/ppt/slides/slide7.xml" Id="R82e48830dbb14747" /><Relationship Type="http://schemas.openxmlformats.org/officeDocument/2006/relationships/slide" Target="/ppt/slides/slide8.xml" Id="R29b809cb84084468" /><Relationship Type="http://schemas.openxmlformats.org/officeDocument/2006/relationships/slide" Target="/ppt/slides/slide9.xml" Id="Race3d24ee9db49e8" /><Relationship Type="http://schemas.openxmlformats.org/officeDocument/2006/relationships/slide" Target="/ppt/slides/slide10.xml" Id="Rc7be1cfa392f40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2bc4ed34ac4b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eiyu Prepare">
      <a:dk1>
        <a:srgbClr val="102E2A"/>
      </a:dk1>
      <a:lt1>
        <a:srgbClr val="FFFEF8"/>
      </a:lt1>
      <a:dk2>
        <a:srgbClr val="173E36"/>
      </a:dk2>
      <a:lt2>
        <a:srgbClr val="F0EFD7"/>
      </a:lt2>
      <a:accent1>
        <a:srgbClr val="286C60"/>
      </a:accent1>
      <a:accent2>
        <a:srgbClr val="E8BE78"/>
      </a:accent2>
      <a:accent3>
        <a:srgbClr val="C8E3B3"/>
      </a:accent3>
      <a:accent4>
        <a:srgbClr val="B06945"/>
      </a:accent4>
      <a:accent5>
        <a:srgbClr val="687C6C"/>
      </a:accent5>
      <a:accent6>
        <a:srgbClr val="173E36"/>
      </a:accent6>
      <a:hlink>
        <a:srgbClr val="F0EFD7"/>
      </a:hlink>
      <a:folHlink>
        <a:srgbClr val="C8E3B3"/>
      </a:folHlink>
    </a:clrScheme>
    <a:fontScheme name="">
      <a:majorFont>
        <a:latin typeface="Arial"/>
        <a:ea typeface=""/>
        <a:cs typeface=""/>
      </a:majorFont>
      <a:minorFont>
        <a:latin typeface="Arial"/>
        <a:ea typeface=""/>
        <a:cs typeface=""/>
      </a:minorFont>
    </a:fontScheme>
    <a:fmtScheme name="Meiyu Prepa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41ba1755c34667" /><Relationship Type="http://schemas.openxmlformats.org/officeDocument/2006/relationships/notesMaster" Target="/ppt/notesMasters/notesMaster1.xml" Id="R205ff79574fa45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a5893b6ebe4202" /><Relationship Type="http://schemas.openxmlformats.org/officeDocument/2006/relationships/notesMaster" Target="/ppt/notesMasters/notesMaster1.xml" Id="R47616d62253c4d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6295f6567849bb" /><Relationship Type="http://schemas.openxmlformats.org/officeDocument/2006/relationships/notesMaster" Target="/ppt/notesMasters/notesMaster1.xml" Id="R215fb856f35c48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53a9e042dc4989" /><Relationship Type="http://schemas.openxmlformats.org/officeDocument/2006/relationships/notesMaster" Target="/ppt/notesMasters/notesMaster1.xml" Id="Rfd0a2e2b2b1e46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5b49e040e64d3a" /><Relationship Type="http://schemas.openxmlformats.org/officeDocument/2006/relationships/notesMaster" Target="/ppt/notesMasters/notesMaster1.xml" Id="Rf588d3c8efe449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2aed954fff4d31" /><Relationship Type="http://schemas.openxmlformats.org/officeDocument/2006/relationships/notesMaster" Target="/ppt/notesMasters/notesMaster1.xml" Id="R0f3727ba268f4d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cdc27fd5be4399" /><Relationship Type="http://schemas.openxmlformats.org/officeDocument/2006/relationships/notesMaster" Target="/ppt/notesMasters/notesMaster1.xml" Id="Rd02849f556e141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86316d3e88477c" /><Relationship Type="http://schemas.openxmlformats.org/officeDocument/2006/relationships/notesMaster" Target="/ppt/notesMasters/notesMaster1.xml" Id="Rf285d8b4ad4a48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40c6c5b91a4716" /><Relationship Type="http://schemas.openxmlformats.org/officeDocument/2006/relationships/notesMaster" Target="/ppt/notesMasters/notesMaster1.xml" Id="R082fab54361140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98930772b04376" /><Relationship Type="http://schemas.openxmlformats.org/officeDocument/2006/relationships/notesMaster" Target="/ppt/notesMasters/notesMaster1.xml" Id="Rd041fbabb67a41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15 seconds</a:t>
            </a:r>
          </a:p>
          <a:p xmlns:a="http://schemas.openxmlformats.org/drawingml/2006/main">
            <a:r>
              <a:t>We are two students building Meiyu Prepare. Our prototype helps small shops in Hangzhou compare the expected cost of relocating stock before rain with the expected cost of keeping it in place. Merchant validation is still pending.</a:t>
            </a:r>
          </a:p>
          <a:p xmlns:a="http://schemas.openxmlformats.org/drawingml/2006/main">
            <a:r>
              <a:t/>
            </a:r>
          </a:p>
          <a:p xmlns:a="http://schemas.openxmlformats.org/drawingml/2006/main">
            <a:r>
              <a:t>Sources</a:t>
            </a:r>
          </a:p>
          <a:p xmlns:a="http://schemas.openxmlformats.org/drawingml/2006/main">
            <a:r>
              <a:t>https://github.com/kongbaigit/meiyu-ai4climate/blob/main/README.md</a:t>
            </a:r>
          </a:p>
          <a:p xmlns:a="http://schemas.openxmlformats.org/drawingml/2006/main">
            <a:r>
              <a:t>https://github.com/kongbaigit/meiyu-ai4climate</a:t>
            </a:r>
          </a:p>
          <a:p xmlns:a="http://schemas.openxmlformats.org/drawingml/2006/main">
            <a:r>
              <a:t/>
            </a:r>
          </a:p>
          <a:p xmlns:a="http://schemas.openxmlformats.org/drawingml/2006/main">
            <a:r>
              <a:t>Definitions and limits</a:t>
            </a:r>
          </a:p>
          <a:p xmlns:a="http://schemas.openxmlformats.org/drawingml/2006/main">
            <a:r>
              <a:t>Target users and their needs remain hypotheses. The project has no completed merchant interviews.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17 seconds</a:t>
            </a:r>
          </a:p>
          <a:p xmlns:a="http://schemas.openxmlformats.org/drawingml/2006/main">
            <a:r>
              <a:t>Relocation takes labour and materials. Keeping stock in place avoids that immediate expense but leaves exposure. We focus on this specific choice. The need is a hypothesis, so the prototype first makes its inputs and assumptions visible.</a:t>
            </a:r>
          </a:p>
          <a:p xmlns:a="http://schemas.openxmlformats.org/drawingml/2006/main">
            <a:r>
              <a:t/>
            </a:r>
          </a:p>
          <a:p xmlns:a="http://schemas.openxmlformats.org/drawingml/2006/main">
            <a:r>
              <a:t>Sources</a:t>
            </a:r>
          </a:p>
          <a:p xmlns:a="http://schemas.openxmlformats.org/drawingml/2006/main">
            <a:r>
              <a:t>https://github.com/kongbaigit/meiyu-ai4climate/blob/main/docs/decision-guide.md</a:t>
            </a:r>
          </a:p>
          <a:p xmlns:a="http://schemas.openxmlformats.org/drawingml/2006/main">
            <a:r>
              <a:t>https://github.com/kongbaigit/meiyu-ai4climate/blob/main/docs/90%E5%A4%A9%E9%AA%8C%E8%AF%81%E8%AE%A1%E5%88%92.md</a:t>
            </a:r>
          </a:p>
          <a:p xmlns:a="http://schemas.openxmlformats.org/drawingml/2006/main">
            <a:r>
              <a:t/>
            </a:r>
          </a:p>
          <a:p xmlns:a="http://schemas.openxmlformats.org/drawingml/2006/main">
            <a:r>
              <a:t>Definitions and limits</a:t>
            </a:r>
          </a:p>
          <a:p xmlns:a="http://schemas.openxmlformats.org/drawingml/2006/main">
            <a:r>
              <a:t>No completed merchant recruitment or needs validation supports the target-user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17 seconds</a:t>
            </a:r>
          </a:p>
          <a:p xmlns:a="http://schemas.openxmlformats.org/drawingml/2006/main">
            <a:r>
              <a:t>Users choose a location and a 24-hour window, then enter relocation cost and conditional losses for both options. The page compares expected total costs and retains the sources. Missing members, missing hours or stale weather data stop the weather calculation.</a:t>
            </a:r>
          </a:p>
          <a:p xmlns:a="http://schemas.openxmlformats.org/drawingml/2006/main">
            <a:r>
              <a:t/>
            </a:r>
          </a:p>
          <a:p xmlns:a="http://schemas.openxmlformats.org/drawingml/2006/main">
            <a:r>
              <a:t>Sources</a:t>
            </a:r>
          </a:p>
          <a:p xmlns:a="http://schemas.openxmlformats.org/drawingml/2006/main">
            <a:r>
              <a:t>https://github.com/kongbaigit/meiyu-ai4climate/blob/main/README.md</a:t>
            </a:r>
          </a:p>
          <a:p xmlns:a="http://schemas.openxmlformats.org/drawingml/2006/main">
            <a:r>
              <a:t>https://github.com/kongbaigit/meiyu-ai4climate/blob/main/docs/decision-guide.md</a:t>
            </a:r>
          </a:p>
          <a:p xmlns:a="http://schemas.openxmlformats.org/drawingml/2006/main">
            <a:r>
              <a:t/>
            </a:r>
          </a:p>
          <a:p xmlns:a="http://schemas.openxmlformats.org/drawingml/2006/main">
            <a:r>
              <a:t>Definitions and limits</a:t>
            </a:r>
          </a:p>
          <a:p xmlns:a="http://schemas.openxmlformats.org/drawingml/2006/main">
            <a:r>
              <a:t>The workflow describes implemented prototype behaviour, not observed merchant usage.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20 seconds</a:t>
            </a:r>
          </a:p>
          <a:p xmlns:a="http://schemas.openxmlformats.org/drawingml/2006/main">
            <a:r>
              <a:t>Each row pairs a forecast and reference rainfall over the same 24 hours. The configured calendar has 731 days across 2024 and 2025. There are 670 complete reference days and 636 complete pairs. We exclude incomplete windows rather than treating missing observations as zero rain.</a:t>
            </a:r>
          </a:p>
          <a:p xmlns:a="http://schemas.openxmlformats.org/drawingml/2006/main">
            <a:r>
              <a:t/>
            </a:r>
          </a:p>
          <a:p xmlns:a="http://schemas.openxmlformats.org/drawingml/2006/main">
            <a:r>
              <a:t>Sources</a:t>
            </a:r>
          </a:p>
          <a:p xmlns:a="http://schemas.openxmlformats.org/drawingml/2006/main">
            <a:r>
              <a:t>https://github.com/kongbaigit/meiyu-ai4climate/blob/main/data/samples.csv</a:t>
            </a:r>
          </a:p>
          <a:p xmlns:a="http://schemas.openxmlformats.org/drawingml/2006/main">
            <a:r>
              <a:t>https://github.com/kongbaigit/meiyu-ai4climate/blob/main/docs/data_dictionary.md</a:t>
            </a:r>
          </a:p>
          <a:p xmlns:a="http://schemas.openxmlformats.org/drawingml/2006/main">
            <a:r>
              <a:t>https://open-meteo.com/en/docs</a:t>
            </a:r>
          </a:p>
          <a:p xmlns:a="http://schemas.openxmlformats.org/drawingml/2006/main">
            <a:r>
              <a:t>https://www.ncei.noaa.gov/products/global-historical-climatology-network-hourly/synoptic-summary-of-the-day</a:t>
            </a:r>
          </a:p>
          <a:p xmlns:a="http://schemas.openxmlformats.org/drawingml/2006/main">
            <a:r>
              <a:t/>
            </a:r>
          </a:p>
          <a:p xmlns:a="http://schemas.openxmlformats.org/drawingml/2006/main">
            <a:r>
              <a:t>Definitions and limits</a:t>
            </a:r>
          </a:p>
          <a:p xmlns:a="http://schemas.openxmlformats.org/drawingml/2006/main">
            <a:r>
              <a:t>08:00 to the next 08:00 in UTC+08 corresponds to a nominal UTC day.</a:t>
            </a:r>
          </a:p>
          <a:p xmlns:a="http://schemas.openxmlformats.org/drawingml/2006/main">
            <a:r>
              <a:t>The quality flag passed means the row passed project rules. It does not imply independent validation of the rainfall value.</a:t>
            </a:r>
          </a:p>
          <a:p xmlns:a="http://schemas.openxmlformats.org/drawingml/2006/main">
            <a:r>
              <a:t>The English deck retains the fixed example from the Chinese source deck dated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24 seconds</a:t>
            </a:r>
          </a:p>
          <a:p xmlns:a="http://schemas.openxmlformats.org/drawingml/2006/main">
            <a:r>
              <a:t>The historical model and online ensemble have different meanings. The offline example converts 52.5 millimetres into a 67.9 percent probability of the reference rainfall event. The archived online snapshot counts zero of 51 members reaching 25 millimetres. That member fraction lacks local calibration. Neither output is a shop flood or stock loss probability.</a:t>
            </a:r>
          </a:p>
          <a:p xmlns:a="http://schemas.openxmlformats.org/drawingml/2006/main">
            <a:r>
              <a:t/>
            </a:r>
          </a:p>
          <a:p xmlns:a="http://schemas.openxmlformats.org/drawingml/2006/main">
            <a:r>
              <a:t>Sources</a:t>
            </a:r>
          </a:p>
          <a:p xmlns:a="http://schemas.openxmlformats.org/drawingml/2006/main">
            <a:r>
              <a:t>https://github.com/kongbaigit/meiyu-ai4climate/blob/main/artifacts/model_parameters.json</a:t>
            </a:r>
          </a:p>
          <a:p xmlns:a="http://schemas.openxmlformats.org/drawingml/2006/main">
            <a:r>
              <a:t>https://github.com/kongbaigit/meiyu-ai4climate/blob/main/artifacts/predictions.csv</a:t>
            </a:r>
          </a:p>
          <a:p xmlns:a="http://schemas.openxmlformats.org/drawingml/2006/main">
            <a:r>
              <a:t>https://github.com/kongbaigit/meiyu-ai4climate/blob/main/reports/evaluation.json</a:t>
            </a:r>
          </a:p>
          <a:p xmlns:a="http://schemas.openxmlformats.org/drawingml/2006/main">
            <a:r>
              <a:t>https://github.com/kongbaigit/meiyu-ai4climate/blob/main/src/decision_weather.py</a:t>
            </a:r>
          </a:p>
          <a:p xmlns:a="http://schemas.openxmlformats.org/drawingml/2006/main">
            <a:r>
              <a:t/>
            </a:r>
          </a:p>
          <a:p xmlns:a="http://schemas.openxmlformats.org/drawingml/2006/main">
            <a:r>
              <a:t>Definitions and limits</a:t>
            </a:r>
          </a:p>
          <a:p xmlns:a="http://schemas.openxmlformats.org/drawingml/2006/main">
            <a:r>
              <a:t>Historical model: logistic_rain, trained on 276 days, selected on 120 validation days and evaluated on 240 test days with 18 events.</a:t>
            </a:r>
          </a:p>
          <a:p xmlns:a="http://schemas.openxmlformats.org/drawingml/2006/main">
            <a:r>
              <a:t>The example uses forecast rainfall as its input. Reference rainfall is a later evaluation label.</a:t>
            </a:r>
          </a:p>
          <a:p xmlns:a="http://schemas.openxmlformats.org/drawingml/2006/main">
            <a:r>
              <a:t>Fixed snapshot captured 2026-10-19 19:22 UTC+08 for 2026-10-20 08:00 through 2026-10-21 08:00 UTC+08. It is not current weather.</a:t>
            </a:r>
          </a:p>
          <a:p xmlns:a="http://schemas.openxmlformats.org/drawingml/2006/main">
            <a:r>
              <a:t>Online source: Open-Meteo ECMWF IFS 0.25 degree ensemble, 51 members and 24 required hourly values per member.</a:t>
            </a:r>
          </a:p>
          <a:p xmlns:a="http://schemas.openxmlformats.org/drawingml/2006/main">
            <a:r>
              <a:t>Source snapshot SHA-256: 2c91ea4481afc3ee2d53bbbe863ec4ed8723a693219ca12b8b1bb319090d1a6c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21 seconds</a:t>
            </a:r>
          </a:p>
          <a:p xmlns:a="http://schemas.openxmlformats.org/drawingml/2006/main">
            <a:r>
              <a:t>Now consider a hypothetical decision, separate from weather forecasts. Assume a 60 percent event probability, a 1,000-yuan loss if stock stays, a 100-yuan residual loss after relocation, and an 80-yuan relocation cost. Expected costs are 600 and 140 yuan. The 460-yuan difference is a calculation, with no verified merchant savings.</a:t>
            </a:r>
          </a:p>
          <a:p xmlns:a="http://schemas.openxmlformats.org/drawingml/2006/main">
            <a:r>
              <a:t/>
            </a:r>
          </a:p>
          <a:p xmlns:a="http://schemas.openxmlformats.org/drawingml/2006/main">
            <a:r>
              <a:t>Sources</a:t>
            </a:r>
          </a:p>
          <a:p xmlns:a="http://schemas.openxmlformats.org/drawingml/2006/main">
            <a:r>
              <a:t>https://github.com/kongbaigit/meiyu-ai4climate/blob/main/docs/decision-guide.md</a:t>
            </a:r>
          </a:p>
          <a:p xmlns:a="http://schemas.openxmlformats.org/drawingml/2006/main">
            <a:r>
              <a:t/>
            </a:r>
          </a:p>
          <a:p xmlns:a="http://schemas.openxmlformats.org/drawingml/2006/main">
            <a:r>
              <a:t>Definitions and limits</a:t>
            </a:r>
          </a:p>
          <a:p xmlns:a="http://schemas.openxmlformats.org/drawingml/2006/main">
            <a:r>
              <a:t>Hypothetical inputs: p=0.6, C=80, L0=1000, L1=100, all money in CNY.</a:t>
            </a:r>
          </a:p>
          <a:p xmlns:a="http://schemas.openxmlformats.org/drawingml/2006/main">
            <a:r>
              <a:t>Keep expected cost = pL0. Relocate expected cost = C+pL1. This example assumes no stock loss when the event does not occur.</a:t>
            </a:r>
          </a:p>
          <a:p xmlns:a="http://schemas.openxmlformats.org/drawingml/2006/main">
            <a:r>
              <a:t>C=60 labour + 20 materials is an illustrative decomposition.</a:t>
            </a:r>
          </a:p>
          <a:p xmlns:a="http://schemas.openxmlformats.org/drawingml/2006/main">
            <a:r>
              <a:t>The 60% scenario input does not come from the online ensemble or the historical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17 seconds</a:t>
            </a:r>
          </a:p>
          <a:p xmlns:a="http://schemas.openxmlformats.org/drawingml/2006/main">
            <a:r>
              <a:t>Changing relocation cost changes the choice. At 80 yuan, relocation has the lower expected cost. At 540 yuan, the options tie. At 600 yuan, relocation costs 660 yuan in expectation, so keeping stock has the lower expected cost.</a:t>
            </a:r>
          </a:p>
          <a:p xmlns:a="http://schemas.openxmlformats.org/drawingml/2006/main">
            <a:r>
              <a:t/>
            </a:r>
          </a:p>
          <a:p xmlns:a="http://schemas.openxmlformats.org/drawingml/2006/main">
            <a:r>
              <a:t>Sources</a:t>
            </a:r>
          </a:p>
          <a:p xmlns:a="http://schemas.openxmlformats.org/drawingml/2006/main">
            <a:r>
              <a:t>https://github.com/kongbaigit/meiyu-ai4climate/blob/main/docs/decision-guide.md</a:t>
            </a:r>
          </a:p>
          <a:p xmlns:a="http://schemas.openxmlformats.org/drawingml/2006/main">
            <a:r>
              <a:t/>
            </a:r>
          </a:p>
          <a:p xmlns:a="http://schemas.openxmlformats.org/drawingml/2006/main">
            <a:r>
              <a:t>Definitions and limits</a:t>
            </a:r>
          </a:p>
          <a:p xmlns:a="http://schemas.openxmlformats.org/drawingml/2006/main">
            <a:r>
              <a:t>The native scatter chart retains the actual numeric distance between costs.</a:t>
            </a:r>
          </a:p>
          <a:p xmlns:a="http://schemas.openxmlformats.org/drawingml/2006/main">
            <a:r>
              <a:t>Keep total cost remains 600. Relocate total cost equals C+60. Break-even cost = p(L0-L1) = 0.6(1000-100) = 540.</a:t>
            </a:r>
          </a:p>
          <a:p xmlns:a="http://schemas.openxmlformats.org/drawingml/2006/main">
            <a:r>
              <a:t>These are hypothetical scenario calculations, not observed merchant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20 seconds</a:t>
            </a:r>
          </a:p>
          <a:p xmlns:a="http://schemas.openxmlformats.org/drawingml/2006/main">
            <a:r>
              <a:t>On the held-out test set, logistic rain scores 0.0455 on Brier, compared with 0.0697 for climatology. Lower is better. Yet there are only 18 test events. At a fixed 10 percent scenario threshold, the model misses six events and raises nine false alarms. Merchant and carbon benefits remain unverified.</a:t>
            </a:r>
          </a:p>
          <a:p xmlns:a="http://schemas.openxmlformats.org/drawingml/2006/main">
            <a:r>
              <a:t/>
            </a:r>
          </a:p>
          <a:p xmlns:a="http://schemas.openxmlformats.org/drawingml/2006/main">
            <a:r>
              <a:t>Sources</a:t>
            </a:r>
          </a:p>
          <a:p xmlns:a="http://schemas.openxmlformats.org/drawingml/2006/main">
            <a:r>
              <a:t>https://github.com/kongbaigit/meiyu-ai4climate/blob/main/reports/evaluation.json</a:t>
            </a:r>
          </a:p>
          <a:p xmlns:a="http://schemas.openxmlformats.org/drawingml/2006/main">
            <a:r>
              <a:t>https://github.com/kongbaigit/meiyu-ai4climate/blob/main/artifacts/sample_splits.csv</a:t>
            </a:r>
          </a:p>
          <a:p xmlns:a="http://schemas.openxmlformats.org/drawingml/2006/main">
            <a:r>
              <a:t>https://github.com/kongbaigit/meiyu-ai4climate/blob/main/artifacts/predictions.csv</a:t>
            </a:r>
          </a:p>
          <a:p xmlns:a="http://schemas.openxmlformats.org/drawingml/2006/main">
            <a:r>
              <a:t/>
            </a:r>
          </a:p>
          <a:p xmlns:a="http://schemas.openxmlformats.org/drawingml/2006/main">
            <a:r>
              <a:t>Definitions and limits</a:t>
            </a:r>
          </a:p>
          <a:p xmlns:a="http://schemas.openxmlformats.org/drawingml/2006/main">
            <a:r>
              <a:t>Both Brier scores refer to the same test split. Climatology is the constant event rate estimated on training data.</a:t>
            </a:r>
          </a:p>
          <a:p xmlns:a="http://schemas.openxmlformats.org/drawingml/2006/main">
            <a:r>
              <a:t>Model selection used validation data. The test period remained separate.</a:t>
            </a:r>
          </a:p>
          <a:p xmlns:a="http://schemas.openxmlformats.org/drawingml/2006/main">
            <a:r>
              <a:t>The 6 missed events and 9 false alarms use a fixed 10% scenario threshold. This is not an equal-false-alarm comparison.</a:t>
            </a:r>
          </a:p>
          <a:p xmlns:a="http://schemas.openxmlformats.org/drawingml/2006/main">
            <a:r>
              <a:t>The project has no verified merchant loss reduction, deployment outcomes or carbon benefit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19 seconds</a:t>
            </a:r>
          </a:p>
          <a:p xmlns:a="http://schemas.openxmlformats.org/drawingml/2006/main">
            <a:r>
              <a:t>Our pending 90-day plan starts with five to eight willing participants. Fixed historical cases will test understanding, followed by shadow operation and failure logging. We will assess task completion and understanding separately. This is a small usability study. A fresh full Meiyu season is still needed for independent predictive evidence.</a:t>
            </a:r>
          </a:p>
          <a:p xmlns:a="http://schemas.openxmlformats.org/drawingml/2006/main">
            <a:r>
              <a:t/>
            </a:r>
          </a:p>
          <a:p xmlns:a="http://schemas.openxmlformats.org/drawingml/2006/main">
            <a:r>
              <a:t>Sources</a:t>
            </a:r>
          </a:p>
          <a:p xmlns:a="http://schemas.openxmlformats.org/drawingml/2006/main">
            <a:r>
              <a:t>https://github.com/kongbaigit/meiyu-ai4climate/blob/main/docs/90%E5%A4%A9%E9%AA%8C%E8%AF%81%E8%AE%A1%E5%88%92.md</a:t>
            </a:r>
          </a:p>
          <a:p xmlns:a="http://schemas.openxmlformats.org/drawingml/2006/main">
            <a:r>
              <a:t>https://github.com/kongbaigit/meiyu-ai4climate/blob/main/docs/%E7%94%A8%E6%88%B7%E6%B5%8B%E8%AF%95%E6%89%A7%E8%A1%8C%E5%8C%85/</a:t>
            </a:r>
          </a:p>
          <a:p xmlns:a="http://schemas.openxmlformats.org/drawingml/2006/main">
            <a:r>
              <a:t/>
            </a:r>
          </a:p>
          <a:p xmlns:a="http://schemas.openxmlformats.org/drawingml/2006/main">
            <a:r>
              <a:t>Definitions and limits</a:t>
            </a:r>
          </a:p>
          <a:p xmlns:a="http://schemas.openxmlformats.org/drawingml/2006/main">
            <a:r>
              <a:t>The plan has not been executed and participants have not been recruited.</a:t>
            </a:r>
          </a:p>
          <a:p xmlns:a="http://schemas.openxmlformats.org/drawingml/2006/main">
            <a:r>
              <a:t>Day 1 begins when the team confirms the start date. Weeks describe phases within the 90-day period.</a:t>
            </a:r>
          </a:p>
          <a:p xmlns:a="http://schemas.openxmlformats.org/drawingml/2006/main">
            <a:r>
              <a:t>The 80% target is preregistered for a future study, not an observed result. Independent completion and core understanding are scored separately.</a:t>
            </a:r>
          </a:p>
          <a:p xmlns:a="http://schemas.openxmlformats.org/drawingml/2006/main">
            <a:r>
              <a:t>The planned 90 days do not include the next complete Meiyu rainfall season.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10 seconds</a:t>
            </a:r>
          </a:p>
          <a:p xmlns:a="http://schemas.openxmlformats.org/drawingml/2006/main">
            <a:r>
              <a:t>The English demo, video and source links are here. Please inspect the calculation and its limits. Our next priority is real user understanding. Thank you.</a:t>
            </a:r>
          </a:p>
          <a:p xmlns:a="http://schemas.openxmlformats.org/drawingml/2006/main">
            <a:r>
              <a:t/>
            </a:r>
          </a:p>
          <a:p xmlns:a="http://schemas.openxmlformats.org/drawingml/2006/main">
            <a:r>
              <a:t>Sources</a:t>
            </a:r>
          </a:p>
          <a:p xmlns:a="http://schemas.openxmlformats.org/drawingml/2006/main">
            <a:r>
              <a:t>https://kongbaigit.github.io/meiyu-ai4climate/en/</a:t>
            </a:r>
          </a:p>
          <a:p xmlns:a="http://schemas.openxmlformats.org/drawingml/2006/main">
            <a:r>
              <a:t>https://kongbaigit.github.io/meiyu-ai4climate/en/promo/</a:t>
            </a:r>
          </a:p>
          <a:p xmlns:a="http://schemas.openxmlformats.org/drawingml/2006/main">
            <a:r>
              <a:t>https://github.com/kongbaigit/meiyu-ai4climate</a:t>
            </a:r>
          </a:p>
          <a:p xmlns:a="http://schemas.openxmlformats.org/drawingml/2006/main">
            <a:r>
              <a:t/>
            </a:r>
          </a:p>
          <a:p xmlns:a="http://schemas.openxmlformats.org/drawingml/2006/main">
            <a:r>
              <a:t>Definitions and limits</a:t>
            </a:r>
          </a:p>
          <a:p xmlns:a="http://schemas.openxmlformats.org/drawingml/2006/main">
            <a:r>
              <a:t>The links identify the English release destinations. The deck makes no claim that the merchant study has begun.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5df710a66344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154deffde142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106c484a3941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6279b3ed754e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11b168ecf947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3bff7d0beb42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B935F6-E6DF-4541-9D1B-6A5800F4D4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6F1093-B986-406C-91B9-1F3737D05A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02B763-789B-41EA-8C6F-8C10D8823F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4940DB-274D-4A94-882F-DA9A28E7B9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FECB53-835C-4375-AA25-4C4BF23E6A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B30EC5-7959-4C1C-9FA2-B9A1B9DAB1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FE5A42-654A-481E-AECD-A780F86552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456F2F-8991-4236-BC6F-20EB00E6E6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0BB8D0-588F-4720-8B82-5090A1A1C9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17A9C7-9D62-407E-B8A3-312EE58479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77498e078145aa" /><Relationship Type="http://schemas.openxmlformats.org/officeDocument/2006/relationships/slideLayout" Target="/ppt/slideLayouts/slideLayout1.xml" Id="R709cc137b7fa4e63" /><Relationship Type="http://schemas.openxmlformats.org/officeDocument/2006/relationships/slideLayout" Target="/ppt/slideLayouts/slideLayout2.xml" Id="R9eb494db61244fc8" /><Relationship Type="http://schemas.openxmlformats.org/officeDocument/2006/relationships/slideLayout" Target="/ppt/slideLayouts/slideLayout3.xml" Id="R85f1b86c8ff3463a" /><Relationship Type="http://schemas.openxmlformats.org/officeDocument/2006/relationships/slideLayout" Target="/ppt/slideLayouts/slideLayout4.xml" Id="R3da4ab5e25064f68" /><Relationship Type="http://schemas.openxmlformats.org/officeDocument/2006/relationships/slideLayout" Target="/ppt/slideLayouts/slideLayout5.xml" Id="R9c664149556543eb" /><Relationship Type="http://schemas.openxmlformats.org/officeDocument/2006/relationships/slideLayout" Target="/ppt/slideLayouts/slideLayout6.xml" Id="R063b86ff9c4846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9cc137b7fa4e63"/>
    <p:sldLayoutId xmlns:r="http://schemas.openxmlformats.org/officeDocument/2006/relationships" id="2147483650" r:id="R9eb494db61244fc8"/>
    <p:sldLayoutId xmlns:r="http://schemas.openxmlformats.org/officeDocument/2006/relationships" id="2147483651" r:id="R85f1b86c8ff3463a"/>
    <p:sldLayoutId xmlns:r="http://schemas.openxmlformats.org/officeDocument/2006/relationships" id="2147483652" r:id="R3da4ab5e25064f68"/>
    <p:sldLayoutId xmlns:r="http://schemas.openxmlformats.org/officeDocument/2006/relationships" id="2147483653" r:id="R9c664149556543eb"/>
    <p:sldLayoutId xmlns:r="http://schemas.openxmlformats.org/officeDocument/2006/relationships" id="2147483654" r:id="R063b86ff9c4846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eiyu Prepare">
      <a:dk1>
        <a:srgbClr val="102E2A"/>
      </a:dk1>
      <a:lt1>
        <a:srgbClr val="FFFEF8"/>
      </a:lt1>
      <a:dk2>
        <a:srgbClr val="173E36"/>
      </a:dk2>
      <a:lt2>
        <a:srgbClr val="F0EFD7"/>
      </a:lt2>
      <a:accent1>
        <a:srgbClr val="286C60"/>
      </a:accent1>
      <a:accent2>
        <a:srgbClr val="E8BE78"/>
      </a:accent2>
      <a:accent3>
        <a:srgbClr val="C8E3B3"/>
      </a:accent3>
      <a:accent4>
        <a:srgbClr val="B06945"/>
      </a:accent4>
      <a:accent5>
        <a:srgbClr val="687C6C"/>
      </a:accent5>
      <a:accent6>
        <a:srgbClr val="173E36"/>
      </a:accent6>
      <a:hlink>
        <a:srgbClr val="F0EFD7"/>
      </a:hlink>
      <a:folHlink>
        <a:srgbClr val="C8E3B3"/>
      </a:folHlink>
    </a:clrScheme>
    <a:fontScheme name="">
      <a:majorFont>
        <a:latin typeface="Arial"/>
        <a:ea typeface=""/>
        <a:cs typeface=""/>
      </a:majorFont>
      <a:minorFont>
        <a:latin typeface="Arial"/>
        <a:ea typeface=""/>
        <a:cs typeface=""/>
      </a:minorFont>
    </a:fontScheme>
    <a:fmtScheme name="Meiyu Prepa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dce00977f04d21" /><Relationship Type="http://schemas.openxmlformats.org/officeDocument/2006/relationships/notesSlide" Target="/ppt/notesSlides/notesSlide1.xml" Id="R5d66e30837e24a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0be5b2111e45b6" /><Relationship Type="http://schemas.openxmlformats.org/officeDocument/2006/relationships/notesSlide" Target="/ppt/notesSlides/notesSlide2.xml" Id="R79fc00cfbb9d42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fad9abe5f541fa" /><Relationship Type="http://schemas.openxmlformats.org/officeDocument/2006/relationships/notesSlide" Target="/ppt/notesSlides/notesSlide3.xml" Id="R651394525d3948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6f7f0bcc374e06" /><Relationship Type="http://schemas.openxmlformats.org/officeDocument/2006/relationships/notesSlide" Target="/ppt/notesSlides/notesSlide4.xml" Id="R94ce53f3e23348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939efd021d4d20" /><Relationship Type="http://schemas.openxmlformats.org/officeDocument/2006/relationships/notesSlide" Target="/ppt/notesSlides/notesSlide5.xml" Id="R663296aa95e847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5bf34777be4859" /><Relationship Type="http://schemas.openxmlformats.org/officeDocument/2006/relationships/notesSlide" Target="/ppt/notesSlides/notesSlide6.xml" Id="Ra4b61567fa4541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44535d283d45cb" /><Relationship Type="http://schemas.openxmlformats.org/officeDocument/2006/relationships/chart" Target="/ppt/slides/charts/chart1.xml" Id="Rb036d33db32d4d74" /><Relationship Type="http://schemas.openxmlformats.org/officeDocument/2006/relationships/notesSlide" Target="/ppt/notesSlides/notesSlide7.xml" Id="Re69658812f2343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ad95a14ee742da" /><Relationship Type="http://schemas.openxmlformats.org/officeDocument/2006/relationships/chart" Target="/ppt/slides/charts/chart2.xml" Id="R25d3a5a19d8a4561" /><Relationship Type="http://schemas.openxmlformats.org/officeDocument/2006/relationships/notesSlide" Target="/ppt/notesSlides/notesSlide8.xml" Id="R8a255c42772d44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289a713de84fe4" /><Relationship Type="http://schemas.openxmlformats.org/officeDocument/2006/relationships/notesSlide" Target="/ppt/notesSlides/notesSlide9.xml" Id="R4af6c1c381634a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7c690cfaec4640" /><Relationship Type="http://schemas.openxmlformats.org/officeDocument/2006/relationships/hyperlink" Target="https://kongbaigit.github.io/meiyu-ai4climate/en/" TargetMode="External" Id="Redc9bc9bed334bc7" /><Relationship Type="http://schemas.openxmlformats.org/officeDocument/2006/relationships/hyperlink" Target="https://kongbaigit.github.io/meiyu-ai4climate/en/promo/" TargetMode="External" Id="Rd2726837e9a24096" /><Relationship Type="http://schemas.openxmlformats.org/officeDocument/2006/relationships/hyperlink" Target="https://github.com/kongbaigit/meiyu-ai4climate" TargetMode="External" Id="Rb7a1c51288a242da" /><Relationship Type="http://schemas.openxmlformats.org/officeDocument/2006/relationships/notesSlide" Target="/ppt/notesSlides/notesSlide10.xml" Id="Rbbc8c21535a5486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Keep in place</c:v>
          </c:tx>
          <c:spPr>
            <a:ln xmlns:a="http://schemas.openxmlformats.org/drawingml/2006/main" w="28575">
              <a:solidFill>
                <a:srgbClr val="687C6C"/>
              </a:solidFill>
            </a:ln>
          </c:spPr>
          <c:marker>
            <c:symbol val="none"/>
            <c:size val="2"/>
            <c:spPr>
              <a:solidFill xmlns:a="http://schemas.openxmlformats.org/drawingml/2006/main">
                <a:srgbClr val="687C6C"/>
              </a:solidFill>
            </c:spPr>
          </c:marker>
          <c:xVal>
            <c:numRef>
              <c:f>'Chart Data'!$A$2:$A$7</c:f>
              <c:numCache>
                <c:formatCode>General</c:formatCode>
                <c:ptCount val="6"/>
                <c:pt idx="0">
                  <c:v>0</c:v>
                </c:pt>
                <c:pt idx="1">
                  <c:v>80</c:v>
                </c:pt>
                <c:pt idx="2">
                  <c:v>200</c:v>
                </c:pt>
                <c:pt idx="3">
                  <c:v>400</c:v>
                </c:pt>
                <c:pt idx="4">
                  <c:v>540</c:v>
                </c:pt>
                <c:pt idx="5">
                  <c:v>600</c:v>
                </c:pt>
              </c:numCache>
            </c:numRef>
          </c:xVal>
          <c:yVal>
            <c:numRef>
              <c:f>'Chart Data'!$B$2:$B$7</c:f>
              <c:numCache>
                <c:formatCode>0</c:formatCode>
                <c:ptCount val="6"/>
                <c:pt idx="0">
                  <c:v>600</c:v>
                </c:pt>
                <c:pt idx="1">
                  <c:v>600</c:v>
                </c:pt>
                <c:pt idx="2">
                  <c:v>600</c:v>
                </c:pt>
                <c:pt idx="3">
                  <c:v>600</c:v>
                </c:pt>
                <c:pt idx="4">
                  <c:v>600</c:v>
                </c:pt>
                <c:pt idx="5">
                  <c:v>600</c:v>
                </c:pt>
              </c:numCache>
            </c:numRef>
          </c:yVal>
        </c:ser>
        <c:ser>
          <c:idx val="1"/>
          <c:order val="1"/>
          <c:tx>
            <c:v>Relocate</c:v>
          </c:tx>
          <c:spPr>
            <a:ln xmlns:a="http://schemas.openxmlformats.org/drawingml/2006/main" w="38100">
              <a:solidFill>
                <a:srgbClr val="286C60"/>
              </a:solidFill>
            </a:ln>
          </c:spPr>
          <c:marker>
            <c:symbol val="circle"/>
            <c:size val="5"/>
            <c:spPr>
              <a:solidFill xmlns:a="http://schemas.openxmlformats.org/drawingml/2006/main">
                <a:srgbClr val="286C60"/>
              </a:solidFill>
            </c:spPr>
          </c:marker>
          <c:xVal>
            <c:numRef>
              <c:f>'Chart Data'!$C$2:$C$7</c:f>
              <c:numCache>
                <c:formatCode>General</c:formatCode>
                <c:ptCount val="6"/>
                <c:pt idx="0">
                  <c:v>0</c:v>
                </c:pt>
                <c:pt idx="1">
                  <c:v>80</c:v>
                </c:pt>
                <c:pt idx="2">
                  <c:v>200</c:v>
                </c:pt>
                <c:pt idx="3">
                  <c:v>400</c:v>
                </c:pt>
                <c:pt idx="4">
                  <c:v>540</c:v>
                </c:pt>
                <c:pt idx="5">
                  <c:v>600</c:v>
                </c:pt>
              </c:numCache>
            </c:numRef>
          </c:xVal>
          <c:yVal>
            <c:numRef>
              <c:f>'Chart Data'!$D$2:$D$7</c:f>
              <c:numCache>
                <c:formatCode>0</c:formatCode>
                <c:ptCount val="6"/>
                <c:pt idx="0">
                  <c:v>60</c:v>
                </c:pt>
                <c:pt idx="1">
                  <c:v>140</c:v>
                </c:pt>
                <c:pt idx="2">
                  <c:v>260</c:v>
                </c:pt>
                <c:pt idx="3">
                  <c:v>460</c:v>
                </c:pt>
                <c:pt idx="4">
                  <c:v>600</c:v>
                </c:pt>
                <c:pt idx="5">
                  <c:v>660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00"/>
          <c:min val="0"/>
        </c:scaling>
        <c:delete val="0"/>
        <c:axPos val="l"/>
        <c:majorGridlines>
          <c:spPr>
            <a:ln xmlns:a="http://schemas.openxmlformats.org/drawingml/2006/main" w="9525">
              <a:solidFill>
                <a:srgbClr val="D6DFC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Expected total cost (CNY)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87C6C"/>
                </a:solidFill>
                <a:latin typeface="Arial"/>
                <a:ea typeface="Arial"/>
                <a:cs typeface="Arial"/>
              </a:defRPr>
            </a:pPr>
          </a:p>
        </c:txPr>
        <c:crossAx val="48650112"/>
        <c:majorUnit val="200"/>
      </c:valAx>
      <c:valAx>
        <c:axId val="48650112"/>
        <c:scaling>
          <c:orientation val="minMax"/>
          <c:max val="6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Relocation cost C (CNY)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6DFCF"/>
            </a:solidFill>
          </a:ln>
        </c:spPr>
        <c:txPr>
          <a:bodyPr xmlns:a="http://schemas.openxmlformats.org/drawingml/2006/main" anchorCtr="1"/>
          <a:lstStyle xmlns:a="http://schemas.openxmlformats.org/drawingml/2006/main"/>
          <a:p xmlns:a="http://schemas.openxmlformats.org/drawingml/2006/main">
            <a:pPr>
              <a:defRPr sz="1500">
                <a:solidFill>
                  <a:srgbClr val="687C6C"/>
                </a:solidFill>
                <a:latin typeface="Arial"/>
                <a:ea typeface="Arial"/>
                <a:cs typeface="Arial"/>
              </a:defRPr>
            </a:pPr>
          </a:p>
        </c:txPr>
        <c:crossAx val="48672768"/>
        <c:majorUnit val="200"/>
      </c:valAx>
      <c:spPr>
        <a:solidFill xmlns:a="http://schemas.openxmlformats.org/drawingml/2006/main">
          <a:srgbClr val="F3F2E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E36"/>
              </a:solidFill>
              <a:latin typeface="Arial"/>
              <a:ea typeface="Arial"/>
              <a:cs typeface="Arial"/>
            </a:defRPr>
          </a:pPr>
        </a:p>
      </c:txPr>
    </c:legend>
    <c:plotVisOnly val="1"/>
  </c:chart>
  <c:spPr>
    <a:solidFill xmlns:a="http://schemas.openxmlformats.org/drawingml/2006/main">
      <a:srgbClr val="F3F2E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Brier</c:v>
          </c:tx>
          <c:spPr>
            <a:solidFill xmlns:a="http://schemas.openxmlformats.org/drawingml/2006/main">
              <a:srgbClr val="286C60"/>
            </a:solidFill>
          </c:spPr>
          <c:invertIfNegative val="0"/>
          <c:dPt>
            <c:idx val="0"/>
            <c:invertIfNegative val="0"/>
            <c:spPr>
              <a:solidFill xmlns:a="http://schemas.openxmlformats.org/drawingml/2006/main">
                <a:srgbClr val="286C60"/>
              </a:solidFill>
            </c:spPr>
          </c:dPt>
          <c:dPt>
            <c:idx val="1"/>
            <c:invertIfNegative val="0"/>
            <c:spPr>
              <a:solidFill xmlns:a="http://schemas.openxmlformats.org/drawingml/2006/main">
                <a:srgbClr val="94AC8A"/>
              </a:solidFill>
            </c:spPr>
          </c:dPt>
          <c:cat>
            <c:strRef>
              <c:f>'Chart Data'!$A$2:$A$3</c:f>
              <c:strCache>
                <c:ptCount val="2"/>
                <c:pt idx="0">
                  <c:v>logistic_rain</c:v>
                </c:pt>
                <c:pt idx="1">
                  <c:v>climatology</c:v>
                </c:pt>
              </c:strCache>
            </c:strRef>
          </c:cat>
          <c:val>
            <c:numRef>
              <c:f>'Chart Data'!$B$2:$B$3</c:f>
              <c:numCache>
                <c:formatCode>General</c:formatCode>
                <c:ptCount val="2"/>
                <c:pt idx="0">
                  <c:v>0.0455</c:v>
                </c:pt>
                <c:pt idx="1">
                  <c:v>0.0697</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800">
                  <a:solidFill>
                    <a:srgbClr val="173E3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l"/>
        <c:majorGridlines>
          <c:spPr>
            <a:ln xmlns:a="http://schemas.openxmlformats.org/drawingml/2006/main" w="9525">
              <a:solidFill>
                <a:srgbClr val="D6DFCF"/>
              </a:solidFill>
            </a:ln>
          </c:spPr>
        </c:majorGridlines>
        <c:numFmt formatCode="0.00"/>
        <c:majorTickMark val="none"/>
        <c:minorTickMark val="none"/>
        <c:spPr>
          <a:ln xmlns:a="http://schemas.openxmlformats.org/drawingml/2006/main" w="9525">
            <a:solidFill>
              <a:srgbClr val="D6DFCF"/>
            </a:solidFill>
          </a:ln>
        </c:spPr>
        <c:txPr>
          <a:bodyPr xmlns:a="http://schemas.openxmlformats.org/drawingml/2006/main" anchorCtr="1"/>
          <a:lstStyle xmlns:a="http://schemas.openxmlformats.org/drawingml/2006/main"/>
          <a:p xmlns:a="http://schemas.openxmlformats.org/drawingml/2006/main">
            <a:pPr>
              <a:defRPr sz="1350">
                <a:solidFill>
                  <a:srgbClr val="687C6C"/>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3E36"/>
                </a:solidFill>
                <a:latin typeface="Arial"/>
                <a:ea typeface="Arial"/>
                <a:cs typeface="Arial"/>
              </a:defRPr>
            </a:pPr>
          </a:p>
        </c:txPr>
        <c:crossAx val="48650112"/>
        <c:crossBetween val="between"/>
      </c:valAx>
      <c:spPr>
        <a:solidFill xmlns:a="http://schemas.openxmlformats.org/drawingml/2006/main">
          <a:srgbClr val="F3F2E9"/>
        </a:solidFill>
        <a:ln xmlns:a="http://schemas.openxmlformats.org/drawingml/2006/main" w="0">
          <a:noFill/>
        </a:ln>
      </c:spPr>
    </c:plotArea>
    <c:plotVisOnly val="1"/>
  </c:chart>
  <c:spPr>
    <a:solidFill xmlns:a="http://schemas.openxmlformats.org/drawingml/2006/main">
      <a:srgbClr val="F3F2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2A"/>
        </a:solidFill>
      </p:bgPr>
    </p:bg>
    <p:spTree>
      <p:nvGrpSpPr>
        <p:cNvPr id="1" name=""/>
        <p:cNvGrpSpPr/>
        <p:nvPr/>
      </p:nvGrpSpPr>
      <p:grpSpPr>
        <a:xfrm xmlns:a="http://schemas.openxmlformats.org/drawingml/2006/main"/>
      </p:grpSpPr>
      <p:sp>
        <p:nvSpPr>
          <p:cNvPr id="8" name="Page 1">
            <a:extLst xmlns:a="http://schemas.openxmlformats.org/drawingml/2006/main">
              <a:ext uri="{FF2B5EF4-FFF2-40B4-BE49-F238E27FC236}">
                <a16:creationId xmlns:a16="http://schemas.microsoft.com/office/drawing/2014/main" id="{E9CC1ADA-9110-40F1-944D-8C5C4D3CA293}"/>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9C5A9"/>
                </a:solidFill>
                <a:latin typeface="Arial"/>
                <a:ea typeface="Arial"/>
                <a:cs typeface="Arial"/>
              </a:defRPr>
            </a:defPPr>
            <a:lvl1pPr algn="r">
              <a:defRPr sz="1350" b="0">
                <a:solidFill>
                  <a:srgbClr val="A9C5A9"/>
                </a:solidFill>
                <a:latin typeface="Arial"/>
                <a:ea typeface="Arial"/>
                <a:cs typeface="Arial"/>
              </a:defRPr>
            </a:lvl1pPr>
            <a:lvl2pPr algn="r">
              <a:defRPr sz="1350" b="0">
                <a:solidFill>
                  <a:srgbClr val="A9C5A9"/>
                </a:solidFill>
                <a:latin typeface="Arial"/>
                <a:ea typeface="Arial"/>
                <a:cs typeface="Arial"/>
              </a:defRPr>
            </a:lvl2pPr>
            <a:lvl3pPr algn="r">
              <a:defRPr sz="1350" b="0">
                <a:solidFill>
                  <a:srgbClr val="A9C5A9"/>
                </a:solidFill>
                <a:latin typeface="Arial"/>
                <a:ea typeface="Arial"/>
                <a:cs typeface="Arial"/>
              </a:defRPr>
            </a:lvl3pPr>
            <a:lvl4pPr algn="r">
              <a:defRPr sz="1350" b="0">
                <a:solidFill>
                  <a:srgbClr val="A9C5A9"/>
                </a:solidFill>
                <a:latin typeface="Arial"/>
                <a:ea typeface="Arial"/>
                <a:cs typeface="Arial"/>
              </a:defRPr>
            </a:lvl4pPr>
            <a:lvl5pPr algn="r">
              <a:defRPr sz="1350" b="0">
                <a:solidFill>
                  <a:srgbClr val="A9C5A9"/>
                </a:solidFill>
                <a:latin typeface="Arial"/>
                <a:ea typeface="Arial"/>
                <a:cs typeface="Arial"/>
              </a:defRPr>
            </a:lvl5pPr>
            <a:lvl6pPr algn="r">
              <a:defRPr sz="1350" b="0">
                <a:solidFill>
                  <a:srgbClr val="A9C5A9"/>
                </a:solidFill>
                <a:latin typeface="Arial"/>
                <a:ea typeface="Arial"/>
                <a:cs typeface="Arial"/>
              </a:defRPr>
            </a:lvl6pPr>
            <a:lvl7pPr algn="r">
              <a:defRPr sz="1350" b="0">
                <a:solidFill>
                  <a:srgbClr val="A9C5A9"/>
                </a:solidFill>
                <a:latin typeface="Arial"/>
                <a:ea typeface="Arial"/>
                <a:cs typeface="Arial"/>
              </a:defRPr>
            </a:lvl7pPr>
            <a:lvl8pPr algn="r">
              <a:defRPr sz="1350" b="0">
                <a:solidFill>
                  <a:srgbClr val="A9C5A9"/>
                </a:solidFill>
                <a:latin typeface="Arial"/>
                <a:ea typeface="Arial"/>
                <a:cs typeface="Arial"/>
              </a:defRPr>
            </a:lvl8pPr>
            <a:lvl9pPr algn="r">
              <a:defRPr sz="1350" b="0">
                <a:solidFill>
                  <a:srgbClr val="A9C5A9"/>
                </a:solidFill>
                <a:latin typeface="Arial"/>
                <a:ea typeface="Arial"/>
                <a:cs typeface="Arial"/>
              </a:defRPr>
            </a:lvl9pPr>
          </a:lstStyle>
          <a:p xmlns:a="http://schemas.openxmlformats.org/drawingml/2006/main">
            <a:pPr algn="r">
              <a:defRPr sz="1350" b="0">
                <a:solidFill>
                  <a:srgbClr val="A9C5A9"/>
                </a:solidFill>
                <a:latin typeface="Arial"/>
                <a:ea typeface="Arial"/>
                <a:cs typeface="Arial"/>
              </a:defRPr>
            </a:pPr>
            <a:r>
              <a:rPr sz="1350" b="0">
                <a:solidFill>
                  <a:srgbClr val="A9C5A9"/>
                </a:solidFill>
                <a:latin typeface="Arial"/>
                <a:ea typeface="Arial"/>
                <a:cs typeface="Arial"/>
              </a:rPr>
              <a:t>01</a:t>
            </a:r>
          </a:p>
        </p:txBody>
      </p:sp>
      <p:sp>
        <p:nvSpPr>
          <p:cNvPr id="2" name="Challenge">
            <a:extLst xmlns:a="http://schemas.openxmlformats.org/drawingml/2006/main">
              <a:ext uri="{FF2B5EF4-FFF2-40B4-BE49-F238E27FC236}">
                <a16:creationId xmlns:a16="http://schemas.microsoft.com/office/drawing/2014/main" id="{36813A6E-2B82-441D-BBA9-2ABA43EE9884}"/>
              </a:ext>
            </a:extLst>
          </p:cNvPr>
          <p:cNvSpPr>
            <a:spLocks xmlns:a="http://schemas.openxmlformats.org/drawingml/2006/main" noGrp="1"/>
          </p:cNvSpPr>
          <p:nvPr/>
        </p:nvSpPr>
        <p:spPr>
          <a:xfrm xmlns:a="http://schemas.openxmlformats.org/drawingml/2006/main">
            <a:off x="723900" y="56197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9C5A9"/>
                </a:solidFill>
                <a:latin typeface="Arial"/>
                <a:ea typeface="Arial"/>
                <a:cs typeface="Arial"/>
              </a:defRPr>
            </a:defPPr>
            <a:lvl1pPr algn="l">
              <a:defRPr sz="1725" b="0">
                <a:solidFill>
                  <a:srgbClr val="A9C5A9"/>
                </a:solidFill>
                <a:latin typeface="Arial"/>
                <a:ea typeface="Arial"/>
                <a:cs typeface="Arial"/>
              </a:defRPr>
            </a:lvl1pPr>
            <a:lvl2pPr algn="l">
              <a:defRPr sz="1725" b="0">
                <a:solidFill>
                  <a:srgbClr val="A9C5A9"/>
                </a:solidFill>
                <a:latin typeface="Arial"/>
                <a:ea typeface="Arial"/>
                <a:cs typeface="Arial"/>
              </a:defRPr>
            </a:lvl2pPr>
            <a:lvl3pPr algn="l">
              <a:defRPr sz="1725" b="0">
                <a:solidFill>
                  <a:srgbClr val="A9C5A9"/>
                </a:solidFill>
                <a:latin typeface="Arial"/>
                <a:ea typeface="Arial"/>
                <a:cs typeface="Arial"/>
              </a:defRPr>
            </a:lvl3pPr>
            <a:lvl4pPr algn="l">
              <a:defRPr sz="1725" b="0">
                <a:solidFill>
                  <a:srgbClr val="A9C5A9"/>
                </a:solidFill>
                <a:latin typeface="Arial"/>
                <a:ea typeface="Arial"/>
                <a:cs typeface="Arial"/>
              </a:defRPr>
            </a:lvl4pPr>
            <a:lvl5pPr algn="l">
              <a:defRPr sz="1725" b="0">
                <a:solidFill>
                  <a:srgbClr val="A9C5A9"/>
                </a:solidFill>
                <a:latin typeface="Arial"/>
                <a:ea typeface="Arial"/>
                <a:cs typeface="Arial"/>
              </a:defRPr>
            </a:lvl5pPr>
            <a:lvl6pPr algn="l">
              <a:defRPr sz="1725" b="0">
                <a:solidFill>
                  <a:srgbClr val="A9C5A9"/>
                </a:solidFill>
                <a:latin typeface="Arial"/>
                <a:ea typeface="Arial"/>
                <a:cs typeface="Arial"/>
              </a:defRPr>
            </a:lvl6pPr>
            <a:lvl7pPr algn="l">
              <a:defRPr sz="1725" b="0">
                <a:solidFill>
                  <a:srgbClr val="A9C5A9"/>
                </a:solidFill>
                <a:latin typeface="Arial"/>
                <a:ea typeface="Arial"/>
                <a:cs typeface="Arial"/>
              </a:defRPr>
            </a:lvl7pPr>
            <a:lvl8pPr algn="l">
              <a:defRPr sz="1725" b="0">
                <a:solidFill>
                  <a:srgbClr val="A9C5A9"/>
                </a:solidFill>
                <a:latin typeface="Arial"/>
                <a:ea typeface="Arial"/>
                <a:cs typeface="Arial"/>
              </a:defRPr>
            </a:lvl8pPr>
            <a:lvl9pPr algn="l">
              <a:defRPr sz="1725" b="0">
                <a:solidFill>
                  <a:srgbClr val="A9C5A9"/>
                </a:solidFill>
                <a:latin typeface="Arial"/>
                <a:ea typeface="Arial"/>
                <a:cs typeface="Arial"/>
              </a:defRPr>
            </a:lvl9pPr>
          </a:lstStyle>
          <a:p xmlns:a="http://schemas.openxmlformats.org/drawingml/2006/main">
            <a:pPr algn="l">
              <a:defRPr sz="1725" b="0">
                <a:solidFill>
                  <a:srgbClr val="A9C5A9"/>
                </a:solidFill>
                <a:latin typeface="Arial"/>
                <a:ea typeface="Arial"/>
                <a:cs typeface="Arial"/>
              </a:defRPr>
            </a:pPr>
            <a:r>
              <a:rPr sz="1725" b="0">
                <a:solidFill>
                  <a:srgbClr val="A9C5A9"/>
                </a:solidFill>
                <a:latin typeface="Arial"/>
                <a:ea typeface="Arial"/>
                <a:cs typeface="Arial"/>
              </a:rPr>
              <a:t>AI for Climate</a:t>
            </a:r>
          </a:p>
        </p:txBody>
      </p:sp>
      <p:sp>
        <p:nvSpPr>
          <p:cNvPr id="3" name="Brand">
            <a:extLst xmlns:a="http://schemas.openxmlformats.org/drawingml/2006/main">
              <a:ext uri="{FF2B5EF4-FFF2-40B4-BE49-F238E27FC236}">
                <a16:creationId xmlns:a16="http://schemas.microsoft.com/office/drawing/2014/main" id="{C73CCDCC-2450-4044-B13F-7236F352EB3E}"/>
              </a:ext>
            </a:extLst>
          </p:cNvPr>
          <p:cNvSpPr>
            <a:spLocks xmlns:a="http://schemas.openxmlformats.org/drawingml/2006/main" noGrp="1"/>
          </p:cNvSpPr>
          <p:nvPr/>
        </p:nvSpPr>
        <p:spPr>
          <a:xfrm xmlns:a="http://schemas.openxmlformats.org/drawingml/2006/main">
            <a:off x="666750" y="184785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F0EFD7"/>
                </a:solidFill>
                <a:latin typeface="Arial"/>
                <a:ea typeface="Arial"/>
                <a:cs typeface="Arial"/>
              </a:defRPr>
            </a:defPPr>
            <a:lvl1pPr algn="l">
              <a:defRPr sz="6600" b="1">
                <a:solidFill>
                  <a:srgbClr val="F0EFD7"/>
                </a:solidFill>
                <a:latin typeface="Arial"/>
                <a:ea typeface="Arial"/>
                <a:cs typeface="Arial"/>
              </a:defRPr>
            </a:lvl1pPr>
            <a:lvl2pPr algn="l">
              <a:defRPr sz="6600" b="1">
                <a:solidFill>
                  <a:srgbClr val="F0EFD7"/>
                </a:solidFill>
                <a:latin typeface="Arial"/>
                <a:ea typeface="Arial"/>
                <a:cs typeface="Arial"/>
              </a:defRPr>
            </a:lvl2pPr>
            <a:lvl3pPr algn="l">
              <a:defRPr sz="6600" b="1">
                <a:solidFill>
                  <a:srgbClr val="F0EFD7"/>
                </a:solidFill>
                <a:latin typeface="Arial"/>
                <a:ea typeface="Arial"/>
                <a:cs typeface="Arial"/>
              </a:defRPr>
            </a:lvl3pPr>
            <a:lvl4pPr algn="l">
              <a:defRPr sz="6600" b="1">
                <a:solidFill>
                  <a:srgbClr val="F0EFD7"/>
                </a:solidFill>
                <a:latin typeface="Arial"/>
                <a:ea typeface="Arial"/>
                <a:cs typeface="Arial"/>
              </a:defRPr>
            </a:lvl4pPr>
            <a:lvl5pPr algn="l">
              <a:defRPr sz="6600" b="1">
                <a:solidFill>
                  <a:srgbClr val="F0EFD7"/>
                </a:solidFill>
                <a:latin typeface="Arial"/>
                <a:ea typeface="Arial"/>
                <a:cs typeface="Arial"/>
              </a:defRPr>
            </a:lvl5pPr>
            <a:lvl6pPr algn="l">
              <a:defRPr sz="6600" b="1">
                <a:solidFill>
                  <a:srgbClr val="F0EFD7"/>
                </a:solidFill>
                <a:latin typeface="Arial"/>
                <a:ea typeface="Arial"/>
                <a:cs typeface="Arial"/>
              </a:defRPr>
            </a:lvl6pPr>
            <a:lvl7pPr algn="l">
              <a:defRPr sz="6600" b="1">
                <a:solidFill>
                  <a:srgbClr val="F0EFD7"/>
                </a:solidFill>
                <a:latin typeface="Arial"/>
                <a:ea typeface="Arial"/>
                <a:cs typeface="Arial"/>
              </a:defRPr>
            </a:lvl7pPr>
            <a:lvl8pPr algn="l">
              <a:defRPr sz="6600" b="1">
                <a:solidFill>
                  <a:srgbClr val="F0EFD7"/>
                </a:solidFill>
                <a:latin typeface="Arial"/>
                <a:ea typeface="Arial"/>
                <a:cs typeface="Arial"/>
              </a:defRPr>
            </a:lvl8pPr>
            <a:lvl9pPr algn="l">
              <a:defRPr sz="6600" b="1">
                <a:solidFill>
                  <a:srgbClr val="F0EFD7"/>
                </a:solidFill>
                <a:latin typeface="Arial"/>
                <a:ea typeface="Arial"/>
                <a:cs typeface="Arial"/>
              </a:defRPr>
            </a:lvl9pPr>
          </a:lstStyle>
          <a:p xmlns:a="http://schemas.openxmlformats.org/drawingml/2006/main">
            <a:pPr algn="l">
              <a:defRPr sz="6600" b="1">
                <a:solidFill>
                  <a:srgbClr val="F0EFD7"/>
                </a:solidFill>
                <a:latin typeface="Arial"/>
                <a:ea typeface="Arial"/>
                <a:cs typeface="Arial"/>
              </a:defRPr>
            </a:pPr>
            <a:r>
              <a:rPr sz="6600" b="1">
                <a:solidFill>
                  <a:srgbClr val="F0EFD7"/>
                </a:solidFill>
                <a:latin typeface="Arial"/>
                <a:ea typeface="Arial"/>
                <a:cs typeface="Arial"/>
              </a:rPr>
              <a:t>Meiyu Prepare</a:t>
            </a:r>
          </a:p>
        </p:txBody>
      </p:sp>
      <p:sp>
        <p:nvSpPr>
          <p:cNvPr id="4" name="Subtitle">
            <a:extLst xmlns:a="http://schemas.openxmlformats.org/drawingml/2006/main">
              <a:ext uri="{FF2B5EF4-FFF2-40B4-BE49-F238E27FC236}">
                <a16:creationId xmlns:a16="http://schemas.microsoft.com/office/drawing/2014/main" id="{9CD7CDE8-059F-4D50-88D6-D00F575F9473}"/>
              </a:ext>
            </a:extLst>
          </p:cNvPr>
          <p:cNvSpPr>
            <a:spLocks xmlns:a="http://schemas.openxmlformats.org/drawingml/2006/main" noGrp="1"/>
          </p:cNvSpPr>
          <p:nvPr/>
        </p:nvSpPr>
        <p:spPr>
          <a:xfrm xmlns:a="http://schemas.openxmlformats.org/drawingml/2006/main">
            <a:off x="723900" y="3248025"/>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C8E3B3"/>
                </a:solidFill>
                <a:latin typeface="Arial"/>
                <a:ea typeface="Arial"/>
                <a:cs typeface="Arial"/>
              </a:defRPr>
            </a:defPPr>
            <a:lvl1pPr algn="l">
              <a:defRPr sz="2850" b="0">
                <a:solidFill>
                  <a:srgbClr val="C8E3B3"/>
                </a:solidFill>
                <a:latin typeface="Arial"/>
                <a:ea typeface="Arial"/>
                <a:cs typeface="Arial"/>
              </a:defRPr>
            </a:lvl1pPr>
            <a:lvl2pPr algn="l">
              <a:defRPr sz="2850" b="0">
                <a:solidFill>
                  <a:srgbClr val="C8E3B3"/>
                </a:solidFill>
                <a:latin typeface="Arial"/>
                <a:ea typeface="Arial"/>
                <a:cs typeface="Arial"/>
              </a:defRPr>
            </a:lvl2pPr>
            <a:lvl3pPr algn="l">
              <a:defRPr sz="2850" b="0">
                <a:solidFill>
                  <a:srgbClr val="C8E3B3"/>
                </a:solidFill>
                <a:latin typeface="Arial"/>
                <a:ea typeface="Arial"/>
                <a:cs typeface="Arial"/>
              </a:defRPr>
            </a:lvl3pPr>
            <a:lvl4pPr algn="l">
              <a:defRPr sz="2850" b="0">
                <a:solidFill>
                  <a:srgbClr val="C8E3B3"/>
                </a:solidFill>
                <a:latin typeface="Arial"/>
                <a:ea typeface="Arial"/>
                <a:cs typeface="Arial"/>
              </a:defRPr>
            </a:lvl4pPr>
            <a:lvl5pPr algn="l">
              <a:defRPr sz="2850" b="0">
                <a:solidFill>
                  <a:srgbClr val="C8E3B3"/>
                </a:solidFill>
                <a:latin typeface="Arial"/>
                <a:ea typeface="Arial"/>
                <a:cs typeface="Arial"/>
              </a:defRPr>
            </a:lvl5pPr>
            <a:lvl6pPr algn="l">
              <a:defRPr sz="2850" b="0">
                <a:solidFill>
                  <a:srgbClr val="C8E3B3"/>
                </a:solidFill>
                <a:latin typeface="Arial"/>
                <a:ea typeface="Arial"/>
                <a:cs typeface="Arial"/>
              </a:defRPr>
            </a:lvl6pPr>
            <a:lvl7pPr algn="l">
              <a:defRPr sz="2850" b="0">
                <a:solidFill>
                  <a:srgbClr val="C8E3B3"/>
                </a:solidFill>
                <a:latin typeface="Arial"/>
                <a:ea typeface="Arial"/>
                <a:cs typeface="Arial"/>
              </a:defRPr>
            </a:lvl7pPr>
            <a:lvl8pPr algn="l">
              <a:defRPr sz="2850" b="0">
                <a:solidFill>
                  <a:srgbClr val="C8E3B3"/>
                </a:solidFill>
                <a:latin typeface="Arial"/>
                <a:ea typeface="Arial"/>
                <a:cs typeface="Arial"/>
              </a:defRPr>
            </a:lvl8pPr>
            <a:lvl9pPr algn="l">
              <a:defRPr sz="2850" b="0">
                <a:solidFill>
                  <a:srgbClr val="C8E3B3"/>
                </a:solidFill>
                <a:latin typeface="Arial"/>
                <a:ea typeface="Arial"/>
                <a:cs typeface="Arial"/>
              </a:defRPr>
            </a:lvl9pPr>
          </a:lstStyle>
          <a:p xmlns:a="http://schemas.openxmlformats.org/drawingml/2006/main">
            <a:pPr algn="l">
              <a:defRPr sz="2850" b="0">
                <a:solidFill>
                  <a:srgbClr val="C8E3B3"/>
                </a:solidFill>
                <a:latin typeface="Arial"/>
                <a:ea typeface="Arial"/>
                <a:cs typeface="Arial"/>
              </a:defRPr>
            </a:pPr>
            <a:r>
              <a:rPr sz="2850" b="0">
                <a:solidFill>
                  <a:srgbClr val="C8E3B3"/>
                </a:solidFill>
                <a:latin typeface="Arial"/>
                <a:ea typeface="Arial"/>
                <a:cs typeface="Arial"/>
              </a:rPr>
              <a:t>Rainfall forecasts and stock relocation decisions</a:t>
            </a:r>
          </a:p>
          <a:p xmlns:a="http://schemas.openxmlformats.org/drawingml/2006/main">
            <a:pPr algn="l">
              <a:defRPr sz="2850" b="0">
                <a:solidFill>
                  <a:srgbClr val="C8E3B3"/>
                </a:solidFill>
                <a:latin typeface="Arial"/>
                <a:ea typeface="Arial"/>
                <a:cs typeface="Arial"/>
              </a:defRPr>
            </a:pPr>
            <a:r>
              <a:rPr sz="2850" b="0">
                <a:solidFill>
                  <a:srgbClr val="C8E3B3"/>
                </a:solidFill>
                <a:latin typeface="Arial"/>
                <a:ea typeface="Arial"/>
                <a:cs typeface="Arial"/>
              </a:rPr>
              <a:t>for small shops</a:t>
            </a:r>
          </a:p>
        </p:txBody>
      </p:sp>
      <p:sp>
        <p:nvSpPr>
          <p:cNvPr id="5" name="Purpose">
            <a:extLst xmlns:a="http://schemas.openxmlformats.org/drawingml/2006/main">
              <a:ext uri="{FF2B5EF4-FFF2-40B4-BE49-F238E27FC236}">
                <a16:creationId xmlns:a16="http://schemas.microsoft.com/office/drawing/2014/main" id="{8CB903E0-D564-485F-B744-96FBADE96256}"/>
              </a:ext>
            </a:extLst>
          </p:cNvPr>
          <p:cNvSpPr>
            <a:spLocks xmlns:a="http://schemas.openxmlformats.org/drawingml/2006/main" noGrp="1"/>
          </p:cNvSpPr>
          <p:nvPr/>
        </p:nvSpPr>
        <p:spPr>
          <a:xfrm xmlns:a="http://schemas.openxmlformats.org/drawingml/2006/main">
            <a:off x="733425" y="485775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0EFD7"/>
                </a:solidFill>
                <a:latin typeface="Arial"/>
                <a:ea typeface="Arial"/>
                <a:cs typeface="Arial"/>
              </a:defRPr>
            </a:defPPr>
            <a:lvl1pPr algn="l">
              <a:defRPr sz="2100" b="0">
                <a:solidFill>
                  <a:srgbClr val="F0EFD7"/>
                </a:solidFill>
                <a:latin typeface="Arial"/>
                <a:ea typeface="Arial"/>
                <a:cs typeface="Arial"/>
              </a:defRPr>
            </a:lvl1pPr>
            <a:lvl2pPr algn="l">
              <a:defRPr sz="2100" b="0">
                <a:solidFill>
                  <a:srgbClr val="F0EFD7"/>
                </a:solidFill>
                <a:latin typeface="Arial"/>
                <a:ea typeface="Arial"/>
                <a:cs typeface="Arial"/>
              </a:defRPr>
            </a:lvl2pPr>
            <a:lvl3pPr algn="l">
              <a:defRPr sz="2100" b="0">
                <a:solidFill>
                  <a:srgbClr val="F0EFD7"/>
                </a:solidFill>
                <a:latin typeface="Arial"/>
                <a:ea typeface="Arial"/>
                <a:cs typeface="Arial"/>
              </a:defRPr>
            </a:lvl3pPr>
            <a:lvl4pPr algn="l">
              <a:defRPr sz="2100" b="0">
                <a:solidFill>
                  <a:srgbClr val="F0EFD7"/>
                </a:solidFill>
                <a:latin typeface="Arial"/>
                <a:ea typeface="Arial"/>
                <a:cs typeface="Arial"/>
              </a:defRPr>
            </a:lvl4pPr>
            <a:lvl5pPr algn="l">
              <a:defRPr sz="2100" b="0">
                <a:solidFill>
                  <a:srgbClr val="F0EFD7"/>
                </a:solidFill>
                <a:latin typeface="Arial"/>
                <a:ea typeface="Arial"/>
                <a:cs typeface="Arial"/>
              </a:defRPr>
            </a:lvl5pPr>
            <a:lvl6pPr algn="l">
              <a:defRPr sz="2100" b="0">
                <a:solidFill>
                  <a:srgbClr val="F0EFD7"/>
                </a:solidFill>
                <a:latin typeface="Arial"/>
                <a:ea typeface="Arial"/>
                <a:cs typeface="Arial"/>
              </a:defRPr>
            </a:lvl6pPr>
            <a:lvl7pPr algn="l">
              <a:defRPr sz="2100" b="0">
                <a:solidFill>
                  <a:srgbClr val="F0EFD7"/>
                </a:solidFill>
                <a:latin typeface="Arial"/>
                <a:ea typeface="Arial"/>
                <a:cs typeface="Arial"/>
              </a:defRPr>
            </a:lvl7pPr>
            <a:lvl8pPr algn="l">
              <a:defRPr sz="2100" b="0">
                <a:solidFill>
                  <a:srgbClr val="F0EFD7"/>
                </a:solidFill>
                <a:latin typeface="Arial"/>
                <a:ea typeface="Arial"/>
                <a:cs typeface="Arial"/>
              </a:defRPr>
            </a:lvl8pPr>
            <a:lvl9pPr algn="l">
              <a:defRPr sz="2100" b="0">
                <a:solidFill>
                  <a:srgbClr val="F0EFD7"/>
                </a:solidFill>
                <a:latin typeface="Arial"/>
                <a:ea typeface="Arial"/>
                <a:cs typeface="Arial"/>
              </a:defRPr>
            </a:lvl9pPr>
          </a:lstStyle>
          <a:p xmlns:a="http://schemas.openxmlformats.org/drawingml/2006/main">
            <a:pPr algn="l">
              <a:defRPr sz="2100" b="0">
                <a:solidFill>
                  <a:srgbClr val="F0EFD7"/>
                </a:solidFill>
                <a:latin typeface="Arial"/>
                <a:ea typeface="Arial"/>
                <a:cs typeface="Arial"/>
              </a:defRPr>
            </a:pPr>
            <a:r>
              <a:rPr sz="2100" b="0">
                <a:solidFill>
                  <a:srgbClr val="F0EFD7"/>
                </a:solidFill>
                <a:latin typeface="Arial"/>
                <a:ea typeface="Arial"/>
                <a:cs typeface="Arial"/>
              </a:rPr>
              <a:t>A working prototype for comparing expected costs</a:t>
            </a:r>
          </a:p>
        </p:txBody>
      </p:sp>
      <p:sp>
        <p:nvSpPr>
          <p:cNvPr id="6" name="Cover rule">
            <a:extLst xmlns:a="http://schemas.openxmlformats.org/drawingml/2006/main">
              <a:ext uri="{FF2B5EF4-FFF2-40B4-BE49-F238E27FC236}">
                <a16:creationId xmlns:a16="http://schemas.microsoft.com/office/drawing/2014/main" id="{AB2DC44F-477B-458B-85DA-FF09850A6C6A}"/>
              </a:ext>
            </a:extLst>
          </p:cNvPr>
          <p:cNvSpPr>
            <a:spLocks xmlns:a="http://schemas.openxmlformats.org/drawingml/2006/main" noGrp="1"/>
          </p:cNvSpPr>
          <p:nvPr/>
        </p:nvSpPr>
        <p:spPr>
          <a:xfrm xmlns:a="http://schemas.openxmlformats.org/drawingml/2006/main">
            <a:off x="723900" y="5915025"/>
            <a:ext cx="10744200" cy="0"/>
          </a:xfrm>
          <a:prstGeom xmlns:a="http://schemas.openxmlformats.org/drawingml/2006/main" prst="line">
            <a:avLst/>
          </a:prstGeom>
          <a:noFill xmlns:a="http://schemas.openxmlformats.org/drawingml/2006/main"/>
          <a:ln xmlns:a="http://schemas.openxmlformats.org/drawingml/2006/main" w="9525">
            <a:solidFill>
              <a:srgbClr val="36534A"/>
            </a:solidFill>
            <a:prstDash val="solid"/>
          </a:ln>
        </p:spPr>
      </p:sp>
      <p:sp>
        <p:nvSpPr>
          <p:cNvPr id="7" name="Status">
            <a:extLst xmlns:a="http://schemas.openxmlformats.org/drawingml/2006/main">
              <a:ext uri="{FF2B5EF4-FFF2-40B4-BE49-F238E27FC236}">
                <a16:creationId xmlns:a16="http://schemas.microsoft.com/office/drawing/2014/main" id="{6B1F33B2-FC07-4ABC-8077-70ADA80CEE5E}"/>
              </a:ext>
            </a:extLst>
          </p:cNvPr>
          <p:cNvSpPr>
            <a:spLocks xmlns:a="http://schemas.openxmlformats.org/drawingml/2006/main" noGrp="1"/>
          </p:cNvSpPr>
          <p:nvPr/>
        </p:nvSpPr>
        <p:spPr>
          <a:xfrm xmlns:a="http://schemas.openxmlformats.org/drawingml/2006/main">
            <a:off x="733425" y="61531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9C5A9"/>
                </a:solidFill>
                <a:latin typeface="Arial"/>
                <a:ea typeface="Arial"/>
                <a:cs typeface="Arial"/>
              </a:defRPr>
            </a:defPPr>
            <a:lvl1pPr algn="l">
              <a:defRPr sz="1575" b="0">
                <a:solidFill>
                  <a:srgbClr val="A9C5A9"/>
                </a:solidFill>
                <a:latin typeface="Arial"/>
                <a:ea typeface="Arial"/>
                <a:cs typeface="Arial"/>
              </a:defRPr>
            </a:lvl1pPr>
            <a:lvl2pPr algn="l">
              <a:defRPr sz="1575" b="0">
                <a:solidFill>
                  <a:srgbClr val="A9C5A9"/>
                </a:solidFill>
                <a:latin typeface="Arial"/>
                <a:ea typeface="Arial"/>
                <a:cs typeface="Arial"/>
              </a:defRPr>
            </a:lvl2pPr>
            <a:lvl3pPr algn="l">
              <a:defRPr sz="1575" b="0">
                <a:solidFill>
                  <a:srgbClr val="A9C5A9"/>
                </a:solidFill>
                <a:latin typeface="Arial"/>
                <a:ea typeface="Arial"/>
                <a:cs typeface="Arial"/>
              </a:defRPr>
            </a:lvl3pPr>
            <a:lvl4pPr algn="l">
              <a:defRPr sz="1575" b="0">
                <a:solidFill>
                  <a:srgbClr val="A9C5A9"/>
                </a:solidFill>
                <a:latin typeface="Arial"/>
                <a:ea typeface="Arial"/>
                <a:cs typeface="Arial"/>
              </a:defRPr>
            </a:lvl4pPr>
            <a:lvl5pPr algn="l">
              <a:defRPr sz="1575" b="0">
                <a:solidFill>
                  <a:srgbClr val="A9C5A9"/>
                </a:solidFill>
                <a:latin typeface="Arial"/>
                <a:ea typeface="Arial"/>
                <a:cs typeface="Arial"/>
              </a:defRPr>
            </a:lvl5pPr>
            <a:lvl6pPr algn="l">
              <a:defRPr sz="1575" b="0">
                <a:solidFill>
                  <a:srgbClr val="A9C5A9"/>
                </a:solidFill>
                <a:latin typeface="Arial"/>
                <a:ea typeface="Arial"/>
                <a:cs typeface="Arial"/>
              </a:defRPr>
            </a:lvl6pPr>
            <a:lvl7pPr algn="l">
              <a:defRPr sz="1575" b="0">
                <a:solidFill>
                  <a:srgbClr val="A9C5A9"/>
                </a:solidFill>
                <a:latin typeface="Arial"/>
                <a:ea typeface="Arial"/>
                <a:cs typeface="Arial"/>
              </a:defRPr>
            </a:lvl7pPr>
            <a:lvl8pPr algn="l">
              <a:defRPr sz="1575" b="0">
                <a:solidFill>
                  <a:srgbClr val="A9C5A9"/>
                </a:solidFill>
                <a:latin typeface="Arial"/>
                <a:ea typeface="Arial"/>
                <a:cs typeface="Arial"/>
              </a:defRPr>
            </a:lvl8pPr>
            <a:lvl9pPr algn="l">
              <a:defRPr sz="1575" b="0">
                <a:solidFill>
                  <a:srgbClr val="A9C5A9"/>
                </a:solidFill>
                <a:latin typeface="Arial"/>
                <a:ea typeface="Arial"/>
                <a:cs typeface="Arial"/>
              </a:defRPr>
            </a:lvl9pPr>
          </a:lstStyle>
          <a:p xmlns:a="http://schemas.openxmlformats.org/drawingml/2006/main">
            <a:pPr algn="l">
              <a:defRPr sz="1575" b="0">
                <a:solidFill>
                  <a:srgbClr val="A9C5A9"/>
                </a:solidFill>
                <a:latin typeface="Arial"/>
                <a:ea typeface="Arial"/>
                <a:cs typeface="Arial"/>
              </a:defRPr>
            </a:pPr>
            <a:r>
              <a:rPr sz="1575" b="0">
                <a:solidFill>
                  <a:srgbClr val="A9C5A9"/>
                </a:solidFill>
                <a:latin typeface="Arial"/>
                <a:ea typeface="Arial"/>
                <a:cs typeface="Arial"/>
              </a:rPr>
              <a:t>Built by two students. Merchant validation is pending.</a:t>
            </a:r>
          </a:p>
        </p:txBody>
      </p:sp>
    </p:spTree>
    <p:extLst>
      <p:ext uri="{BB962C8B-B14F-4D97-AF65-F5344CB8AC3E}">
        <p14:creationId xmlns:p14="http://schemas.microsoft.com/office/powerpoint/2010/main" val="79663462"/>
      </p:ext>
    </p:extLst>
  </p:cSld>
</p:sld>
</file>

<file path=ppt/slides/slide2.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11" name="Title 2">
            <a:extLst xmlns:a="http://schemas.openxmlformats.org/drawingml/2006/main">
              <a:ext uri="{FF2B5EF4-FFF2-40B4-BE49-F238E27FC236}">
                <a16:creationId xmlns:a16="http://schemas.microsoft.com/office/drawing/2014/main" id="{4C641E4A-CA9B-4F3E-8E2B-DD2815DF9765}"/>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The small shop dilemma</a:t>
            </a:r>
          </a:p>
        </p:txBody>
      </p:sp>
      <p:sp>
        <p:nvSpPr>
          <p:cNvPr id="2" name="Page 2">
            <a:extLst xmlns:a="http://schemas.openxmlformats.org/drawingml/2006/main">
              <a:ext uri="{FF2B5EF4-FFF2-40B4-BE49-F238E27FC236}">
                <a16:creationId xmlns:a16="http://schemas.microsoft.com/office/drawing/2014/main" id="{FC1578F0-C4FF-49E7-B615-530BEC102471}"/>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02</a:t>
            </a:r>
          </a:p>
        </p:txBody>
      </p:sp>
      <p:sp>
        <p:nvSpPr>
          <p:cNvPr id="3" name="Audience">
            <a:extLst xmlns:a="http://schemas.openxmlformats.org/drawingml/2006/main">
              <a:ext uri="{FF2B5EF4-FFF2-40B4-BE49-F238E27FC236}">
                <a16:creationId xmlns:a16="http://schemas.microsoft.com/office/drawing/2014/main" id="{D94C87DD-C5B8-4677-BF78-5D5E572CAA80}"/>
              </a:ext>
            </a:extLst>
          </p:cNvPr>
          <p:cNvSpPr>
            <a:spLocks xmlns:a="http://schemas.openxmlformats.org/drawingml/2006/main" noGrp="1"/>
          </p:cNvSpPr>
          <p:nvPr/>
        </p:nvSpPr>
        <p:spPr>
          <a:xfrm xmlns:a="http://schemas.openxmlformats.org/drawingml/2006/main">
            <a:off x="723900" y="14954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6C60"/>
                </a:solidFill>
                <a:latin typeface="Arial"/>
                <a:ea typeface="Arial"/>
                <a:cs typeface="Arial"/>
              </a:defRPr>
            </a:defPPr>
            <a:lvl1pPr algn="l">
              <a:defRPr sz="2175" b="0">
                <a:solidFill>
                  <a:srgbClr val="286C60"/>
                </a:solidFill>
                <a:latin typeface="Arial"/>
                <a:ea typeface="Arial"/>
                <a:cs typeface="Arial"/>
              </a:defRPr>
            </a:lvl1pPr>
            <a:lvl2pPr algn="l">
              <a:defRPr sz="2175" b="0">
                <a:solidFill>
                  <a:srgbClr val="286C60"/>
                </a:solidFill>
                <a:latin typeface="Arial"/>
                <a:ea typeface="Arial"/>
                <a:cs typeface="Arial"/>
              </a:defRPr>
            </a:lvl2pPr>
            <a:lvl3pPr algn="l">
              <a:defRPr sz="2175" b="0">
                <a:solidFill>
                  <a:srgbClr val="286C60"/>
                </a:solidFill>
                <a:latin typeface="Arial"/>
                <a:ea typeface="Arial"/>
                <a:cs typeface="Arial"/>
              </a:defRPr>
            </a:lvl3pPr>
            <a:lvl4pPr algn="l">
              <a:defRPr sz="2175" b="0">
                <a:solidFill>
                  <a:srgbClr val="286C60"/>
                </a:solidFill>
                <a:latin typeface="Arial"/>
                <a:ea typeface="Arial"/>
                <a:cs typeface="Arial"/>
              </a:defRPr>
            </a:lvl4pPr>
            <a:lvl5pPr algn="l">
              <a:defRPr sz="2175" b="0">
                <a:solidFill>
                  <a:srgbClr val="286C60"/>
                </a:solidFill>
                <a:latin typeface="Arial"/>
                <a:ea typeface="Arial"/>
                <a:cs typeface="Arial"/>
              </a:defRPr>
            </a:lvl5pPr>
            <a:lvl6pPr algn="l">
              <a:defRPr sz="2175" b="0">
                <a:solidFill>
                  <a:srgbClr val="286C60"/>
                </a:solidFill>
                <a:latin typeface="Arial"/>
                <a:ea typeface="Arial"/>
                <a:cs typeface="Arial"/>
              </a:defRPr>
            </a:lvl6pPr>
            <a:lvl7pPr algn="l">
              <a:defRPr sz="2175" b="0">
                <a:solidFill>
                  <a:srgbClr val="286C60"/>
                </a:solidFill>
                <a:latin typeface="Arial"/>
                <a:ea typeface="Arial"/>
                <a:cs typeface="Arial"/>
              </a:defRPr>
            </a:lvl7pPr>
            <a:lvl8pPr algn="l">
              <a:defRPr sz="2175" b="0">
                <a:solidFill>
                  <a:srgbClr val="286C60"/>
                </a:solidFill>
                <a:latin typeface="Arial"/>
                <a:ea typeface="Arial"/>
                <a:cs typeface="Arial"/>
              </a:defRPr>
            </a:lvl8pPr>
            <a:lvl9pPr algn="l">
              <a:defRPr sz="2175" b="0">
                <a:solidFill>
                  <a:srgbClr val="286C60"/>
                </a:solidFill>
                <a:latin typeface="Arial"/>
                <a:ea typeface="Arial"/>
                <a:cs typeface="Arial"/>
              </a:defRPr>
            </a:lvl9pPr>
          </a:lstStyle>
          <a:p xmlns:a="http://schemas.openxmlformats.org/drawingml/2006/main">
            <a:pPr algn="l">
              <a:defRPr sz="2175" b="0">
                <a:solidFill>
                  <a:srgbClr val="286C60"/>
                </a:solidFill>
                <a:latin typeface="Arial"/>
                <a:ea typeface="Arial"/>
                <a:cs typeface="Arial"/>
              </a:defRPr>
            </a:pPr>
            <a:r>
              <a:rPr sz="2175" b="0">
                <a:solidFill>
                  <a:srgbClr val="286C60"/>
                </a:solidFill>
                <a:latin typeface="Arial"/>
                <a:ea typeface="Arial"/>
                <a:cs typeface="Arial"/>
              </a:rPr>
              <a:t>Target users: small shops in Hangzhou preparing for wet weather</a:t>
            </a:r>
          </a:p>
        </p:txBody>
      </p:sp>
      <p:sp>
        <p:nvSpPr>
          <p:cNvPr id="4" name="Relocate heading">
            <a:extLst xmlns:a="http://schemas.openxmlformats.org/drawingml/2006/main">
              <a:ext uri="{FF2B5EF4-FFF2-40B4-BE49-F238E27FC236}">
                <a16:creationId xmlns:a16="http://schemas.microsoft.com/office/drawing/2014/main" id="{CE2ED2F2-3A4F-4DD7-8180-63170E5DF8EC}"/>
              </a:ext>
            </a:extLst>
          </p:cNvPr>
          <p:cNvSpPr>
            <a:spLocks xmlns:a="http://schemas.openxmlformats.org/drawingml/2006/main" noGrp="1"/>
          </p:cNvSpPr>
          <p:nvPr/>
        </p:nvSpPr>
        <p:spPr>
          <a:xfrm xmlns:a="http://schemas.openxmlformats.org/drawingml/2006/main">
            <a:off x="723900" y="25908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73E36"/>
                </a:solidFill>
                <a:latin typeface="Arial"/>
                <a:ea typeface="Arial"/>
                <a:cs typeface="Arial"/>
              </a:defRPr>
            </a:defPPr>
            <a:lvl1pPr algn="l">
              <a:defRPr sz="3900" b="1">
                <a:solidFill>
                  <a:srgbClr val="173E36"/>
                </a:solidFill>
                <a:latin typeface="Arial"/>
                <a:ea typeface="Arial"/>
                <a:cs typeface="Arial"/>
              </a:defRPr>
            </a:lvl1pPr>
            <a:lvl2pPr algn="l">
              <a:defRPr sz="3900" b="1">
                <a:solidFill>
                  <a:srgbClr val="173E36"/>
                </a:solidFill>
                <a:latin typeface="Arial"/>
                <a:ea typeface="Arial"/>
                <a:cs typeface="Arial"/>
              </a:defRPr>
            </a:lvl2pPr>
            <a:lvl3pPr algn="l">
              <a:defRPr sz="3900" b="1">
                <a:solidFill>
                  <a:srgbClr val="173E36"/>
                </a:solidFill>
                <a:latin typeface="Arial"/>
                <a:ea typeface="Arial"/>
                <a:cs typeface="Arial"/>
              </a:defRPr>
            </a:lvl3pPr>
            <a:lvl4pPr algn="l">
              <a:defRPr sz="3900" b="1">
                <a:solidFill>
                  <a:srgbClr val="173E36"/>
                </a:solidFill>
                <a:latin typeface="Arial"/>
                <a:ea typeface="Arial"/>
                <a:cs typeface="Arial"/>
              </a:defRPr>
            </a:lvl4pPr>
            <a:lvl5pPr algn="l">
              <a:defRPr sz="3900" b="1">
                <a:solidFill>
                  <a:srgbClr val="173E36"/>
                </a:solidFill>
                <a:latin typeface="Arial"/>
                <a:ea typeface="Arial"/>
                <a:cs typeface="Arial"/>
              </a:defRPr>
            </a:lvl5pPr>
            <a:lvl6pPr algn="l">
              <a:defRPr sz="3900" b="1">
                <a:solidFill>
                  <a:srgbClr val="173E36"/>
                </a:solidFill>
                <a:latin typeface="Arial"/>
                <a:ea typeface="Arial"/>
                <a:cs typeface="Arial"/>
              </a:defRPr>
            </a:lvl6pPr>
            <a:lvl7pPr algn="l">
              <a:defRPr sz="3900" b="1">
                <a:solidFill>
                  <a:srgbClr val="173E36"/>
                </a:solidFill>
                <a:latin typeface="Arial"/>
                <a:ea typeface="Arial"/>
                <a:cs typeface="Arial"/>
              </a:defRPr>
            </a:lvl7pPr>
            <a:lvl8pPr algn="l">
              <a:defRPr sz="3900" b="1">
                <a:solidFill>
                  <a:srgbClr val="173E36"/>
                </a:solidFill>
                <a:latin typeface="Arial"/>
                <a:ea typeface="Arial"/>
                <a:cs typeface="Arial"/>
              </a:defRPr>
            </a:lvl8pPr>
            <a:lvl9pPr algn="l">
              <a:defRPr sz="3900" b="1">
                <a:solidFill>
                  <a:srgbClr val="173E36"/>
                </a:solidFill>
                <a:latin typeface="Arial"/>
                <a:ea typeface="Arial"/>
                <a:cs typeface="Arial"/>
              </a:defRPr>
            </a:lvl9pPr>
          </a:lstStyle>
          <a:p xmlns:a="http://schemas.openxmlformats.org/drawingml/2006/main">
            <a:pPr algn="l">
              <a:defRPr sz="3900" b="1">
                <a:solidFill>
                  <a:srgbClr val="173E36"/>
                </a:solidFill>
                <a:latin typeface="Arial"/>
                <a:ea typeface="Arial"/>
                <a:cs typeface="Arial"/>
              </a:defRPr>
            </a:pPr>
            <a:r>
              <a:rPr sz="3900" b="1">
                <a:solidFill>
                  <a:srgbClr val="173E36"/>
                </a:solidFill>
                <a:latin typeface="Arial"/>
                <a:ea typeface="Arial"/>
                <a:cs typeface="Arial"/>
              </a:rPr>
              <a:t>Relocate now</a:t>
            </a:r>
          </a:p>
        </p:txBody>
      </p:sp>
      <p:sp>
        <p:nvSpPr>
          <p:cNvPr id="5" name="Keep heading">
            <a:extLst xmlns:a="http://schemas.openxmlformats.org/drawingml/2006/main">
              <a:ext uri="{FF2B5EF4-FFF2-40B4-BE49-F238E27FC236}">
                <a16:creationId xmlns:a16="http://schemas.microsoft.com/office/drawing/2014/main" id="{03E26FEF-CB12-4EE8-AE3C-5859B3990C7C}"/>
              </a:ext>
            </a:extLst>
          </p:cNvPr>
          <p:cNvSpPr>
            <a:spLocks xmlns:a="http://schemas.openxmlformats.org/drawingml/2006/main" noGrp="1"/>
          </p:cNvSpPr>
          <p:nvPr/>
        </p:nvSpPr>
        <p:spPr>
          <a:xfrm xmlns:a="http://schemas.openxmlformats.org/drawingml/2006/main">
            <a:off x="6934200" y="259080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E36"/>
                </a:solidFill>
                <a:latin typeface="Arial"/>
                <a:ea typeface="Arial"/>
                <a:cs typeface="Arial"/>
              </a:defRPr>
            </a:defPPr>
            <a:lvl1pPr algn="l">
              <a:defRPr sz="3375" b="1">
                <a:solidFill>
                  <a:srgbClr val="173E36"/>
                </a:solidFill>
                <a:latin typeface="Arial"/>
                <a:ea typeface="Arial"/>
                <a:cs typeface="Arial"/>
              </a:defRPr>
            </a:lvl1pPr>
            <a:lvl2pPr algn="l">
              <a:defRPr sz="3375" b="1">
                <a:solidFill>
                  <a:srgbClr val="173E36"/>
                </a:solidFill>
                <a:latin typeface="Arial"/>
                <a:ea typeface="Arial"/>
                <a:cs typeface="Arial"/>
              </a:defRPr>
            </a:lvl2pPr>
            <a:lvl3pPr algn="l">
              <a:defRPr sz="3375" b="1">
                <a:solidFill>
                  <a:srgbClr val="173E36"/>
                </a:solidFill>
                <a:latin typeface="Arial"/>
                <a:ea typeface="Arial"/>
                <a:cs typeface="Arial"/>
              </a:defRPr>
            </a:lvl3pPr>
            <a:lvl4pPr algn="l">
              <a:defRPr sz="3375" b="1">
                <a:solidFill>
                  <a:srgbClr val="173E36"/>
                </a:solidFill>
                <a:latin typeface="Arial"/>
                <a:ea typeface="Arial"/>
                <a:cs typeface="Arial"/>
              </a:defRPr>
            </a:lvl4pPr>
            <a:lvl5pPr algn="l">
              <a:defRPr sz="3375" b="1">
                <a:solidFill>
                  <a:srgbClr val="173E36"/>
                </a:solidFill>
                <a:latin typeface="Arial"/>
                <a:ea typeface="Arial"/>
                <a:cs typeface="Arial"/>
              </a:defRPr>
            </a:lvl5pPr>
            <a:lvl6pPr algn="l">
              <a:defRPr sz="3375" b="1">
                <a:solidFill>
                  <a:srgbClr val="173E36"/>
                </a:solidFill>
                <a:latin typeface="Arial"/>
                <a:ea typeface="Arial"/>
                <a:cs typeface="Arial"/>
              </a:defRPr>
            </a:lvl6pPr>
            <a:lvl7pPr algn="l">
              <a:defRPr sz="3375" b="1">
                <a:solidFill>
                  <a:srgbClr val="173E36"/>
                </a:solidFill>
                <a:latin typeface="Arial"/>
                <a:ea typeface="Arial"/>
                <a:cs typeface="Arial"/>
              </a:defRPr>
            </a:lvl7pPr>
            <a:lvl8pPr algn="l">
              <a:defRPr sz="3375" b="1">
                <a:solidFill>
                  <a:srgbClr val="173E36"/>
                </a:solidFill>
                <a:latin typeface="Arial"/>
                <a:ea typeface="Arial"/>
                <a:cs typeface="Arial"/>
              </a:defRPr>
            </a:lvl8pPr>
            <a:lvl9pPr algn="l">
              <a:defRPr sz="3375" b="1">
                <a:solidFill>
                  <a:srgbClr val="173E36"/>
                </a:solidFill>
                <a:latin typeface="Arial"/>
                <a:ea typeface="Arial"/>
                <a:cs typeface="Arial"/>
              </a:defRPr>
            </a:lvl9pPr>
          </a:lstStyle>
          <a:p xmlns:a="http://schemas.openxmlformats.org/drawingml/2006/main">
            <a:pPr algn="l">
              <a:defRPr sz="3375" b="1">
                <a:solidFill>
                  <a:srgbClr val="173E36"/>
                </a:solidFill>
                <a:latin typeface="Arial"/>
                <a:ea typeface="Arial"/>
                <a:cs typeface="Arial"/>
              </a:defRPr>
            </a:pPr>
            <a:r>
              <a:rPr sz="3375" b="1">
                <a:solidFill>
                  <a:srgbClr val="173E36"/>
                </a:solidFill>
                <a:latin typeface="Arial"/>
                <a:ea typeface="Arial"/>
                <a:cs typeface="Arial"/>
              </a:rPr>
              <a:t>Keep stock in place</a:t>
            </a:r>
          </a:p>
        </p:txBody>
      </p:sp>
      <p:sp>
        <p:nvSpPr>
          <p:cNvPr id="6" name="Relocate rule">
            <a:extLst xmlns:a="http://schemas.openxmlformats.org/drawingml/2006/main">
              <a:ext uri="{FF2B5EF4-FFF2-40B4-BE49-F238E27FC236}">
                <a16:creationId xmlns:a16="http://schemas.microsoft.com/office/drawing/2014/main" id="{8D31523C-8D87-43AE-BB14-68DFB6FFDA0D}"/>
              </a:ext>
            </a:extLst>
          </p:cNvPr>
          <p:cNvSpPr>
            <a:spLocks xmlns:a="http://schemas.openxmlformats.org/drawingml/2006/main" noGrp="1"/>
          </p:cNvSpPr>
          <p:nvPr/>
        </p:nvSpPr>
        <p:spPr>
          <a:xfrm xmlns:a="http://schemas.openxmlformats.org/drawingml/2006/main">
            <a:off x="723900" y="3495675"/>
            <a:ext cx="4457700" cy="0"/>
          </a:xfrm>
          <a:prstGeom xmlns:a="http://schemas.openxmlformats.org/drawingml/2006/main" prst="line">
            <a:avLst/>
          </a:prstGeom>
          <a:noFill xmlns:a="http://schemas.openxmlformats.org/drawingml/2006/main"/>
          <a:ln xmlns:a="http://schemas.openxmlformats.org/drawingml/2006/main" w="28575">
            <a:solidFill>
              <a:srgbClr val="286C60"/>
            </a:solidFill>
            <a:prstDash val="solid"/>
          </a:ln>
        </p:spPr>
      </p:sp>
      <p:sp>
        <p:nvSpPr>
          <p:cNvPr id="7" name="Keep rule">
            <a:extLst xmlns:a="http://schemas.openxmlformats.org/drawingml/2006/main">
              <a:ext uri="{FF2B5EF4-FFF2-40B4-BE49-F238E27FC236}">
                <a16:creationId xmlns:a16="http://schemas.microsoft.com/office/drawing/2014/main" id="{B2B3FA98-BDF3-4794-86CB-5DE250F3E5B0}"/>
              </a:ext>
            </a:extLst>
          </p:cNvPr>
          <p:cNvSpPr>
            <a:spLocks xmlns:a="http://schemas.openxmlformats.org/drawingml/2006/main" noGrp="1"/>
          </p:cNvSpPr>
          <p:nvPr/>
        </p:nvSpPr>
        <p:spPr>
          <a:xfrm xmlns:a="http://schemas.openxmlformats.org/drawingml/2006/main">
            <a:off x="6953250" y="3495675"/>
            <a:ext cx="4448175" cy="0"/>
          </a:xfrm>
          <a:prstGeom xmlns:a="http://schemas.openxmlformats.org/drawingml/2006/main" prst="line">
            <a:avLst/>
          </a:prstGeom>
          <a:noFill xmlns:a="http://schemas.openxmlformats.org/drawingml/2006/main"/>
          <a:ln xmlns:a="http://schemas.openxmlformats.org/drawingml/2006/main" w="28575">
            <a:solidFill>
              <a:srgbClr val="B06945"/>
            </a:solidFill>
            <a:prstDash val="solid"/>
          </a:ln>
        </p:spPr>
      </p:sp>
      <p:sp>
        <p:nvSpPr>
          <p:cNvPr id="8" name="Relocate cost">
            <a:extLst xmlns:a="http://schemas.openxmlformats.org/drawingml/2006/main">
              <a:ext uri="{FF2B5EF4-FFF2-40B4-BE49-F238E27FC236}">
                <a16:creationId xmlns:a16="http://schemas.microsoft.com/office/drawing/2014/main" id="{AA53E402-BF10-4A22-A70D-849A6E84E8F9}"/>
              </a:ext>
            </a:extLst>
          </p:cNvPr>
          <p:cNvSpPr>
            <a:spLocks xmlns:a="http://schemas.openxmlformats.org/drawingml/2006/main" noGrp="1"/>
          </p:cNvSpPr>
          <p:nvPr/>
        </p:nvSpPr>
        <p:spPr>
          <a:xfrm xmlns:a="http://schemas.openxmlformats.org/drawingml/2006/main">
            <a:off x="723900" y="3848100"/>
            <a:ext cx="4800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E36"/>
                </a:solidFill>
                <a:latin typeface="Arial"/>
                <a:ea typeface="Arial"/>
                <a:cs typeface="Arial"/>
              </a:defRPr>
            </a:defPPr>
            <a:lvl1pPr algn="l">
              <a:defRPr sz="2100" b="0">
                <a:solidFill>
                  <a:srgbClr val="173E36"/>
                </a:solidFill>
                <a:latin typeface="Arial"/>
                <a:ea typeface="Arial"/>
                <a:cs typeface="Arial"/>
              </a:defRPr>
            </a:lvl1pPr>
            <a:lvl2pPr algn="l">
              <a:defRPr sz="2100" b="0">
                <a:solidFill>
                  <a:srgbClr val="173E36"/>
                </a:solidFill>
                <a:latin typeface="Arial"/>
                <a:ea typeface="Arial"/>
                <a:cs typeface="Arial"/>
              </a:defRPr>
            </a:lvl2pPr>
            <a:lvl3pPr algn="l">
              <a:defRPr sz="2100" b="0">
                <a:solidFill>
                  <a:srgbClr val="173E36"/>
                </a:solidFill>
                <a:latin typeface="Arial"/>
                <a:ea typeface="Arial"/>
                <a:cs typeface="Arial"/>
              </a:defRPr>
            </a:lvl3pPr>
            <a:lvl4pPr algn="l">
              <a:defRPr sz="2100" b="0">
                <a:solidFill>
                  <a:srgbClr val="173E36"/>
                </a:solidFill>
                <a:latin typeface="Arial"/>
                <a:ea typeface="Arial"/>
                <a:cs typeface="Arial"/>
              </a:defRPr>
            </a:lvl4pPr>
            <a:lvl5pPr algn="l">
              <a:defRPr sz="2100" b="0">
                <a:solidFill>
                  <a:srgbClr val="173E36"/>
                </a:solidFill>
                <a:latin typeface="Arial"/>
                <a:ea typeface="Arial"/>
                <a:cs typeface="Arial"/>
              </a:defRPr>
            </a:lvl5pPr>
            <a:lvl6pPr algn="l">
              <a:defRPr sz="2100" b="0">
                <a:solidFill>
                  <a:srgbClr val="173E36"/>
                </a:solidFill>
                <a:latin typeface="Arial"/>
                <a:ea typeface="Arial"/>
                <a:cs typeface="Arial"/>
              </a:defRPr>
            </a:lvl6pPr>
            <a:lvl7pPr algn="l">
              <a:defRPr sz="2100" b="0">
                <a:solidFill>
                  <a:srgbClr val="173E36"/>
                </a:solidFill>
                <a:latin typeface="Arial"/>
                <a:ea typeface="Arial"/>
                <a:cs typeface="Arial"/>
              </a:defRPr>
            </a:lvl7pPr>
            <a:lvl8pPr algn="l">
              <a:defRPr sz="2100" b="0">
                <a:solidFill>
                  <a:srgbClr val="173E36"/>
                </a:solidFill>
                <a:latin typeface="Arial"/>
                <a:ea typeface="Arial"/>
                <a:cs typeface="Arial"/>
              </a:defRPr>
            </a:lvl8pPr>
            <a:lvl9pPr algn="l">
              <a:defRPr sz="2100" b="0">
                <a:solidFill>
                  <a:srgbClr val="173E36"/>
                </a:solidFill>
                <a:latin typeface="Arial"/>
                <a:ea typeface="Arial"/>
                <a:cs typeface="Arial"/>
              </a:defRPr>
            </a:lvl9pPr>
          </a:lstStyle>
          <a:p xmlns:a="http://schemas.openxmlformats.org/drawingml/2006/main">
            <a:pPr algn="l">
              <a:defRPr sz="2100" b="0">
                <a:solidFill>
                  <a:srgbClr val="173E36"/>
                </a:solidFill>
                <a:latin typeface="Arial"/>
                <a:ea typeface="Arial"/>
                <a:cs typeface="Arial"/>
              </a:defRPr>
            </a:pPr>
            <a:r>
              <a:rPr sz="2100" b="0">
                <a:solidFill>
                  <a:srgbClr val="173E36"/>
                </a:solidFill>
                <a:latin typeface="Arial"/>
                <a:ea typeface="Arial"/>
                <a:cs typeface="Arial"/>
              </a:rPr>
              <a:t>Pay for labour and materials.</a:t>
            </a:r>
          </a:p>
          <a:p xmlns:a="http://schemas.openxmlformats.org/drawingml/2006/main">
            <a:pPr algn="l">
              <a:defRPr sz="2100" b="0">
                <a:solidFill>
                  <a:srgbClr val="173E36"/>
                </a:solidFill>
                <a:latin typeface="Arial"/>
                <a:ea typeface="Arial"/>
                <a:cs typeface="Arial"/>
              </a:defRPr>
            </a:pPr>
            <a:r>
              <a:rPr sz="2100" b="0">
                <a:solidFill>
                  <a:srgbClr val="173E36"/>
                </a:solidFill>
                <a:latin typeface="Arial"/>
                <a:ea typeface="Arial"/>
                <a:cs typeface="Arial"/>
              </a:rPr>
              <a:t>Reduce stock loss if an event occurs.</a:t>
            </a:r>
          </a:p>
        </p:txBody>
      </p:sp>
      <p:sp>
        <p:nvSpPr>
          <p:cNvPr id="9" name="Keep cost">
            <a:extLst xmlns:a="http://schemas.openxmlformats.org/drawingml/2006/main">
              <a:ext uri="{FF2B5EF4-FFF2-40B4-BE49-F238E27FC236}">
                <a16:creationId xmlns:a16="http://schemas.microsoft.com/office/drawing/2014/main" id="{3041A006-3997-487A-B91D-EFD38869B818}"/>
              </a:ext>
            </a:extLst>
          </p:cNvPr>
          <p:cNvSpPr>
            <a:spLocks xmlns:a="http://schemas.openxmlformats.org/drawingml/2006/main" noGrp="1"/>
          </p:cNvSpPr>
          <p:nvPr/>
        </p:nvSpPr>
        <p:spPr>
          <a:xfrm xmlns:a="http://schemas.openxmlformats.org/drawingml/2006/main">
            <a:off x="6953250" y="3848100"/>
            <a:ext cx="4533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E36"/>
                </a:solidFill>
                <a:latin typeface="Arial"/>
                <a:ea typeface="Arial"/>
                <a:cs typeface="Arial"/>
              </a:defRPr>
            </a:defPPr>
            <a:lvl1pPr algn="l">
              <a:defRPr sz="2100" b="0">
                <a:solidFill>
                  <a:srgbClr val="173E36"/>
                </a:solidFill>
                <a:latin typeface="Arial"/>
                <a:ea typeface="Arial"/>
                <a:cs typeface="Arial"/>
              </a:defRPr>
            </a:lvl1pPr>
            <a:lvl2pPr algn="l">
              <a:defRPr sz="2100" b="0">
                <a:solidFill>
                  <a:srgbClr val="173E36"/>
                </a:solidFill>
                <a:latin typeface="Arial"/>
                <a:ea typeface="Arial"/>
                <a:cs typeface="Arial"/>
              </a:defRPr>
            </a:lvl2pPr>
            <a:lvl3pPr algn="l">
              <a:defRPr sz="2100" b="0">
                <a:solidFill>
                  <a:srgbClr val="173E36"/>
                </a:solidFill>
                <a:latin typeface="Arial"/>
                <a:ea typeface="Arial"/>
                <a:cs typeface="Arial"/>
              </a:defRPr>
            </a:lvl3pPr>
            <a:lvl4pPr algn="l">
              <a:defRPr sz="2100" b="0">
                <a:solidFill>
                  <a:srgbClr val="173E36"/>
                </a:solidFill>
                <a:latin typeface="Arial"/>
                <a:ea typeface="Arial"/>
                <a:cs typeface="Arial"/>
              </a:defRPr>
            </a:lvl4pPr>
            <a:lvl5pPr algn="l">
              <a:defRPr sz="2100" b="0">
                <a:solidFill>
                  <a:srgbClr val="173E36"/>
                </a:solidFill>
                <a:latin typeface="Arial"/>
                <a:ea typeface="Arial"/>
                <a:cs typeface="Arial"/>
              </a:defRPr>
            </a:lvl5pPr>
            <a:lvl6pPr algn="l">
              <a:defRPr sz="2100" b="0">
                <a:solidFill>
                  <a:srgbClr val="173E36"/>
                </a:solidFill>
                <a:latin typeface="Arial"/>
                <a:ea typeface="Arial"/>
                <a:cs typeface="Arial"/>
              </a:defRPr>
            </a:lvl6pPr>
            <a:lvl7pPr algn="l">
              <a:defRPr sz="2100" b="0">
                <a:solidFill>
                  <a:srgbClr val="173E36"/>
                </a:solidFill>
                <a:latin typeface="Arial"/>
                <a:ea typeface="Arial"/>
                <a:cs typeface="Arial"/>
              </a:defRPr>
            </a:lvl7pPr>
            <a:lvl8pPr algn="l">
              <a:defRPr sz="2100" b="0">
                <a:solidFill>
                  <a:srgbClr val="173E36"/>
                </a:solidFill>
                <a:latin typeface="Arial"/>
                <a:ea typeface="Arial"/>
                <a:cs typeface="Arial"/>
              </a:defRPr>
            </a:lvl8pPr>
            <a:lvl9pPr algn="l">
              <a:defRPr sz="2100" b="0">
                <a:solidFill>
                  <a:srgbClr val="173E36"/>
                </a:solidFill>
                <a:latin typeface="Arial"/>
                <a:ea typeface="Arial"/>
                <a:cs typeface="Arial"/>
              </a:defRPr>
            </a:lvl9pPr>
          </a:lstStyle>
          <a:p xmlns:a="http://schemas.openxmlformats.org/drawingml/2006/main">
            <a:pPr algn="l">
              <a:defRPr sz="2100" b="0">
                <a:solidFill>
                  <a:srgbClr val="173E36"/>
                </a:solidFill>
                <a:latin typeface="Arial"/>
                <a:ea typeface="Arial"/>
                <a:cs typeface="Arial"/>
              </a:defRPr>
            </a:pPr>
            <a:r>
              <a:rPr sz="2100" b="0">
                <a:solidFill>
                  <a:srgbClr val="173E36"/>
                </a:solidFill>
                <a:latin typeface="Arial"/>
                <a:ea typeface="Arial"/>
                <a:cs typeface="Arial"/>
              </a:rPr>
              <a:t>Avoid the immediate relocation cost.</a:t>
            </a:r>
          </a:p>
          <a:p xmlns:a="http://schemas.openxmlformats.org/drawingml/2006/main">
            <a:pPr algn="l">
              <a:defRPr sz="2100" b="0">
                <a:solidFill>
                  <a:srgbClr val="173E36"/>
                </a:solidFill>
                <a:latin typeface="Arial"/>
                <a:ea typeface="Arial"/>
                <a:cs typeface="Arial"/>
              </a:defRPr>
            </a:pPr>
            <a:r>
              <a:rPr sz="2100" b="0">
                <a:solidFill>
                  <a:srgbClr val="173E36"/>
                </a:solidFill>
                <a:latin typeface="Arial"/>
                <a:ea typeface="Arial"/>
                <a:cs typeface="Arial"/>
              </a:rPr>
              <a:t>Leave the stock exposed.</a:t>
            </a:r>
          </a:p>
        </p:txBody>
      </p:sp>
      <p:sp>
        <p:nvSpPr>
          <p:cNvPr id="10" name="Decision scope">
            <a:extLst xmlns:a="http://schemas.openxmlformats.org/drawingml/2006/main">
              <a:ext uri="{FF2B5EF4-FFF2-40B4-BE49-F238E27FC236}">
                <a16:creationId xmlns:a16="http://schemas.microsoft.com/office/drawing/2014/main" id="{0A4E7EA6-1CCD-4405-AB6A-6CBE28060CE1}"/>
              </a:ext>
            </a:extLst>
          </p:cNvPr>
          <p:cNvSpPr>
            <a:spLocks xmlns:a="http://schemas.openxmlformats.org/drawingml/2006/main" noGrp="1"/>
          </p:cNvSpPr>
          <p:nvPr/>
        </p:nvSpPr>
        <p:spPr>
          <a:xfrm xmlns:a="http://schemas.openxmlformats.org/drawingml/2006/main">
            <a:off x="723900" y="53625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7C6C"/>
                </a:solidFill>
                <a:latin typeface="Arial"/>
                <a:ea typeface="Arial"/>
                <a:cs typeface="Arial"/>
              </a:defRPr>
            </a:defPPr>
            <a:lvl1pPr algn="l">
              <a:defRPr sz="2025" b="0">
                <a:solidFill>
                  <a:srgbClr val="687C6C"/>
                </a:solidFill>
                <a:latin typeface="Arial"/>
                <a:ea typeface="Arial"/>
                <a:cs typeface="Arial"/>
              </a:defRPr>
            </a:lvl1pPr>
            <a:lvl2pPr algn="l">
              <a:defRPr sz="2025" b="0">
                <a:solidFill>
                  <a:srgbClr val="687C6C"/>
                </a:solidFill>
                <a:latin typeface="Arial"/>
                <a:ea typeface="Arial"/>
                <a:cs typeface="Arial"/>
              </a:defRPr>
            </a:lvl2pPr>
            <a:lvl3pPr algn="l">
              <a:defRPr sz="2025" b="0">
                <a:solidFill>
                  <a:srgbClr val="687C6C"/>
                </a:solidFill>
                <a:latin typeface="Arial"/>
                <a:ea typeface="Arial"/>
                <a:cs typeface="Arial"/>
              </a:defRPr>
            </a:lvl3pPr>
            <a:lvl4pPr algn="l">
              <a:defRPr sz="2025" b="0">
                <a:solidFill>
                  <a:srgbClr val="687C6C"/>
                </a:solidFill>
                <a:latin typeface="Arial"/>
                <a:ea typeface="Arial"/>
                <a:cs typeface="Arial"/>
              </a:defRPr>
            </a:lvl4pPr>
            <a:lvl5pPr algn="l">
              <a:defRPr sz="2025" b="0">
                <a:solidFill>
                  <a:srgbClr val="687C6C"/>
                </a:solidFill>
                <a:latin typeface="Arial"/>
                <a:ea typeface="Arial"/>
                <a:cs typeface="Arial"/>
              </a:defRPr>
            </a:lvl5pPr>
            <a:lvl6pPr algn="l">
              <a:defRPr sz="2025" b="0">
                <a:solidFill>
                  <a:srgbClr val="687C6C"/>
                </a:solidFill>
                <a:latin typeface="Arial"/>
                <a:ea typeface="Arial"/>
                <a:cs typeface="Arial"/>
              </a:defRPr>
            </a:lvl6pPr>
            <a:lvl7pPr algn="l">
              <a:defRPr sz="2025" b="0">
                <a:solidFill>
                  <a:srgbClr val="687C6C"/>
                </a:solidFill>
                <a:latin typeface="Arial"/>
                <a:ea typeface="Arial"/>
                <a:cs typeface="Arial"/>
              </a:defRPr>
            </a:lvl7pPr>
            <a:lvl8pPr algn="l">
              <a:defRPr sz="2025" b="0">
                <a:solidFill>
                  <a:srgbClr val="687C6C"/>
                </a:solidFill>
                <a:latin typeface="Arial"/>
                <a:ea typeface="Arial"/>
                <a:cs typeface="Arial"/>
              </a:defRPr>
            </a:lvl8pPr>
            <a:lvl9pPr algn="l">
              <a:defRPr sz="2025" b="0">
                <a:solidFill>
                  <a:srgbClr val="687C6C"/>
                </a:solidFill>
                <a:latin typeface="Arial"/>
                <a:ea typeface="Arial"/>
                <a:cs typeface="Arial"/>
              </a:defRPr>
            </a:lvl9pPr>
          </a:lstStyle>
          <a:p xmlns:a="http://schemas.openxmlformats.org/drawingml/2006/main">
            <a:pPr algn="l">
              <a:defRPr sz="2025" b="0">
                <a:solidFill>
                  <a:srgbClr val="687C6C"/>
                </a:solidFill>
                <a:latin typeface="Arial"/>
                <a:ea typeface="Arial"/>
                <a:cs typeface="Arial"/>
              </a:defRPr>
            </a:pPr>
            <a:r>
              <a:rPr sz="2025" b="0">
                <a:solidFill>
                  <a:srgbClr val="687C6C"/>
                </a:solidFill>
                <a:latin typeface="Arial"/>
                <a:ea typeface="Arial"/>
                <a:cs typeface="Arial"/>
              </a:rPr>
              <a:t>Weather is uncertain. Preparation has a cost.</a:t>
            </a:r>
          </a:p>
          <a:p xmlns:a="http://schemas.openxmlformats.org/drawingml/2006/main">
            <a:pPr algn="l">
              <a:defRPr sz="2025" b="0">
                <a:solidFill>
                  <a:srgbClr val="687C6C"/>
                </a:solidFill>
                <a:latin typeface="Arial"/>
                <a:ea typeface="Arial"/>
                <a:cs typeface="Arial"/>
              </a:defRPr>
            </a:pPr>
            <a:r>
              <a:rPr sz="2025" b="0">
                <a:solidFill>
                  <a:srgbClr val="687C6C"/>
                </a:solidFill>
                <a:latin typeface="Arial"/>
                <a:ea typeface="Arial"/>
                <a:cs typeface="Arial"/>
              </a:rPr>
              <a:t>The prototype makes the assumptions and calculation visible.</a:t>
            </a:r>
          </a:p>
        </p:txBody>
      </p:sp>
    </p:spTree>
    <p:extLst>
      <p:ext uri="{BB962C8B-B14F-4D97-AF65-F5344CB8AC3E}">
        <p14:creationId xmlns:p14="http://schemas.microsoft.com/office/powerpoint/2010/main" val="1919822777"/>
      </p:ext>
    </p:extLst>
  </p:cSld>
</p:sld>
</file>

<file path=ppt/slides/slide3.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19" name="Title 3">
            <a:extLst xmlns:a="http://schemas.openxmlformats.org/drawingml/2006/main">
              <a:ext uri="{FF2B5EF4-FFF2-40B4-BE49-F238E27FC236}">
                <a16:creationId xmlns:a16="http://schemas.microsoft.com/office/drawing/2014/main" id="{4D73D2DD-25AC-410B-96F8-91BE89554682}"/>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A single 24-hour decision</a:t>
            </a:r>
          </a:p>
        </p:txBody>
      </p:sp>
      <p:sp>
        <p:nvSpPr>
          <p:cNvPr id="2" name="Page 3">
            <a:extLst xmlns:a="http://schemas.openxmlformats.org/drawingml/2006/main">
              <a:ext uri="{FF2B5EF4-FFF2-40B4-BE49-F238E27FC236}">
                <a16:creationId xmlns:a16="http://schemas.microsoft.com/office/drawing/2014/main" id="{C2A0B796-7A00-472B-BB80-C4905060A0DD}"/>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03</a:t>
            </a:r>
          </a:p>
        </p:txBody>
      </p:sp>
      <p:sp>
        <p:nvSpPr>
          <p:cNvPr id="3" name="Workflow summary">
            <a:extLst xmlns:a="http://schemas.openxmlformats.org/drawingml/2006/main">
              <a:ext uri="{FF2B5EF4-FFF2-40B4-BE49-F238E27FC236}">
                <a16:creationId xmlns:a16="http://schemas.microsoft.com/office/drawing/2014/main" id="{68BC5166-1ED6-40DA-9A8A-DA61866763A5}"/>
              </a:ext>
            </a:extLst>
          </p:cNvPr>
          <p:cNvSpPr>
            <a:spLocks xmlns:a="http://schemas.openxmlformats.org/drawingml/2006/main" noGrp="1"/>
          </p:cNvSpPr>
          <p:nvPr/>
        </p:nvSpPr>
        <p:spPr>
          <a:xfrm xmlns:a="http://schemas.openxmlformats.org/drawingml/2006/main">
            <a:off x="723900" y="14859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6C60"/>
                </a:solidFill>
                <a:latin typeface="Arial"/>
                <a:ea typeface="Arial"/>
                <a:cs typeface="Arial"/>
              </a:defRPr>
            </a:defPPr>
            <a:lvl1pPr algn="l">
              <a:defRPr sz="2175" b="0">
                <a:solidFill>
                  <a:srgbClr val="286C60"/>
                </a:solidFill>
                <a:latin typeface="Arial"/>
                <a:ea typeface="Arial"/>
                <a:cs typeface="Arial"/>
              </a:defRPr>
            </a:lvl1pPr>
            <a:lvl2pPr algn="l">
              <a:defRPr sz="2175" b="0">
                <a:solidFill>
                  <a:srgbClr val="286C60"/>
                </a:solidFill>
                <a:latin typeface="Arial"/>
                <a:ea typeface="Arial"/>
                <a:cs typeface="Arial"/>
              </a:defRPr>
            </a:lvl2pPr>
            <a:lvl3pPr algn="l">
              <a:defRPr sz="2175" b="0">
                <a:solidFill>
                  <a:srgbClr val="286C60"/>
                </a:solidFill>
                <a:latin typeface="Arial"/>
                <a:ea typeface="Arial"/>
                <a:cs typeface="Arial"/>
              </a:defRPr>
            </a:lvl3pPr>
            <a:lvl4pPr algn="l">
              <a:defRPr sz="2175" b="0">
                <a:solidFill>
                  <a:srgbClr val="286C60"/>
                </a:solidFill>
                <a:latin typeface="Arial"/>
                <a:ea typeface="Arial"/>
                <a:cs typeface="Arial"/>
              </a:defRPr>
            </a:lvl4pPr>
            <a:lvl5pPr algn="l">
              <a:defRPr sz="2175" b="0">
                <a:solidFill>
                  <a:srgbClr val="286C60"/>
                </a:solidFill>
                <a:latin typeface="Arial"/>
                <a:ea typeface="Arial"/>
                <a:cs typeface="Arial"/>
              </a:defRPr>
            </a:lvl5pPr>
            <a:lvl6pPr algn="l">
              <a:defRPr sz="2175" b="0">
                <a:solidFill>
                  <a:srgbClr val="286C60"/>
                </a:solidFill>
                <a:latin typeface="Arial"/>
                <a:ea typeface="Arial"/>
                <a:cs typeface="Arial"/>
              </a:defRPr>
            </a:lvl6pPr>
            <a:lvl7pPr algn="l">
              <a:defRPr sz="2175" b="0">
                <a:solidFill>
                  <a:srgbClr val="286C60"/>
                </a:solidFill>
                <a:latin typeface="Arial"/>
                <a:ea typeface="Arial"/>
                <a:cs typeface="Arial"/>
              </a:defRPr>
            </a:lvl7pPr>
            <a:lvl8pPr algn="l">
              <a:defRPr sz="2175" b="0">
                <a:solidFill>
                  <a:srgbClr val="286C60"/>
                </a:solidFill>
                <a:latin typeface="Arial"/>
                <a:ea typeface="Arial"/>
                <a:cs typeface="Arial"/>
              </a:defRPr>
            </a:lvl8pPr>
            <a:lvl9pPr algn="l">
              <a:defRPr sz="2175" b="0">
                <a:solidFill>
                  <a:srgbClr val="286C60"/>
                </a:solidFill>
                <a:latin typeface="Arial"/>
                <a:ea typeface="Arial"/>
                <a:cs typeface="Arial"/>
              </a:defRPr>
            </a:lvl9pPr>
          </a:lstStyle>
          <a:p xmlns:a="http://schemas.openxmlformats.org/drawingml/2006/main">
            <a:pPr algn="l">
              <a:defRPr sz="2175" b="0">
                <a:solidFill>
                  <a:srgbClr val="286C60"/>
                </a:solidFill>
                <a:latin typeface="Arial"/>
                <a:ea typeface="Arial"/>
                <a:cs typeface="Arial"/>
              </a:defRPr>
            </a:pPr>
            <a:r>
              <a:rPr sz="2175" b="0">
                <a:solidFill>
                  <a:srgbClr val="286C60"/>
                </a:solidFill>
                <a:latin typeface="Arial"/>
                <a:ea typeface="Arial"/>
                <a:cs typeface="Arial"/>
              </a:rPr>
              <a:t>Choose a weather window, then enter your own cost assumptions</a:t>
            </a:r>
          </a:p>
        </p:txBody>
      </p:sp>
      <p:sp>
        <p:nvSpPr>
          <p:cNvPr id="4" name="Step number 1">
            <a:extLst xmlns:a="http://schemas.openxmlformats.org/drawingml/2006/main">
              <a:ext uri="{FF2B5EF4-FFF2-40B4-BE49-F238E27FC236}">
                <a16:creationId xmlns:a16="http://schemas.microsoft.com/office/drawing/2014/main" id="{789BD862-38B1-4A16-BE8D-63E2307DEF3D}"/>
              </a:ext>
            </a:extLst>
          </p:cNvPr>
          <p:cNvSpPr>
            <a:spLocks xmlns:a="http://schemas.openxmlformats.org/drawingml/2006/main" noGrp="1"/>
          </p:cNvSpPr>
          <p:nvPr/>
        </p:nvSpPr>
        <p:spPr>
          <a:xfrm xmlns:a="http://schemas.openxmlformats.org/drawingml/2006/main">
            <a:off x="723900" y="24574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86C60"/>
                </a:solidFill>
                <a:latin typeface="Arial"/>
                <a:ea typeface="Arial"/>
                <a:cs typeface="Arial"/>
              </a:defRPr>
            </a:defPPr>
            <a:lvl1pPr algn="l">
              <a:defRPr sz="3300" b="1">
                <a:solidFill>
                  <a:srgbClr val="286C60"/>
                </a:solidFill>
                <a:latin typeface="Arial"/>
                <a:ea typeface="Arial"/>
                <a:cs typeface="Arial"/>
              </a:defRPr>
            </a:lvl1pPr>
            <a:lvl2pPr algn="l">
              <a:defRPr sz="3300" b="1">
                <a:solidFill>
                  <a:srgbClr val="286C60"/>
                </a:solidFill>
                <a:latin typeface="Arial"/>
                <a:ea typeface="Arial"/>
                <a:cs typeface="Arial"/>
              </a:defRPr>
            </a:lvl2pPr>
            <a:lvl3pPr algn="l">
              <a:defRPr sz="3300" b="1">
                <a:solidFill>
                  <a:srgbClr val="286C60"/>
                </a:solidFill>
                <a:latin typeface="Arial"/>
                <a:ea typeface="Arial"/>
                <a:cs typeface="Arial"/>
              </a:defRPr>
            </a:lvl3pPr>
            <a:lvl4pPr algn="l">
              <a:defRPr sz="3300" b="1">
                <a:solidFill>
                  <a:srgbClr val="286C60"/>
                </a:solidFill>
                <a:latin typeface="Arial"/>
                <a:ea typeface="Arial"/>
                <a:cs typeface="Arial"/>
              </a:defRPr>
            </a:lvl4pPr>
            <a:lvl5pPr algn="l">
              <a:defRPr sz="3300" b="1">
                <a:solidFill>
                  <a:srgbClr val="286C60"/>
                </a:solidFill>
                <a:latin typeface="Arial"/>
                <a:ea typeface="Arial"/>
                <a:cs typeface="Arial"/>
              </a:defRPr>
            </a:lvl5pPr>
            <a:lvl6pPr algn="l">
              <a:defRPr sz="3300" b="1">
                <a:solidFill>
                  <a:srgbClr val="286C60"/>
                </a:solidFill>
                <a:latin typeface="Arial"/>
                <a:ea typeface="Arial"/>
                <a:cs typeface="Arial"/>
              </a:defRPr>
            </a:lvl6pPr>
            <a:lvl7pPr algn="l">
              <a:defRPr sz="3300" b="1">
                <a:solidFill>
                  <a:srgbClr val="286C60"/>
                </a:solidFill>
                <a:latin typeface="Arial"/>
                <a:ea typeface="Arial"/>
                <a:cs typeface="Arial"/>
              </a:defRPr>
            </a:lvl7pPr>
            <a:lvl8pPr algn="l">
              <a:defRPr sz="3300" b="1">
                <a:solidFill>
                  <a:srgbClr val="286C60"/>
                </a:solidFill>
                <a:latin typeface="Arial"/>
                <a:ea typeface="Arial"/>
                <a:cs typeface="Arial"/>
              </a:defRPr>
            </a:lvl8pPr>
            <a:lvl9pPr algn="l">
              <a:defRPr sz="3300" b="1">
                <a:solidFill>
                  <a:srgbClr val="286C60"/>
                </a:solidFill>
                <a:latin typeface="Arial"/>
                <a:ea typeface="Arial"/>
                <a:cs typeface="Arial"/>
              </a:defRPr>
            </a:lvl9pPr>
          </a:lstStyle>
          <a:p xmlns:a="http://schemas.openxmlformats.org/drawingml/2006/main">
            <a:pPr algn="l">
              <a:defRPr sz="3300" b="1">
                <a:solidFill>
                  <a:srgbClr val="286C60"/>
                </a:solidFill>
                <a:latin typeface="Arial"/>
                <a:ea typeface="Arial"/>
                <a:cs typeface="Arial"/>
              </a:defRPr>
            </a:pPr>
            <a:r>
              <a:rPr sz="3300" b="1">
                <a:solidFill>
                  <a:srgbClr val="286C60"/>
                </a:solidFill>
                <a:latin typeface="Arial"/>
                <a:ea typeface="Arial"/>
                <a:cs typeface="Arial"/>
              </a:rPr>
              <a:t>01</a:t>
            </a:r>
          </a:p>
        </p:txBody>
      </p:sp>
      <p:sp>
        <p:nvSpPr>
          <p:cNvPr id="5" name="Step heading 1">
            <a:extLst xmlns:a="http://schemas.openxmlformats.org/drawingml/2006/main">
              <a:ext uri="{FF2B5EF4-FFF2-40B4-BE49-F238E27FC236}">
                <a16:creationId xmlns:a16="http://schemas.microsoft.com/office/drawing/2014/main" id="{32ED53A0-5604-4F2B-B9A7-339E64EA4F33}"/>
              </a:ext>
            </a:extLst>
          </p:cNvPr>
          <p:cNvSpPr>
            <a:spLocks xmlns:a="http://schemas.openxmlformats.org/drawingml/2006/main" noGrp="1"/>
          </p:cNvSpPr>
          <p:nvPr/>
        </p:nvSpPr>
        <p:spPr>
          <a:xfrm xmlns:a="http://schemas.openxmlformats.org/drawingml/2006/main">
            <a:off x="723900" y="32004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E36"/>
                </a:solidFill>
                <a:latin typeface="Arial"/>
                <a:ea typeface="Arial"/>
                <a:cs typeface="Arial"/>
              </a:defRPr>
            </a:defPPr>
            <a:lvl1pPr algn="l">
              <a:defRPr sz="2400" b="1">
                <a:solidFill>
                  <a:srgbClr val="173E36"/>
                </a:solidFill>
                <a:latin typeface="Arial"/>
                <a:ea typeface="Arial"/>
                <a:cs typeface="Arial"/>
              </a:defRPr>
            </a:lvl1pPr>
            <a:lvl2pPr algn="l">
              <a:defRPr sz="2400" b="1">
                <a:solidFill>
                  <a:srgbClr val="173E36"/>
                </a:solidFill>
                <a:latin typeface="Arial"/>
                <a:ea typeface="Arial"/>
                <a:cs typeface="Arial"/>
              </a:defRPr>
            </a:lvl2pPr>
            <a:lvl3pPr algn="l">
              <a:defRPr sz="2400" b="1">
                <a:solidFill>
                  <a:srgbClr val="173E36"/>
                </a:solidFill>
                <a:latin typeface="Arial"/>
                <a:ea typeface="Arial"/>
                <a:cs typeface="Arial"/>
              </a:defRPr>
            </a:lvl3pPr>
            <a:lvl4pPr algn="l">
              <a:defRPr sz="2400" b="1">
                <a:solidFill>
                  <a:srgbClr val="173E36"/>
                </a:solidFill>
                <a:latin typeface="Arial"/>
                <a:ea typeface="Arial"/>
                <a:cs typeface="Arial"/>
              </a:defRPr>
            </a:lvl4pPr>
            <a:lvl5pPr algn="l">
              <a:defRPr sz="2400" b="1">
                <a:solidFill>
                  <a:srgbClr val="173E36"/>
                </a:solidFill>
                <a:latin typeface="Arial"/>
                <a:ea typeface="Arial"/>
                <a:cs typeface="Arial"/>
              </a:defRPr>
            </a:lvl5pPr>
            <a:lvl6pPr algn="l">
              <a:defRPr sz="2400" b="1">
                <a:solidFill>
                  <a:srgbClr val="173E36"/>
                </a:solidFill>
                <a:latin typeface="Arial"/>
                <a:ea typeface="Arial"/>
                <a:cs typeface="Arial"/>
              </a:defRPr>
            </a:lvl6pPr>
            <a:lvl7pPr algn="l">
              <a:defRPr sz="2400" b="1">
                <a:solidFill>
                  <a:srgbClr val="173E36"/>
                </a:solidFill>
                <a:latin typeface="Arial"/>
                <a:ea typeface="Arial"/>
                <a:cs typeface="Arial"/>
              </a:defRPr>
            </a:lvl7pPr>
            <a:lvl8pPr algn="l">
              <a:defRPr sz="2400" b="1">
                <a:solidFill>
                  <a:srgbClr val="173E36"/>
                </a:solidFill>
                <a:latin typeface="Arial"/>
                <a:ea typeface="Arial"/>
                <a:cs typeface="Arial"/>
              </a:defRPr>
            </a:lvl8pPr>
            <a:lvl9pPr algn="l">
              <a:defRPr sz="2400" b="1">
                <a:solidFill>
                  <a:srgbClr val="173E36"/>
                </a:solidFill>
                <a:latin typeface="Arial"/>
                <a:ea typeface="Arial"/>
                <a:cs typeface="Arial"/>
              </a:defRPr>
            </a:lvl9pPr>
          </a:lstStyle>
          <a:p xmlns:a="http://schemas.openxmlformats.org/drawingml/2006/main">
            <a:pPr algn="l">
              <a:defRPr sz="2400" b="1">
                <a:solidFill>
                  <a:srgbClr val="173E36"/>
                </a:solidFill>
                <a:latin typeface="Arial"/>
                <a:ea typeface="Arial"/>
                <a:cs typeface="Arial"/>
              </a:defRPr>
            </a:pPr>
            <a:r>
              <a:rPr sz="2400" b="1">
                <a:solidFill>
                  <a:srgbClr val="173E36"/>
                </a:solidFill>
                <a:latin typeface="Arial"/>
                <a:ea typeface="Arial"/>
                <a:cs typeface="Arial"/>
              </a:rPr>
              <a:t>Weather window</a:t>
            </a:r>
          </a:p>
        </p:txBody>
      </p:sp>
      <p:sp>
        <p:nvSpPr>
          <p:cNvPr id="6" name="Step rule 1">
            <a:extLst xmlns:a="http://schemas.openxmlformats.org/drawingml/2006/main">
              <a:ext uri="{FF2B5EF4-FFF2-40B4-BE49-F238E27FC236}">
                <a16:creationId xmlns:a16="http://schemas.microsoft.com/office/drawing/2014/main" id="{016C380B-FF09-496F-8517-A9E32F9D543D}"/>
              </a:ext>
            </a:extLst>
          </p:cNvPr>
          <p:cNvSpPr>
            <a:spLocks xmlns:a="http://schemas.openxmlformats.org/drawingml/2006/main" noGrp="1"/>
          </p:cNvSpPr>
          <p:nvPr/>
        </p:nvSpPr>
        <p:spPr>
          <a:xfrm xmlns:a="http://schemas.openxmlformats.org/drawingml/2006/main">
            <a:off x="723900" y="3886200"/>
            <a:ext cx="2895600"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7" name="Step detail 1">
            <a:extLst xmlns:a="http://schemas.openxmlformats.org/drawingml/2006/main">
              <a:ext uri="{FF2B5EF4-FFF2-40B4-BE49-F238E27FC236}">
                <a16:creationId xmlns:a16="http://schemas.microsoft.com/office/drawing/2014/main" id="{4BC43ADC-5F11-4165-B9C5-509B93E48E6C}"/>
              </a:ext>
            </a:extLst>
          </p:cNvPr>
          <p:cNvSpPr>
            <a:spLocks xmlns:a="http://schemas.openxmlformats.org/drawingml/2006/main" noGrp="1"/>
          </p:cNvSpPr>
          <p:nvPr/>
        </p:nvSpPr>
        <p:spPr>
          <a:xfrm xmlns:a="http://schemas.openxmlformats.org/drawingml/2006/main">
            <a:off x="723900" y="4171950"/>
            <a:ext cx="2905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3" b="0">
                <a:solidFill>
                  <a:srgbClr val="173E36"/>
                </a:solidFill>
                <a:latin typeface="Arial"/>
                <a:ea typeface="Arial"/>
                <a:cs typeface="Arial"/>
              </a:defRPr>
            </a:defPPr>
            <a:lvl1pPr algn="l">
              <a:defRPr sz="1763" b="0">
                <a:solidFill>
                  <a:srgbClr val="173E36"/>
                </a:solidFill>
                <a:latin typeface="Arial"/>
                <a:ea typeface="Arial"/>
                <a:cs typeface="Arial"/>
              </a:defRPr>
            </a:lvl1pPr>
            <a:lvl2pPr algn="l">
              <a:defRPr sz="1763" b="0">
                <a:solidFill>
                  <a:srgbClr val="173E36"/>
                </a:solidFill>
                <a:latin typeface="Arial"/>
                <a:ea typeface="Arial"/>
                <a:cs typeface="Arial"/>
              </a:defRPr>
            </a:lvl2pPr>
            <a:lvl3pPr algn="l">
              <a:defRPr sz="1763" b="0">
                <a:solidFill>
                  <a:srgbClr val="173E36"/>
                </a:solidFill>
                <a:latin typeface="Arial"/>
                <a:ea typeface="Arial"/>
                <a:cs typeface="Arial"/>
              </a:defRPr>
            </a:lvl3pPr>
            <a:lvl4pPr algn="l">
              <a:defRPr sz="1763" b="0">
                <a:solidFill>
                  <a:srgbClr val="173E36"/>
                </a:solidFill>
                <a:latin typeface="Arial"/>
                <a:ea typeface="Arial"/>
                <a:cs typeface="Arial"/>
              </a:defRPr>
            </a:lvl4pPr>
            <a:lvl5pPr algn="l">
              <a:defRPr sz="1763" b="0">
                <a:solidFill>
                  <a:srgbClr val="173E36"/>
                </a:solidFill>
                <a:latin typeface="Arial"/>
                <a:ea typeface="Arial"/>
                <a:cs typeface="Arial"/>
              </a:defRPr>
            </a:lvl5pPr>
            <a:lvl6pPr algn="l">
              <a:defRPr sz="1763" b="0">
                <a:solidFill>
                  <a:srgbClr val="173E36"/>
                </a:solidFill>
                <a:latin typeface="Arial"/>
                <a:ea typeface="Arial"/>
                <a:cs typeface="Arial"/>
              </a:defRPr>
            </a:lvl6pPr>
            <a:lvl7pPr algn="l">
              <a:defRPr sz="1763" b="0">
                <a:solidFill>
                  <a:srgbClr val="173E36"/>
                </a:solidFill>
                <a:latin typeface="Arial"/>
                <a:ea typeface="Arial"/>
                <a:cs typeface="Arial"/>
              </a:defRPr>
            </a:lvl7pPr>
            <a:lvl8pPr algn="l">
              <a:defRPr sz="1763" b="0">
                <a:solidFill>
                  <a:srgbClr val="173E36"/>
                </a:solidFill>
                <a:latin typeface="Arial"/>
                <a:ea typeface="Arial"/>
                <a:cs typeface="Arial"/>
              </a:defRPr>
            </a:lvl8pPr>
            <a:lvl9pPr algn="l">
              <a:defRPr sz="1763" b="0">
                <a:solidFill>
                  <a:srgbClr val="173E36"/>
                </a:solidFill>
                <a:latin typeface="Arial"/>
                <a:ea typeface="Arial"/>
                <a:cs typeface="Arial"/>
              </a:defRPr>
            </a:lvl9pPr>
          </a:lstStyle>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Location and 24-hour window</a:t>
            </a:r>
          </a:p>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Capture time</a:t>
            </a:r>
          </a:p>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Data completeness</a:t>
            </a:r>
          </a:p>
        </p:txBody>
      </p:sp>
      <p:sp>
        <p:nvSpPr>
          <p:cNvPr id="8" name="Step number 2">
            <a:extLst xmlns:a="http://schemas.openxmlformats.org/drawingml/2006/main">
              <a:ext uri="{FF2B5EF4-FFF2-40B4-BE49-F238E27FC236}">
                <a16:creationId xmlns:a16="http://schemas.microsoft.com/office/drawing/2014/main" id="{66D323F4-7A8D-4B80-89C1-FA86BD654F8F}"/>
              </a:ext>
            </a:extLst>
          </p:cNvPr>
          <p:cNvSpPr>
            <a:spLocks xmlns:a="http://schemas.openxmlformats.org/drawingml/2006/main" noGrp="1"/>
          </p:cNvSpPr>
          <p:nvPr/>
        </p:nvSpPr>
        <p:spPr>
          <a:xfrm xmlns:a="http://schemas.openxmlformats.org/drawingml/2006/main">
            <a:off x="4600575" y="24574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86C60"/>
                </a:solidFill>
                <a:latin typeface="Arial"/>
                <a:ea typeface="Arial"/>
                <a:cs typeface="Arial"/>
              </a:defRPr>
            </a:defPPr>
            <a:lvl1pPr algn="l">
              <a:defRPr sz="3300" b="1">
                <a:solidFill>
                  <a:srgbClr val="286C60"/>
                </a:solidFill>
                <a:latin typeface="Arial"/>
                <a:ea typeface="Arial"/>
                <a:cs typeface="Arial"/>
              </a:defRPr>
            </a:lvl1pPr>
            <a:lvl2pPr algn="l">
              <a:defRPr sz="3300" b="1">
                <a:solidFill>
                  <a:srgbClr val="286C60"/>
                </a:solidFill>
                <a:latin typeface="Arial"/>
                <a:ea typeface="Arial"/>
                <a:cs typeface="Arial"/>
              </a:defRPr>
            </a:lvl2pPr>
            <a:lvl3pPr algn="l">
              <a:defRPr sz="3300" b="1">
                <a:solidFill>
                  <a:srgbClr val="286C60"/>
                </a:solidFill>
                <a:latin typeface="Arial"/>
                <a:ea typeface="Arial"/>
                <a:cs typeface="Arial"/>
              </a:defRPr>
            </a:lvl3pPr>
            <a:lvl4pPr algn="l">
              <a:defRPr sz="3300" b="1">
                <a:solidFill>
                  <a:srgbClr val="286C60"/>
                </a:solidFill>
                <a:latin typeface="Arial"/>
                <a:ea typeface="Arial"/>
                <a:cs typeface="Arial"/>
              </a:defRPr>
            </a:lvl4pPr>
            <a:lvl5pPr algn="l">
              <a:defRPr sz="3300" b="1">
                <a:solidFill>
                  <a:srgbClr val="286C60"/>
                </a:solidFill>
                <a:latin typeface="Arial"/>
                <a:ea typeface="Arial"/>
                <a:cs typeface="Arial"/>
              </a:defRPr>
            </a:lvl5pPr>
            <a:lvl6pPr algn="l">
              <a:defRPr sz="3300" b="1">
                <a:solidFill>
                  <a:srgbClr val="286C60"/>
                </a:solidFill>
                <a:latin typeface="Arial"/>
                <a:ea typeface="Arial"/>
                <a:cs typeface="Arial"/>
              </a:defRPr>
            </a:lvl6pPr>
            <a:lvl7pPr algn="l">
              <a:defRPr sz="3300" b="1">
                <a:solidFill>
                  <a:srgbClr val="286C60"/>
                </a:solidFill>
                <a:latin typeface="Arial"/>
                <a:ea typeface="Arial"/>
                <a:cs typeface="Arial"/>
              </a:defRPr>
            </a:lvl7pPr>
            <a:lvl8pPr algn="l">
              <a:defRPr sz="3300" b="1">
                <a:solidFill>
                  <a:srgbClr val="286C60"/>
                </a:solidFill>
                <a:latin typeface="Arial"/>
                <a:ea typeface="Arial"/>
                <a:cs typeface="Arial"/>
              </a:defRPr>
            </a:lvl8pPr>
            <a:lvl9pPr algn="l">
              <a:defRPr sz="3300" b="1">
                <a:solidFill>
                  <a:srgbClr val="286C60"/>
                </a:solidFill>
                <a:latin typeface="Arial"/>
                <a:ea typeface="Arial"/>
                <a:cs typeface="Arial"/>
              </a:defRPr>
            </a:lvl9pPr>
          </a:lstStyle>
          <a:p xmlns:a="http://schemas.openxmlformats.org/drawingml/2006/main">
            <a:pPr algn="l">
              <a:defRPr sz="3300" b="1">
                <a:solidFill>
                  <a:srgbClr val="286C60"/>
                </a:solidFill>
                <a:latin typeface="Arial"/>
                <a:ea typeface="Arial"/>
                <a:cs typeface="Arial"/>
              </a:defRPr>
            </a:pPr>
            <a:r>
              <a:rPr sz="3300" b="1">
                <a:solidFill>
                  <a:srgbClr val="286C60"/>
                </a:solidFill>
                <a:latin typeface="Arial"/>
                <a:ea typeface="Arial"/>
                <a:cs typeface="Arial"/>
              </a:rPr>
              <a:t>02</a:t>
            </a:r>
          </a:p>
        </p:txBody>
      </p:sp>
      <p:sp>
        <p:nvSpPr>
          <p:cNvPr id="9" name="Step heading 2">
            <a:extLst xmlns:a="http://schemas.openxmlformats.org/drawingml/2006/main">
              <a:ext uri="{FF2B5EF4-FFF2-40B4-BE49-F238E27FC236}">
                <a16:creationId xmlns:a16="http://schemas.microsoft.com/office/drawing/2014/main" id="{B69850F8-D22E-430E-8988-3842A37E8B2B}"/>
              </a:ext>
            </a:extLst>
          </p:cNvPr>
          <p:cNvSpPr>
            <a:spLocks xmlns:a="http://schemas.openxmlformats.org/drawingml/2006/main" noGrp="1"/>
          </p:cNvSpPr>
          <p:nvPr/>
        </p:nvSpPr>
        <p:spPr>
          <a:xfrm xmlns:a="http://schemas.openxmlformats.org/drawingml/2006/main">
            <a:off x="4600575" y="32004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E36"/>
                </a:solidFill>
                <a:latin typeface="Arial"/>
                <a:ea typeface="Arial"/>
                <a:cs typeface="Arial"/>
              </a:defRPr>
            </a:defPPr>
            <a:lvl1pPr algn="l">
              <a:defRPr sz="2400" b="1">
                <a:solidFill>
                  <a:srgbClr val="173E36"/>
                </a:solidFill>
                <a:latin typeface="Arial"/>
                <a:ea typeface="Arial"/>
                <a:cs typeface="Arial"/>
              </a:defRPr>
            </a:lvl1pPr>
            <a:lvl2pPr algn="l">
              <a:defRPr sz="2400" b="1">
                <a:solidFill>
                  <a:srgbClr val="173E36"/>
                </a:solidFill>
                <a:latin typeface="Arial"/>
                <a:ea typeface="Arial"/>
                <a:cs typeface="Arial"/>
              </a:defRPr>
            </a:lvl2pPr>
            <a:lvl3pPr algn="l">
              <a:defRPr sz="2400" b="1">
                <a:solidFill>
                  <a:srgbClr val="173E36"/>
                </a:solidFill>
                <a:latin typeface="Arial"/>
                <a:ea typeface="Arial"/>
                <a:cs typeface="Arial"/>
              </a:defRPr>
            </a:lvl3pPr>
            <a:lvl4pPr algn="l">
              <a:defRPr sz="2400" b="1">
                <a:solidFill>
                  <a:srgbClr val="173E36"/>
                </a:solidFill>
                <a:latin typeface="Arial"/>
                <a:ea typeface="Arial"/>
                <a:cs typeface="Arial"/>
              </a:defRPr>
            </a:lvl4pPr>
            <a:lvl5pPr algn="l">
              <a:defRPr sz="2400" b="1">
                <a:solidFill>
                  <a:srgbClr val="173E36"/>
                </a:solidFill>
                <a:latin typeface="Arial"/>
                <a:ea typeface="Arial"/>
                <a:cs typeface="Arial"/>
              </a:defRPr>
            </a:lvl5pPr>
            <a:lvl6pPr algn="l">
              <a:defRPr sz="2400" b="1">
                <a:solidFill>
                  <a:srgbClr val="173E36"/>
                </a:solidFill>
                <a:latin typeface="Arial"/>
                <a:ea typeface="Arial"/>
                <a:cs typeface="Arial"/>
              </a:defRPr>
            </a:lvl6pPr>
            <a:lvl7pPr algn="l">
              <a:defRPr sz="2400" b="1">
                <a:solidFill>
                  <a:srgbClr val="173E36"/>
                </a:solidFill>
                <a:latin typeface="Arial"/>
                <a:ea typeface="Arial"/>
                <a:cs typeface="Arial"/>
              </a:defRPr>
            </a:lvl7pPr>
            <a:lvl8pPr algn="l">
              <a:defRPr sz="2400" b="1">
                <a:solidFill>
                  <a:srgbClr val="173E36"/>
                </a:solidFill>
                <a:latin typeface="Arial"/>
                <a:ea typeface="Arial"/>
                <a:cs typeface="Arial"/>
              </a:defRPr>
            </a:lvl8pPr>
            <a:lvl9pPr algn="l">
              <a:defRPr sz="2400" b="1">
                <a:solidFill>
                  <a:srgbClr val="173E36"/>
                </a:solidFill>
                <a:latin typeface="Arial"/>
                <a:ea typeface="Arial"/>
                <a:cs typeface="Arial"/>
              </a:defRPr>
            </a:lvl9pPr>
          </a:lstStyle>
          <a:p xmlns:a="http://schemas.openxmlformats.org/drawingml/2006/main">
            <a:pPr algn="l">
              <a:defRPr sz="2400" b="1">
                <a:solidFill>
                  <a:srgbClr val="173E36"/>
                </a:solidFill>
                <a:latin typeface="Arial"/>
                <a:ea typeface="Arial"/>
                <a:cs typeface="Arial"/>
              </a:defRPr>
            </a:pPr>
            <a:r>
              <a:rPr sz="2400" b="1">
                <a:solidFill>
                  <a:srgbClr val="173E36"/>
                </a:solidFill>
                <a:latin typeface="Arial"/>
                <a:ea typeface="Arial"/>
                <a:cs typeface="Arial"/>
              </a:rPr>
              <a:t>Cost assumptions</a:t>
            </a:r>
          </a:p>
        </p:txBody>
      </p:sp>
      <p:sp>
        <p:nvSpPr>
          <p:cNvPr id="10" name="Step rule 2">
            <a:extLst xmlns:a="http://schemas.openxmlformats.org/drawingml/2006/main">
              <a:ext uri="{FF2B5EF4-FFF2-40B4-BE49-F238E27FC236}">
                <a16:creationId xmlns:a16="http://schemas.microsoft.com/office/drawing/2014/main" id="{D86772A7-29E5-4FAD-B4F7-8369A8B63108}"/>
              </a:ext>
            </a:extLst>
          </p:cNvPr>
          <p:cNvSpPr>
            <a:spLocks xmlns:a="http://schemas.openxmlformats.org/drawingml/2006/main" noGrp="1"/>
          </p:cNvSpPr>
          <p:nvPr/>
        </p:nvSpPr>
        <p:spPr>
          <a:xfrm xmlns:a="http://schemas.openxmlformats.org/drawingml/2006/main">
            <a:off x="4600575" y="3886200"/>
            <a:ext cx="2895600"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11" name="Step detail 2">
            <a:extLst xmlns:a="http://schemas.openxmlformats.org/drawingml/2006/main">
              <a:ext uri="{FF2B5EF4-FFF2-40B4-BE49-F238E27FC236}">
                <a16:creationId xmlns:a16="http://schemas.microsoft.com/office/drawing/2014/main" id="{D3FB401C-BED4-4AB9-B808-2F8403A860F9}"/>
              </a:ext>
            </a:extLst>
          </p:cNvPr>
          <p:cNvSpPr>
            <a:spLocks xmlns:a="http://schemas.openxmlformats.org/drawingml/2006/main" noGrp="1"/>
          </p:cNvSpPr>
          <p:nvPr/>
        </p:nvSpPr>
        <p:spPr>
          <a:xfrm xmlns:a="http://schemas.openxmlformats.org/drawingml/2006/main">
            <a:off x="4600575" y="4171950"/>
            <a:ext cx="2905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3" b="0">
                <a:solidFill>
                  <a:srgbClr val="173E36"/>
                </a:solidFill>
                <a:latin typeface="Arial"/>
                <a:ea typeface="Arial"/>
                <a:cs typeface="Arial"/>
              </a:defRPr>
            </a:defPPr>
            <a:lvl1pPr algn="l">
              <a:defRPr sz="1763" b="0">
                <a:solidFill>
                  <a:srgbClr val="173E36"/>
                </a:solidFill>
                <a:latin typeface="Arial"/>
                <a:ea typeface="Arial"/>
                <a:cs typeface="Arial"/>
              </a:defRPr>
            </a:lvl1pPr>
            <a:lvl2pPr algn="l">
              <a:defRPr sz="1763" b="0">
                <a:solidFill>
                  <a:srgbClr val="173E36"/>
                </a:solidFill>
                <a:latin typeface="Arial"/>
                <a:ea typeface="Arial"/>
                <a:cs typeface="Arial"/>
              </a:defRPr>
            </a:lvl2pPr>
            <a:lvl3pPr algn="l">
              <a:defRPr sz="1763" b="0">
                <a:solidFill>
                  <a:srgbClr val="173E36"/>
                </a:solidFill>
                <a:latin typeface="Arial"/>
                <a:ea typeface="Arial"/>
                <a:cs typeface="Arial"/>
              </a:defRPr>
            </a:lvl3pPr>
            <a:lvl4pPr algn="l">
              <a:defRPr sz="1763" b="0">
                <a:solidFill>
                  <a:srgbClr val="173E36"/>
                </a:solidFill>
                <a:latin typeface="Arial"/>
                <a:ea typeface="Arial"/>
                <a:cs typeface="Arial"/>
              </a:defRPr>
            </a:lvl4pPr>
            <a:lvl5pPr algn="l">
              <a:defRPr sz="1763" b="0">
                <a:solidFill>
                  <a:srgbClr val="173E36"/>
                </a:solidFill>
                <a:latin typeface="Arial"/>
                <a:ea typeface="Arial"/>
                <a:cs typeface="Arial"/>
              </a:defRPr>
            </a:lvl5pPr>
            <a:lvl6pPr algn="l">
              <a:defRPr sz="1763" b="0">
                <a:solidFill>
                  <a:srgbClr val="173E36"/>
                </a:solidFill>
                <a:latin typeface="Arial"/>
                <a:ea typeface="Arial"/>
                <a:cs typeface="Arial"/>
              </a:defRPr>
            </a:lvl6pPr>
            <a:lvl7pPr algn="l">
              <a:defRPr sz="1763" b="0">
                <a:solidFill>
                  <a:srgbClr val="173E36"/>
                </a:solidFill>
                <a:latin typeface="Arial"/>
                <a:ea typeface="Arial"/>
                <a:cs typeface="Arial"/>
              </a:defRPr>
            </a:lvl7pPr>
            <a:lvl8pPr algn="l">
              <a:defRPr sz="1763" b="0">
                <a:solidFill>
                  <a:srgbClr val="173E36"/>
                </a:solidFill>
                <a:latin typeface="Arial"/>
                <a:ea typeface="Arial"/>
                <a:cs typeface="Arial"/>
              </a:defRPr>
            </a:lvl8pPr>
            <a:lvl9pPr algn="l">
              <a:defRPr sz="1763" b="0">
                <a:solidFill>
                  <a:srgbClr val="173E36"/>
                </a:solidFill>
                <a:latin typeface="Arial"/>
                <a:ea typeface="Arial"/>
                <a:cs typeface="Arial"/>
              </a:defRPr>
            </a:lvl9pPr>
          </a:lstStyle>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Relocation cost C</a:t>
            </a:r>
          </a:p>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Event loss if kept L₀</a:t>
            </a:r>
          </a:p>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Event loss after relocation L₁</a:t>
            </a:r>
          </a:p>
        </p:txBody>
      </p:sp>
      <p:sp>
        <p:nvSpPr>
          <p:cNvPr id="12" name="Step number 3">
            <a:extLst xmlns:a="http://schemas.openxmlformats.org/drawingml/2006/main">
              <a:ext uri="{FF2B5EF4-FFF2-40B4-BE49-F238E27FC236}">
                <a16:creationId xmlns:a16="http://schemas.microsoft.com/office/drawing/2014/main" id="{46B0488F-6801-49B5-B28D-A0E7A159FACA}"/>
              </a:ext>
            </a:extLst>
          </p:cNvPr>
          <p:cNvSpPr>
            <a:spLocks xmlns:a="http://schemas.openxmlformats.org/drawingml/2006/main" noGrp="1"/>
          </p:cNvSpPr>
          <p:nvPr/>
        </p:nvSpPr>
        <p:spPr>
          <a:xfrm xmlns:a="http://schemas.openxmlformats.org/drawingml/2006/main">
            <a:off x="8486775" y="24574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86C60"/>
                </a:solidFill>
                <a:latin typeface="Arial"/>
                <a:ea typeface="Arial"/>
                <a:cs typeface="Arial"/>
              </a:defRPr>
            </a:defPPr>
            <a:lvl1pPr algn="l">
              <a:defRPr sz="3300" b="1">
                <a:solidFill>
                  <a:srgbClr val="286C60"/>
                </a:solidFill>
                <a:latin typeface="Arial"/>
                <a:ea typeface="Arial"/>
                <a:cs typeface="Arial"/>
              </a:defRPr>
            </a:lvl1pPr>
            <a:lvl2pPr algn="l">
              <a:defRPr sz="3300" b="1">
                <a:solidFill>
                  <a:srgbClr val="286C60"/>
                </a:solidFill>
                <a:latin typeface="Arial"/>
                <a:ea typeface="Arial"/>
                <a:cs typeface="Arial"/>
              </a:defRPr>
            </a:lvl2pPr>
            <a:lvl3pPr algn="l">
              <a:defRPr sz="3300" b="1">
                <a:solidFill>
                  <a:srgbClr val="286C60"/>
                </a:solidFill>
                <a:latin typeface="Arial"/>
                <a:ea typeface="Arial"/>
                <a:cs typeface="Arial"/>
              </a:defRPr>
            </a:lvl3pPr>
            <a:lvl4pPr algn="l">
              <a:defRPr sz="3300" b="1">
                <a:solidFill>
                  <a:srgbClr val="286C60"/>
                </a:solidFill>
                <a:latin typeface="Arial"/>
                <a:ea typeface="Arial"/>
                <a:cs typeface="Arial"/>
              </a:defRPr>
            </a:lvl4pPr>
            <a:lvl5pPr algn="l">
              <a:defRPr sz="3300" b="1">
                <a:solidFill>
                  <a:srgbClr val="286C60"/>
                </a:solidFill>
                <a:latin typeface="Arial"/>
                <a:ea typeface="Arial"/>
                <a:cs typeface="Arial"/>
              </a:defRPr>
            </a:lvl5pPr>
            <a:lvl6pPr algn="l">
              <a:defRPr sz="3300" b="1">
                <a:solidFill>
                  <a:srgbClr val="286C60"/>
                </a:solidFill>
                <a:latin typeface="Arial"/>
                <a:ea typeface="Arial"/>
                <a:cs typeface="Arial"/>
              </a:defRPr>
            </a:lvl6pPr>
            <a:lvl7pPr algn="l">
              <a:defRPr sz="3300" b="1">
                <a:solidFill>
                  <a:srgbClr val="286C60"/>
                </a:solidFill>
                <a:latin typeface="Arial"/>
                <a:ea typeface="Arial"/>
                <a:cs typeface="Arial"/>
              </a:defRPr>
            </a:lvl7pPr>
            <a:lvl8pPr algn="l">
              <a:defRPr sz="3300" b="1">
                <a:solidFill>
                  <a:srgbClr val="286C60"/>
                </a:solidFill>
                <a:latin typeface="Arial"/>
                <a:ea typeface="Arial"/>
                <a:cs typeface="Arial"/>
              </a:defRPr>
            </a:lvl8pPr>
            <a:lvl9pPr algn="l">
              <a:defRPr sz="3300" b="1">
                <a:solidFill>
                  <a:srgbClr val="286C60"/>
                </a:solidFill>
                <a:latin typeface="Arial"/>
                <a:ea typeface="Arial"/>
                <a:cs typeface="Arial"/>
              </a:defRPr>
            </a:lvl9pPr>
          </a:lstStyle>
          <a:p xmlns:a="http://schemas.openxmlformats.org/drawingml/2006/main">
            <a:pPr algn="l">
              <a:defRPr sz="3300" b="1">
                <a:solidFill>
                  <a:srgbClr val="286C60"/>
                </a:solidFill>
                <a:latin typeface="Arial"/>
                <a:ea typeface="Arial"/>
                <a:cs typeface="Arial"/>
              </a:defRPr>
            </a:pPr>
            <a:r>
              <a:rPr sz="3300" b="1">
                <a:solidFill>
                  <a:srgbClr val="286C60"/>
                </a:solidFill>
                <a:latin typeface="Arial"/>
                <a:ea typeface="Arial"/>
                <a:cs typeface="Arial"/>
              </a:rPr>
              <a:t>03</a:t>
            </a:r>
          </a:p>
        </p:txBody>
      </p:sp>
      <p:sp>
        <p:nvSpPr>
          <p:cNvPr id="13" name="Step heading 3">
            <a:extLst xmlns:a="http://schemas.openxmlformats.org/drawingml/2006/main">
              <a:ext uri="{FF2B5EF4-FFF2-40B4-BE49-F238E27FC236}">
                <a16:creationId xmlns:a16="http://schemas.microsoft.com/office/drawing/2014/main" id="{3AC52DAA-A9C8-4D18-B11D-AEAF871ED352}"/>
              </a:ext>
            </a:extLst>
          </p:cNvPr>
          <p:cNvSpPr>
            <a:spLocks xmlns:a="http://schemas.openxmlformats.org/drawingml/2006/main" noGrp="1"/>
          </p:cNvSpPr>
          <p:nvPr/>
        </p:nvSpPr>
        <p:spPr>
          <a:xfrm xmlns:a="http://schemas.openxmlformats.org/drawingml/2006/main">
            <a:off x="8486775" y="32004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E36"/>
                </a:solidFill>
                <a:latin typeface="Arial"/>
                <a:ea typeface="Arial"/>
                <a:cs typeface="Arial"/>
              </a:defRPr>
            </a:defPPr>
            <a:lvl1pPr algn="l">
              <a:defRPr sz="2400" b="1">
                <a:solidFill>
                  <a:srgbClr val="173E36"/>
                </a:solidFill>
                <a:latin typeface="Arial"/>
                <a:ea typeface="Arial"/>
                <a:cs typeface="Arial"/>
              </a:defRPr>
            </a:lvl1pPr>
            <a:lvl2pPr algn="l">
              <a:defRPr sz="2400" b="1">
                <a:solidFill>
                  <a:srgbClr val="173E36"/>
                </a:solidFill>
                <a:latin typeface="Arial"/>
                <a:ea typeface="Arial"/>
                <a:cs typeface="Arial"/>
              </a:defRPr>
            </a:lvl2pPr>
            <a:lvl3pPr algn="l">
              <a:defRPr sz="2400" b="1">
                <a:solidFill>
                  <a:srgbClr val="173E36"/>
                </a:solidFill>
                <a:latin typeface="Arial"/>
                <a:ea typeface="Arial"/>
                <a:cs typeface="Arial"/>
              </a:defRPr>
            </a:lvl3pPr>
            <a:lvl4pPr algn="l">
              <a:defRPr sz="2400" b="1">
                <a:solidFill>
                  <a:srgbClr val="173E36"/>
                </a:solidFill>
                <a:latin typeface="Arial"/>
                <a:ea typeface="Arial"/>
                <a:cs typeface="Arial"/>
              </a:defRPr>
            </a:lvl4pPr>
            <a:lvl5pPr algn="l">
              <a:defRPr sz="2400" b="1">
                <a:solidFill>
                  <a:srgbClr val="173E36"/>
                </a:solidFill>
                <a:latin typeface="Arial"/>
                <a:ea typeface="Arial"/>
                <a:cs typeface="Arial"/>
              </a:defRPr>
            </a:lvl5pPr>
            <a:lvl6pPr algn="l">
              <a:defRPr sz="2400" b="1">
                <a:solidFill>
                  <a:srgbClr val="173E36"/>
                </a:solidFill>
                <a:latin typeface="Arial"/>
                <a:ea typeface="Arial"/>
                <a:cs typeface="Arial"/>
              </a:defRPr>
            </a:lvl6pPr>
            <a:lvl7pPr algn="l">
              <a:defRPr sz="2400" b="1">
                <a:solidFill>
                  <a:srgbClr val="173E36"/>
                </a:solidFill>
                <a:latin typeface="Arial"/>
                <a:ea typeface="Arial"/>
                <a:cs typeface="Arial"/>
              </a:defRPr>
            </a:lvl7pPr>
            <a:lvl8pPr algn="l">
              <a:defRPr sz="2400" b="1">
                <a:solidFill>
                  <a:srgbClr val="173E36"/>
                </a:solidFill>
                <a:latin typeface="Arial"/>
                <a:ea typeface="Arial"/>
                <a:cs typeface="Arial"/>
              </a:defRPr>
            </a:lvl8pPr>
            <a:lvl9pPr algn="l">
              <a:defRPr sz="2400" b="1">
                <a:solidFill>
                  <a:srgbClr val="173E36"/>
                </a:solidFill>
                <a:latin typeface="Arial"/>
                <a:ea typeface="Arial"/>
                <a:cs typeface="Arial"/>
              </a:defRPr>
            </a:lvl9pPr>
          </a:lstStyle>
          <a:p xmlns:a="http://schemas.openxmlformats.org/drawingml/2006/main">
            <a:pPr algn="l">
              <a:defRPr sz="2400" b="1">
                <a:solidFill>
                  <a:srgbClr val="173E36"/>
                </a:solidFill>
                <a:latin typeface="Arial"/>
                <a:ea typeface="Arial"/>
                <a:cs typeface="Arial"/>
              </a:defRPr>
            </a:pPr>
            <a:r>
              <a:rPr sz="2400" b="1">
                <a:solidFill>
                  <a:srgbClr val="173E36"/>
                </a:solidFill>
                <a:latin typeface="Arial"/>
                <a:ea typeface="Arial"/>
                <a:cs typeface="Arial"/>
              </a:rPr>
              <a:t>Cost comparison</a:t>
            </a:r>
          </a:p>
        </p:txBody>
      </p:sp>
      <p:sp>
        <p:nvSpPr>
          <p:cNvPr id="14" name="Step rule 3">
            <a:extLst xmlns:a="http://schemas.openxmlformats.org/drawingml/2006/main">
              <a:ext uri="{FF2B5EF4-FFF2-40B4-BE49-F238E27FC236}">
                <a16:creationId xmlns:a16="http://schemas.microsoft.com/office/drawing/2014/main" id="{F1C13162-4296-4C56-8938-43759B2B4D4A}"/>
              </a:ext>
            </a:extLst>
          </p:cNvPr>
          <p:cNvSpPr>
            <a:spLocks xmlns:a="http://schemas.openxmlformats.org/drawingml/2006/main" noGrp="1"/>
          </p:cNvSpPr>
          <p:nvPr/>
        </p:nvSpPr>
        <p:spPr>
          <a:xfrm xmlns:a="http://schemas.openxmlformats.org/drawingml/2006/main">
            <a:off x="8486775" y="3886200"/>
            <a:ext cx="2895600"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15" name="Step detail 3">
            <a:extLst xmlns:a="http://schemas.openxmlformats.org/drawingml/2006/main">
              <a:ext uri="{FF2B5EF4-FFF2-40B4-BE49-F238E27FC236}">
                <a16:creationId xmlns:a16="http://schemas.microsoft.com/office/drawing/2014/main" id="{FE05E89E-5FAB-4500-9DB7-CDFA40955E08}"/>
              </a:ext>
            </a:extLst>
          </p:cNvPr>
          <p:cNvSpPr>
            <a:spLocks xmlns:a="http://schemas.openxmlformats.org/drawingml/2006/main" noGrp="1"/>
          </p:cNvSpPr>
          <p:nvPr/>
        </p:nvSpPr>
        <p:spPr>
          <a:xfrm xmlns:a="http://schemas.openxmlformats.org/drawingml/2006/main">
            <a:off x="8486775" y="4171950"/>
            <a:ext cx="2905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3" b="0">
                <a:solidFill>
                  <a:srgbClr val="173E36"/>
                </a:solidFill>
                <a:latin typeface="Arial"/>
                <a:ea typeface="Arial"/>
                <a:cs typeface="Arial"/>
              </a:defRPr>
            </a:defPPr>
            <a:lvl1pPr algn="l">
              <a:defRPr sz="1763" b="0">
                <a:solidFill>
                  <a:srgbClr val="173E36"/>
                </a:solidFill>
                <a:latin typeface="Arial"/>
                <a:ea typeface="Arial"/>
                <a:cs typeface="Arial"/>
              </a:defRPr>
            </a:lvl1pPr>
            <a:lvl2pPr algn="l">
              <a:defRPr sz="1763" b="0">
                <a:solidFill>
                  <a:srgbClr val="173E36"/>
                </a:solidFill>
                <a:latin typeface="Arial"/>
                <a:ea typeface="Arial"/>
                <a:cs typeface="Arial"/>
              </a:defRPr>
            </a:lvl2pPr>
            <a:lvl3pPr algn="l">
              <a:defRPr sz="1763" b="0">
                <a:solidFill>
                  <a:srgbClr val="173E36"/>
                </a:solidFill>
                <a:latin typeface="Arial"/>
                <a:ea typeface="Arial"/>
                <a:cs typeface="Arial"/>
              </a:defRPr>
            </a:lvl3pPr>
            <a:lvl4pPr algn="l">
              <a:defRPr sz="1763" b="0">
                <a:solidFill>
                  <a:srgbClr val="173E36"/>
                </a:solidFill>
                <a:latin typeface="Arial"/>
                <a:ea typeface="Arial"/>
                <a:cs typeface="Arial"/>
              </a:defRPr>
            </a:lvl4pPr>
            <a:lvl5pPr algn="l">
              <a:defRPr sz="1763" b="0">
                <a:solidFill>
                  <a:srgbClr val="173E36"/>
                </a:solidFill>
                <a:latin typeface="Arial"/>
                <a:ea typeface="Arial"/>
                <a:cs typeface="Arial"/>
              </a:defRPr>
            </a:lvl5pPr>
            <a:lvl6pPr algn="l">
              <a:defRPr sz="1763" b="0">
                <a:solidFill>
                  <a:srgbClr val="173E36"/>
                </a:solidFill>
                <a:latin typeface="Arial"/>
                <a:ea typeface="Arial"/>
                <a:cs typeface="Arial"/>
              </a:defRPr>
            </a:lvl6pPr>
            <a:lvl7pPr algn="l">
              <a:defRPr sz="1763" b="0">
                <a:solidFill>
                  <a:srgbClr val="173E36"/>
                </a:solidFill>
                <a:latin typeface="Arial"/>
                <a:ea typeface="Arial"/>
                <a:cs typeface="Arial"/>
              </a:defRPr>
            </a:lvl7pPr>
            <a:lvl8pPr algn="l">
              <a:defRPr sz="1763" b="0">
                <a:solidFill>
                  <a:srgbClr val="173E36"/>
                </a:solidFill>
                <a:latin typeface="Arial"/>
                <a:ea typeface="Arial"/>
                <a:cs typeface="Arial"/>
              </a:defRPr>
            </a:lvl8pPr>
            <a:lvl9pPr algn="l">
              <a:defRPr sz="1763" b="0">
                <a:solidFill>
                  <a:srgbClr val="173E36"/>
                </a:solidFill>
                <a:latin typeface="Arial"/>
                <a:ea typeface="Arial"/>
                <a:cs typeface="Arial"/>
              </a:defRPr>
            </a:lvl9pPr>
          </a:lstStyle>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Expected cost comparison</a:t>
            </a:r>
          </a:p>
          <a:p xmlns:a="http://schemas.openxmlformats.org/drawingml/2006/main">
            <a:pPr algn="l">
              <a:defRPr sz="1763" b="0">
                <a:solidFill>
                  <a:srgbClr val="173E36"/>
                </a:solidFill>
                <a:latin typeface="Arial"/>
                <a:ea typeface="Arial"/>
                <a:cs typeface="Arial"/>
              </a:defRPr>
            </a:pPr>
            <a:r>
              <a:rPr sz="1763" b="0">
                <a:solidFill>
                  <a:srgbClr val="173E36"/>
                </a:solidFill>
                <a:latin typeface="Arial"/>
                <a:ea typeface="Arial"/>
                <a:cs typeface="Arial"/>
              </a:rPr>
              <a:t>Sources and assumptions</a:t>
            </a:r>
          </a:p>
        </p:txBody>
      </p:sp>
      <p:cxnSp>
        <p:nvCxnSpPr>
          <p:cNvPr id="16" name="Workflow connector 1">
            <a:extLst xmlns:a="http://schemas.openxmlformats.org/drawingml/2006/main">
              <a:ext uri="{FF2B5EF4-FFF2-40B4-BE49-F238E27FC236}">
                <a16:creationId xmlns:a16="http://schemas.microsoft.com/office/drawing/2014/main" id="{220A8387-C32C-4DE2-9890-899A47E1DE07}"/>
              </a:ext>
            </a:extLst>
          </p:cNvPr>
          <p:cNvCxnSpPr/>
          <p:nvPr/>
        </p:nvCxnSpPr>
        <p:spPr>
          <a:xfrm xmlns:a="http://schemas.openxmlformats.org/drawingml/2006/main">
            <a:off x="3790950" y="3476625"/>
            <a:ext cx="647700" cy="0"/>
          </a:xfrm>
          <a:prstGeom xmlns:a="http://schemas.openxmlformats.org/drawingml/2006/main" prst="straightConnector1">
            <a:avLst/>
          </a:prstGeom>
          <a:ln xmlns:a="http://schemas.openxmlformats.org/drawingml/2006/main" w="19050">
            <a:solidFill>
              <a:srgbClr val="286C60"/>
            </a:solidFill>
            <a:tailEnd type="triangle" w="sm" len="sm"/>
          </a:ln>
        </p:spPr>
      </p:cxnSp>
      <p:cxnSp>
        <p:nvCxnSpPr>
          <p:cNvPr id="17" name="Workflow connector 2">
            <a:extLst xmlns:a="http://schemas.openxmlformats.org/drawingml/2006/main">
              <a:ext uri="{FF2B5EF4-FFF2-40B4-BE49-F238E27FC236}">
                <a16:creationId xmlns:a16="http://schemas.microsoft.com/office/drawing/2014/main" id="{2815C5C3-CC36-476B-B421-A8E0723F3DE7}"/>
              </a:ext>
            </a:extLst>
          </p:cNvPr>
          <p:cNvCxnSpPr/>
          <p:nvPr/>
        </p:nvCxnSpPr>
        <p:spPr>
          <a:xfrm xmlns:a="http://schemas.openxmlformats.org/drawingml/2006/main">
            <a:off x="7667625" y="3476625"/>
            <a:ext cx="657225" cy="0"/>
          </a:xfrm>
          <a:prstGeom xmlns:a="http://schemas.openxmlformats.org/drawingml/2006/main" prst="straightConnector1">
            <a:avLst/>
          </a:prstGeom>
          <a:ln xmlns:a="http://schemas.openxmlformats.org/drawingml/2006/main" w="19050">
            <a:solidFill>
              <a:srgbClr val="286C60"/>
            </a:solidFill>
            <a:tailEnd type="triangle" w="sm" len="sm"/>
          </a:ln>
        </p:spPr>
      </p:cxnSp>
      <p:sp>
        <p:nvSpPr>
          <p:cNvPr id="18" name="Completeness boundary">
            <a:extLst xmlns:a="http://schemas.openxmlformats.org/drawingml/2006/main">
              <a:ext uri="{FF2B5EF4-FFF2-40B4-BE49-F238E27FC236}">
                <a16:creationId xmlns:a16="http://schemas.microsoft.com/office/drawing/2014/main" id="{2845A790-F9FE-4036-8D6C-211F2BA53C3D}"/>
              </a:ext>
            </a:extLst>
          </p:cNvPr>
          <p:cNvSpPr>
            <a:spLocks xmlns:a="http://schemas.openxmlformats.org/drawingml/2006/main" noGrp="1"/>
          </p:cNvSpPr>
          <p:nvPr/>
        </p:nvSpPr>
        <p:spPr>
          <a:xfrm xmlns:a="http://schemas.openxmlformats.org/drawingml/2006/main">
            <a:off x="723900" y="58007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7C6C"/>
                </a:solidFill>
                <a:latin typeface="Arial"/>
                <a:ea typeface="Arial"/>
                <a:cs typeface="Arial"/>
              </a:defRPr>
            </a:defPPr>
            <a:lvl1pPr algn="l">
              <a:defRPr sz="1875" b="0">
                <a:solidFill>
                  <a:srgbClr val="687C6C"/>
                </a:solidFill>
                <a:latin typeface="Arial"/>
                <a:ea typeface="Arial"/>
                <a:cs typeface="Arial"/>
              </a:defRPr>
            </a:lvl1pPr>
            <a:lvl2pPr algn="l">
              <a:defRPr sz="1875" b="0">
                <a:solidFill>
                  <a:srgbClr val="687C6C"/>
                </a:solidFill>
                <a:latin typeface="Arial"/>
                <a:ea typeface="Arial"/>
                <a:cs typeface="Arial"/>
              </a:defRPr>
            </a:lvl2pPr>
            <a:lvl3pPr algn="l">
              <a:defRPr sz="1875" b="0">
                <a:solidFill>
                  <a:srgbClr val="687C6C"/>
                </a:solidFill>
                <a:latin typeface="Arial"/>
                <a:ea typeface="Arial"/>
                <a:cs typeface="Arial"/>
              </a:defRPr>
            </a:lvl3pPr>
            <a:lvl4pPr algn="l">
              <a:defRPr sz="1875" b="0">
                <a:solidFill>
                  <a:srgbClr val="687C6C"/>
                </a:solidFill>
                <a:latin typeface="Arial"/>
                <a:ea typeface="Arial"/>
                <a:cs typeface="Arial"/>
              </a:defRPr>
            </a:lvl4pPr>
            <a:lvl5pPr algn="l">
              <a:defRPr sz="1875" b="0">
                <a:solidFill>
                  <a:srgbClr val="687C6C"/>
                </a:solidFill>
                <a:latin typeface="Arial"/>
                <a:ea typeface="Arial"/>
                <a:cs typeface="Arial"/>
              </a:defRPr>
            </a:lvl5pPr>
            <a:lvl6pPr algn="l">
              <a:defRPr sz="1875" b="0">
                <a:solidFill>
                  <a:srgbClr val="687C6C"/>
                </a:solidFill>
                <a:latin typeface="Arial"/>
                <a:ea typeface="Arial"/>
                <a:cs typeface="Arial"/>
              </a:defRPr>
            </a:lvl6pPr>
            <a:lvl7pPr algn="l">
              <a:defRPr sz="1875" b="0">
                <a:solidFill>
                  <a:srgbClr val="687C6C"/>
                </a:solidFill>
                <a:latin typeface="Arial"/>
                <a:ea typeface="Arial"/>
                <a:cs typeface="Arial"/>
              </a:defRPr>
            </a:lvl7pPr>
            <a:lvl8pPr algn="l">
              <a:defRPr sz="1875" b="0">
                <a:solidFill>
                  <a:srgbClr val="687C6C"/>
                </a:solidFill>
                <a:latin typeface="Arial"/>
                <a:ea typeface="Arial"/>
                <a:cs typeface="Arial"/>
              </a:defRPr>
            </a:lvl8pPr>
            <a:lvl9pPr algn="l">
              <a:defRPr sz="1875" b="0">
                <a:solidFill>
                  <a:srgbClr val="687C6C"/>
                </a:solidFill>
                <a:latin typeface="Arial"/>
                <a:ea typeface="Arial"/>
                <a:cs typeface="Arial"/>
              </a:defRPr>
            </a:lvl9pPr>
          </a:lstStyle>
          <a:p xmlns:a="http://schemas.openxmlformats.org/drawingml/2006/main">
            <a:pPr algn="l">
              <a:defRPr sz="1875" b="0">
                <a:solidFill>
                  <a:srgbClr val="687C6C"/>
                </a:solidFill>
                <a:latin typeface="Arial"/>
                <a:ea typeface="Arial"/>
                <a:cs typeface="Arial"/>
              </a:defRPr>
            </a:pPr>
            <a:r>
              <a:rPr sz="1875" b="0">
                <a:solidFill>
                  <a:srgbClr val="687C6C"/>
                </a:solidFill>
                <a:latin typeface="Arial"/>
                <a:ea typeface="Arial"/>
                <a:cs typeface="Arial"/>
              </a:rPr>
              <a:t>Missing members, missing hours or stale data stop the weather calculation.</a:t>
            </a:r>
          </a:p>
        </p:txBody>
      </p:sp>
    </p:spTree>
    <p:extLst>
      <p:ext uri="{BB962C8B-B14F-4D97-AF65-F5344CB8AC3E}">
        <p14:creationId xmlns:p14="http://schemas.microsoft.com/office/powerpoint/2010/main" val="497014486"/>
      </p:ext>
    </p:extLst>
  </p:cSld>
</p:sld>
</file>

<file path=ppt/slides/slide4.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12" name="Title 4">
            <a:extLst xmlns:a="http://schemas.openxmlformats.org/drawingml/2006/main">
              <a:ext uri="{FF2B5EF4-FFF2-40B4-BE49-F238E27FC236}">
                <a16:creationId xmlns:a16="http://schemas.microsoft.com/office/drawing/2014/main" id="{94C0D3BF-2D28-458C-BD54-F57C1E9A4858}"/>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A paired dataset with 24-hour windows</a:t>
            </a:r>
          </a:p>
        </p:txBody>
      </p:sp>
      <p:sp>
        <p:nvSpPr>
          <p:cNvPr id="2" name="Page 4">
            <a:extLst xmlns:a="http://schemas.openxmlformats.org/drawingml/2006/main">
              <a:ext uri="{FF2B5EF4-FFF2-40B4-BE49-F238E27FC236}">
                <a16:creationId xmlns:a16="http://schemas.microsoft.com/office/drawing/2014/main" id="{71A0343A-7911-42FD-9554-0F230FCBB615}"/>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04</a:t>
            </a:r>
          </a:p>
        </p:txBody>
      </p:sp>
      <p:sp>
        <p:nvSpPr>
          <p:cNvPr id="3" name="Historical data sources">
            <a:extLst xmlns:a="http://schemas.openxmlformats.org/drawingml/2006/main">
              <a:ext uri="{FF2B5EF4-FFF2-40B4-BE49-F238E27FC236}">
                <a16:creationId xmlns:a16="http://schemas.microsoft.com/office/drawing/2014/main" id="{F272E57A-C4F6-4351-839C-5D11F59B4494}"/>
              </a:ext>
            </a:extLst>
          </p:cNvPr>
          <p:cNvSpPr>
            <a:spLocks xmlns:a="http://schemas.openxmlformats.org/drawingml/2006/main" noGrp="1"/>
          </p:cNvSpPr>
          <p:nvPr/>
        </p:nvSpPr>
        <p:spPr>
          <a:xfrm xmlns:a="http://schemas.openxmlformats.org/drawingml/2006/main">
            <a:off x="723900" y="1476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6C60"/>
                </a:solidFill>
                <a:latin typeface="Arial"/>
                <a:ea typeface="Arial"/>
                <a:cs typeface="Arial"/>
              </a:defRPr>
            </a:defPPr>
            <a:lvl1pPr algn="l">
              <a:defRPr sz="2025" b="0">
                <a:solidFill>
                  <a:srgbClr val="286C60"/>
                </a:solidFill>
                <a:latin typeface="Arial"/>
                <a:ea typeface="Arial"/>
                <a:cs typeface="Arial"/>
              </a:defRPr>
            </a:lvl1pPr>
            <a:lvl2pPr algn="l">
              <a:defRPr sz="2025" b="0">
                <a:solidFill>
                  <a:srgbClr val="286C60"/>
                </a:solidFill>
                <a:latin typeface="Arial"/>
                <a:ea typeface="Arial"/>
                <a:cs typeface="Arial"/>
              </a:defRPr>
            </a:lvl2pPr>
            <a:lvl3pPr algn="l">
              <a:defRPr sz="2025" b="0">
                <a:solidFill>
                  <a:srgbClr val="286C60"/>
                </a:solidFill>
                <a:latin typeface="Arial"/>
                <a:ea typeface="Arial"/>
                <a:cs typeface="Arial"/>
              </a:defRPr>
            </a:lvl3pPr>
            <a:lvl4pPr algn="l">
              <a:defRPr sz="2025" b="0">
                <a:solidFill>
                  <a:srgbClr val="286C60"/>
                </a:solidFill>
                <a:latin typeface="Arial"/>
                <a:ea typeface="Arial"/>
                <a:cs typeface="Arial"/>
              </a:defRPr>
            </a:lvl4pPr>
            <a:lvl5pPr algn="l">
              <a:defRPr sz="2025" b="0">
                <a:solidFill>
                  <a:srgbClr val="286C60"/>
                </a:solidFill>
                <a:latin typeface="Arial"/>
                <a:ea typeface="Arial"/>
                <a:cs typeface="Arial"/>
              </a:defRPr>
            </a:lvl5pPr>
            <a:lvl6pPr algn="l">
              <a:defRPr sz="2025" b="0">
                <a:solidFill>
                  <a:srgbClr val="286C60"/>
                </a:solidFill>
                <a:latin typeface="Arial"/>
                <a:ea typeface="Arial"/>
                <a:cs typeface="Arial"/>
              </a:defRPr>
            </a:lvl6pPr>
            <a:lvl7pPr algn="l">
              <a:defRPr sz="2025" b="0">
                <a:solidFill>
                  <a:srgbClr val="286C60"/>
                </a:solidFill>
                <a:latin typeface="Arial"/>
                <a:ea typeface="Arial"/>
                <a:cs typeface="Arial"/>
              </a:defRPr>
            </a:lvl7pPr>
            <a:lvl8pPr algn="l">
              <a:defRPr sz="2025" b="0">
                <a:solidFill>
                  <a:srgbClr val="286C60"/>
                </a:solidFill>
                <a:latin typeface="Arial"/>
                <a:ea typeface="Arial"/>
                <a:cs typeface="Arial"/>
              </a:defRPr>
            </a:lvl8pPr>
            <a:lvl9pPr algn="l">
              <a:defRPr sz="2025" b="0">
                <a:solidFill>
                  <a:srgbClr val="286C60"/>
                </a:solidFill>
                <a:latin typeface="Arial"/>
                <a:ea typeface="Arial"/>
                <a:cs typeface="Arial"/>
              </a:defRPr>
            </a:lvl9pPr>
          </a:lstStyle>
          <a:p xmlns:a="http://schemas.openxmlformats.org/drawingml/2006/main">
            <a:pPr algn="l">
              <a:defRPr sz="2025" b="0">
                <a:solidFill>
                  <a:srgbClr val="286C60"/>
                </a:solidFill>
                <a:latin typeface="Arial"/>
                <a:ea typeface="Arial"/>
                <a:cs typeface="Arial"/>
              </a:defRPr>
            </a:pPr>
            <a:r>
              <a:rPr sz="2025" b="0">
                <a:solidFill>
                  <a:srgbClr val="286C60"/>
                </a:solidFill>
                <a:latin typeface="Arial"/>
                <a:ea typeface="Arial"/>
                <a:cs typeface="Arial"/>
              </a:rPr>
              <a:t>Fixed-lead ECMWF forecasts paired with Xiaoshan Airport SSOD reference data</a:t>
            </a:r>
          </a:p>
        </p:txBody>
      </p:sp>
      <p:graphicFrame>
        <p:nvGraphicFramePr>
          <p:cNvPr id="4" name="Paired historical example">
            <a:extLst xmlns:a="http://schemas.openxmlformats.org/drawingml/2006/main">
              <a:ext uri="{FF2B5EF4-FFF2-40B4-BE49-F238E27FC236}">
                <a16:creationId xmlns:a16="http://schemas.microsoft.com/office/drawing/2014/main" id="{E6F54981-33DE-49CE-87FC-0E87AAAC71DF}"/>
              </a:ext>
            </a:extLst>
          </p:cNvPr>
          <p:cNvGraphicFramePr/>
          <p:nvPr/>
        </p:nvGraphicFramePr>
        <p:xfrm>
          <a:off xmlns:a="http://schemas.openxmlformats.org/drawingml/2006/main" x="723900" y="2276475"/>
          <a:ext xmlns:a="http://schemas.openxmlformats.org/drawingml/2006/main" cx="10763250" cy="1562100"/>
        </p:xfrm>
        <a:graphic xmlns:a="http://schemas.openxmlformats.org/drawingml/2006/main">
          <a:graphicData uri="http://schemas.openxmlformats.org/drawingml/2006/table">
            <a:tbl>
              <a:tblPr firstRow="1" firstCol="0" lastCol="0" bandRow="0"/>
              <a:tblGrid>
                <a:gridCol w="3952875"/>
                <a:gridCol w="2428875"/>
                <a:gridCol w="2428875"/>
                <a:gridCol w="1952625"/>
              </a:tblGrid>
              <a:tr h="571500">
                <a:tc>
                  <a:txBody>
                    <a:bodyPr lIns="133350" tIns="133350" rIns="133350" bIns="133350"/>
                    <a:lstStyle/>
                    <a:p>
                      <a:pPr algn="l"/>
                      <a:r>
                        <a:rPr sz="1800" b="1">
                          <a:solidFill>
                            <a:srgbClr val="FFFEF8"/>
                          </a:solidFill>
                          <a:latin typeface="Arial"/>
                          <a:ea typeface="Arial"/>
                          <a:cs typeface="Arial"/>
                        </a:rPr>
                        <a:t>Window (UTC+08)</a:t>
                      </a:r>
                    </a:p>
                  </a:txBody>
                  <a:tcPr marL="91440" marR="91440" marT="45720" marB="45720" anchor="ctr">
                    <a:lnL w="9525">
                      <a:solidFill>
                        <a:srgbClr val="D6DFCF"/>
                      </a:solidFill>
                      <a:prstDash val="solid"/>
                    </a:lnL>
                    <a:lnR w="9525">
                      <a:solidFill>
                        <a:srgbClr val="D6DFCF"/>
                      </a:solidFill>
                      <a:prstDash val="solid"/>
                    </a:lnR>
                    <a:lnT w="9525">
                      <a:solidFill>
                        <a:srgbClr val="D6DFCF"/>
                      </a:solidFill>
                      <a:prstDash val="solid"/>
                    </a:lnT>
                    <a:lnB w="9525">
                      <a:solidFill>
                        <a:srgbClr val="D6DFCF"/>
                      </a:solidFill>
                      <a:prstDash val="solid"/>
                    </a:lnB>
                    <a:solidFill>
                      <a:srgbClr val="286C60"/>
                    </a:solidFill>
                  </a:tcPr>
                </a:tc>
                <a:tc>
                  <a:txBody>
                    <a:bodyPr lIns="133350" tIns="133350" rIns="133350" bIns="133350"/>
                    <a:lstStyle/>
                    <a:p>
                      <a:pPr algn="l"/>
                      <a:r>
                        <a:rPr sz="1800" b="1">
                          <a:solidFill>
                            <a:srgbClr val="FFFEF8"/>
                          </a:solidFill>
                          <a:latin typeface="Arial"/>
                          <a:ea typeface="Arial"/>
                          <a:cs typeface="Arial"/>
                        </a:rPr>
                        <a:t>Forecast (mm)</a:t>
                      </a:r>
                    </a:p>
                  </a:txBody>
                  <a:tcPr marL="91440" marR="91440" marT="45720" marB="45720" anchor="ctr">
                    <a:lnR w="9525">
                      <a:solidFill>
                        <a:srgbClr val="D6DFCF"/>
                      </a:solidFill>
                      <a:prstDash val="solid"/>
                    </a:lnR>
                    <a:lnT w="9525">
                      <a:solidFill>
                        <a:srgbClr val="D6DFCF"/>
                      </a:solidFill>
                      <a:prstDash val="solid"/>
                    </a:lnT>
                    <a:lnB w="9525">
                      <a:solidFill>
                        <a:srgbClr val="D6DFCF"/>
                      </a:solidFill>
                      <a:prstDash val="solid"/>
                    </a:lnB>
                    <a:solidFill>
                      <a:srgbClr val="286C60"/>
                    </a:solidFill>
                  </a:tcPr>
                </a:tc>
                <a:tc>
                  <a:txBody>
                    <a:bodyPr lIns="133350" tIns="133350" rIns="133350" bIns="133350"/>
                    <a:lstStyle/>
                    <a:p>
                      <a:pPr algn="l"/>
                      <a:r>
                        <a:rPr sz="1800" b="1">
                          <a:solidFill>
                            <a:srgbClr val="FFFEF8"/>
                          </a:solidFill>
                          <a:latin typeface="Arial"/>
                          <a:ea typeface="Arial"/>
                          <a:cs typeface="Arial"/>
                        </a:rPr>
                        <a:t>Reference (mm)</a:t>
                      </a:r>
                    </a:p>
                  </a:txBody>
                  <a:tcPr marL="91440" marR="91440" marT="45720" marB="45720" anchor="ctr">
                    <a:lnR w="9525">
                      <a:solidFill>
                        <a:srgbClr val="D6DFCF"/>
                      </a:solidFill>
                      <a:prstDash val="solid"/>
                    </a:lnR>
                    <a:lnT w="9525">
                      <a:solidFill>
                        <a:srgbClr val="D6DFCF"/>
                      </a:solidFill>
                      <a:prstDash val="solid"/>
                    </a:lnT>
                    <a:lnB w="9525">
                      <a:solidFill>
                        <a:srgbClr val="D6DFCF"/>
                      </a:solidFill>
                      <a:prstDash val="solid"/>
                    </a:lnB>
                    <a:solidFill>
                      <a:srgbClr val="286C60"/>
                    </a:solidFill>
                  </a:tcPr>
                </a:tc>
                <a:tc>
                  <a:txBody>
                    <a:bodyPr lIns="133350" tIns="133350" rIns="133350" bIns="133350"/>
                    <a:lstStyle/>
                    <a:p>
                      <a:pPr algn="l"/>
                      <a:r>
                        <a:rPr sz="1800" b="1">
                          <a:solidFill>
                            <a:srgbClr val="FFFEF8"/>
                          </a:solidFill>
                          <a:latin typeface="Arial"/>
                          <a:ea typeface="Arial"/>
                          <a:cs typeface="Arial"/>
                        </a:rPr>
                        <a:t>Quality</a:t>
                      </a:r>
                    </a:p>
                  </a:txBody>
                  <a:tcPr marL="91440" marR="91440" marT="45720" marB="45720" anchor="ctr">
                    <a:lnR w="9525">
                      <a:solidFill>
                        <a:srgbClr val="D6DFCF"/>
                      </a:solidFill>
                      <a:prstDash val="solid"/>
                    </a:lnR>
                    <a:lnT w="9525">
                      <a:solidFill>
                        <a:srgbClr val="D6DFCF"/>
                      </a:solidFill>
                      <a:prstDash val="solid"/>
                    </a:lnT>
                    <a:lnB w="9525">
                      <a:solidFill>
                        <a:srgbClr val="D6DFCF"/>
                      </a:solidFill>
                      <a:prstDash val="solid"/>
                    </a:lnB>
                    <a:solidFill>
                      <a:srgbClr val="286C60"/>
                    </a:solidFill>
                  </a:tcPr>
                </a:tc>
              </a:tr>
              <a:tr h="990600">
                <a:tc>
                  <a:txBody>
                    <a:bodyPr lIns="133350" tIns="133350" rIns="133350" bIns="133350"/>
                    <a:lstStyle/>
                    <a:p>
                      <a:pPr algn="l"/>
                      <a:r>
                        <a:rPr sz="1950" b="0">
                          <a:solidFill>
                            <a:srgbClr val="173E36"/>
                          </a:solidFill>
                          <a:latin typeface="Arial"/>
                          <a:ea typeface="Arial"/>
                          <a:cs typeface="Arial"/>
                        </a:rPr>
                        <a:t>2025-06-01 08:00</a:t>
                      </a:r>
                    </a:p>
                    <a:p>
                      <a:pPr algn="l"/>
                      <a:r>
                        <a:rPr sz="1950" b="0">
                          <a:solidFill>
                            <a:srgbClr val="173E36"/>
                          </a:solidFill>
                          <a:latin typeface="Arial"/>
                          <a:ea typeface="Arial"/>
                          <a:cs typeface="Arial"/>
                        </a:rPr>
                        <a:t>to 2025-06-02 08:00</a:t>
                      </a:r>
                    </a:p>
                  </a:txBody>
                  <a:tcPr marL="91440" marR="91440" marT="45720" marB="45720" anchor="ctr">
                    <a:lnL w="9525">
                      <a:solidFill>
                        <a:srgbClr val="D6DFCF"/>
                      </a:solidFill>
                      <a:prstDash val="solid"/>
                    </a:lnL>
                    <a:lnR w="9525">
                      <a:solidFill>
                        <a:srgbClr val="D6DFCF"/>
                      </a:solidFill>
                      <a:prstDash val="solid"/>
                    </a:lnR>
                    <a:lnB w="9525">
                      <a:solidFill>
                        <a:srgbClr val="D6DFCF"/>
                      </a:solidFill>
                      <a:prstDash val="solid"/>
                    </a:lnB>
                    <a:solidFill>
                      <a:srgbClr val="F3F2E9"/>
                    </a:solidFill>
                  </a:tcPr>
                </a:tc>
                <a:tc>
                  <a:txBody>
                    <a:bodyPr lIns="133350" tIns="133350" rIns="133350" bIns="133350"/>
                    <a:lstStyle/>
                    <a:p>
                      <a:pPr algn="l"/>
                      <a:r>
                        <a:rPr sz="1950" b="0">
                          <a:solidFill>
                            <a:srgbClr val="173E36"/>
                          </a:solidFill>
                          <a:latin typeface="Arial"/>
                          <a:ea typeface="Arial"/>
                          <a:cs typeface="Arial"/>
                        </a:rPr>
                        <a:t>52.5</a:t>
                      </a:r>
                    </a:p>
                  </a:txBody>
                  <a:tcPr marL="91440" marR="91440" marT="45720" marB="45720" anchor="ctr">
                    <a:lnR w="9525">
                      <a:solidFill>
                        <a:srgbClr val="D6DFCF"/>
                      </a:solidFill>
                      <a:prstDash val="solid"/>
                    </a:lnR>
                    <a:lnB w="9525">
                      <a:solidFill>
                        <a:srgbClr val="D6DFCF"/>
                      </a:solidFill>
                      <a:prstDash val="solid"/>
                    </a:lnB>
                    <a:solidFill>
                      <a:srgbClr val="F3F2E9"/>
                    </a:solidFill>
                  </a:tcPr>
                </a:tc>
                <a:tc>
                  <a:txBody>
                    <a:bodyPr lIns="133350" tIns="133350" rIns="133350" bIns="133350"/>
                    <a:lstStyle/>
                    <a:p>
                      <a:pPr algn="l"/>
                      <a:r>
                        <a:rPr sz="1950" b="0">
                          <a:solidFill>
                            <a:srgbClr val="173E36"/>
                          </a:solidFill>
                          <a:latin typeface="Arial"/>
                          <a:ea typeface="Arial"/>
                          <a:cs typeface="Arial"/>
                        </a:rPr>
                        <a:t>29.0</a:t>
                      </a:r>
                    </a:p>
                  </a:txBody>
                  <a:tcPr marL="91440" marR="91440" marT="45720" marB="45720" anchor="ctr">
                    <a:lnR w="9525">
                      <a:solidFill>
                        <a:srgbClr val="D6DFCF"/>
                      </a:solidFill>
                      <a:prstDash val="solid"/>
                    </a:lnR>
                    <a:lnB w="9525">
                      <a:solidFill>
                        <a:srgbClr val="D6DFCF"/>
                      </a:solidFill>
                      <a:prstDash val="solid"/>
                    </a:lnB>
                    <a:solidFill>
                      <a:srgbClr val="F3F2E9"/>
                    </a:solidFill>
                  </a:tcPr>
                </a:tc>
                <a:tc>
                  <a:txBody>
                    <a:bodyPr lIns="133350" tIns="133350" rIns="133350" bIns="133350"/>
                    <a:lstStyle/>
                    <a:p>
                      <a:pPr algn="l"/>
                      <a:r>
                        <a:rPr sz="1950" b="0">
                          <a:solidFill>
                            <a:srgbClr val="173E36"/>
                          </a:solidFill>
                          <a:latin typeface="Arial"/>
                          <a:ea typeface="Arial"/>
                          <a:cs typeface="Arial"/>
                        </a:rPr>
                        <a:t>passed</a:t>
                      </a:r>
                    </a:p>
                  </a:txBody>
                  <a:tcPr marL="91440" marR="91440" marT="45720" marB="45720" anchor="ctr">
                    <a:lnR w="9525">
                      <a:solidFill>
                        <a:srgbClr val="D6DFCF"/>
                      </a:solidFill>
                      <a:prstDash val="solid"/>
                    </a:lnR>
                    <a:lnB w="9525">
                      <a:solidFill>
                        <a:srgbClr val="D6DFCF"/>
                      </a:solidFill>
                      <a:prstDash val="solid"/>
                    </a:lnB>
                    <a:solidFill>
                      <a:srgbClr val="F3F2E9"/>
                    </a:solidFill>
                  </a:tcPr>
                </a:tc>
              </a:tr>
            </a:tbl>
          </a:graphicData>
        </a:graphic>
      </p:graphicFrame>
      <p:sp>
        <p:nvSpPr>
          <p:cNvPr id="5" name="Coverage value 1">
            <a:extLst xmlns:a="http://schemas.openxmlformats.org/drawingml/2006/main">
              <a:ext uri="{FF2B5EF4-FFF2-40B4-BE49-F238E27FC236}">
                <a16:creationId xmlns:a16="http://schemas.microsoft.com/office/drawing/2014/main" id="{6276F4B9-EB32-4995-B201-0AE7CD265EFC}"/>
              </a:ext>
            </a:extLst>
          </p:cNvPr>
          <p:cNvSpPr>
            <a:spLocks xmlns:a="http://schemas.openxmlformats.org/drawingml/2006/main" noGrp="1"/>
          </p:cNvSpPr>
          <p:nvPr/>
        </p:nvSpPr>
        <p:spPr>
          <a:xfrm xmlns:a="http://schemas.openxmlformats.org/drawingml/2006/main">
            <a:off x="733425" y="4295775"/>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73E36"/>
                </a:solidFill>
                <a:latin typeface="Arial"/>
                <a:ea typeface="Arial"/>
                <a:cs typeface="Arial"/>
              </a:defRPr>
            </a:defPPr>
            <a:lvl1pPr algn="l">
              <a:defRPr sz="4650" b="1">
                <a:solidFill>
                  <a:srgbClr val="173E36"/>
                </a:solidFill>
                <a:latin typeface="Arial"/>
                <a:ea typeface="Arial"/>
                <a:cs typeface="Arial"/>
              </a:defRPr>
            </a:lvl1pPr>
            <a:lvl2pPr algn="l">
              <a:defRPr sz="4650" b="1">
                <a:solidFill>
                  <a:srgbClr val="173E36"/>
                </a:solidFill>
                <a:latin typeface="Arial"/>
                <a:ea typeface="Arial"/>
                <a:cs typeface="Arial"/>
              </a:defRPr>
            </a:lvl2pPr>
            <a:lvl3pPr algn="l">
              <a:defRPr sz="4650" b="1">
                <a:solidFill>
                  <a:srgbClr val="173E36"/>
                </a:solidFill>
                <a:latin typeface="Arial"/>
                <a:ea typeface="Arial"/>
                <a:cs typeface="Arial"/>
              </a:defRPr>
            </a:lvl3pPr>
            <a:lvl4pPr algn="l">
              <a:defRPr sz="4650" b="1">
                <a:solidFill>
                  <a:srgbClr val="173E36"/>
                </a:solidFill>
                <a:latin typeface="Arial"/>
                <a:ea typeface="Arial"/>
                <a:cs typeface="Arial"/>
              </a:defRPr>
            </a:lvl4pPr>
            <a:lvl5pPr algn="l">
              <a:defRPr sz="4650" b="1">
                <a:solidFill>
                  <a:srgbClr val="173E36"/>
                </a:solidFill>
                <a:latin typeface="Arial"/>
                <a:ea typeface="Arial"/>
                <a:cs typeface="Arial"/>
              </a:defRPr>
            </a:lvl5pPr>
            <a:lvl6pPr algn="l">
              <a:defRPr sz="4650" b="1">
                <a:solidFill>
                  <a:srgbClr val="173E36"/>
                </a:solidFill>
                <a:latin typeface="Arial"/>
                <a:ea typeface="Arial"/>
                <a:cs typeface="Arial"/>
              </a:defRPr>
            </a:lvl6pPr>
            <a:lvl7pPr algn="l">
              <a:defRPr sz="4650" b="1">
                <a:solidFill>
                  <a:srgbClr val="173E36"/>
                </a:solidFill>
                <a:latin typeface="Arial"/>
                <a:ea typeface="Arial"/>
                <a:cs typeface="Arial"/>
              </a:defRPr>
            </a:lvl7pPr>
            <a:lvl8pPr algn="l">
              <a:defRPr sz="4650" b="1">
                <a:solidFill>
                  <a:srgbClr val="173E36"/>
                </a:solidFill>
                <a:latin typeface="Arial"/>
                <a:ea typeface="Arial"/>
                <a:cs typeface="Arial"/>
              </a:defRPr>
            </a:lvl8pPr>
            <a:lvl9pPr algn="l">
              <a:defRPr sz="4650" b="1">
                <a:solidFill>
                  <a:srgbClr val="173E36"/>
                </a:solidFill>
                <a:latin typeface="Arial"/>
                <a:ea typeface="Arial"/>
                <a:cs typeface="Arial"/>
              </a:defRPr>
            </a:lvl9pPr>
          </a:lstStyle>
          <a:p xmlns:a="http://schemas.openxmlformats.org/drawingml/2006/main">
            <a:pPr algn="l">
              <a:defRPr sz="4650" b="1">
                <a:solidFill>
                  <a:srgbClr val="173E36"/>
                </a:solidFill>
                <a:latin typeface="Arial"/>
                <a:ea typeface="Arial"/>
                <a:cs typeface="Arial"/>
              </a:defRPr>
            </a:pPr>
            <a:r>
              <a:rPr sz="4650" b="1">
                <a:solidFill>
                  <a:srgbClr val="173E36"/>
                </a:solidFill>
                <a:latin typeface="Arial"/>
                <a:ea typeface="Arial"/>
                <a:cs typeface="Arial"/>
              </a:rPr>
              <a:t>731</a:t>
            </a:r>
          </a:p>
        </p:txBody>
      </p:sp>
      <p:sp>
        <p:nvSpPr>
          <p:cNvPr id="6" name="Coverage label 1">
            <a:extLst xmlns:a="http://schemas.openxmlformats.org/drawingml/2006/main">
              <a:ext uri="{FF2B5EF4-FFF2-40B4-BE49-F238E27FC236}">
                <a16:creationId xmlns:a16="http://schemas.microsoft.com/office/drawing/2014/main" id="{84378643-7455-42B5-975C-5303D1A2626B}"/>
              </a:ext>
            </a:extLst>
          </p:cNvPr>
          <p:cNvSpPr>
            <a:spLocks xmlns:a="http://schemas.openxmlformats.org/drawingml/2006/main" noGrp="1"/>
          </p:cNvSpPr>
          <p:nvPr/>
        </p:nvSpPr>
        <p:spPr>
          <a:xfrm xmlns:a="http://schemas.openxmlformats.org/drawingml/2006/main">
            <a:off x="733425" y="5124450"/>
            <a:ext cx="290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7C6C"/>
                </a:solidFill>
                <a:latin typeface="Arial"/>
                <a:ea typeface="Arial"/>
                <a:cs typeface="Arial"/>
              </a:defRPr>
            </a:defPPr>
            <a:lvl1pPr algn="l">
              <a:defRPr sz="1800" b="0">
                <a:solidFill>
                  <a:srgbClr val="687C6C"/>
                </a:solidFill>
                <a:latin typeface="Arial"/>
                <a:ea typeface="Arial"/>
                <a:cs typeface="Arial"/>
              </a:defRPr>
            </a:lvl1pPr>
            <a:lvl2pPr algn="l">
              <a:defRPr sz="1800" b="0">
                <a:solidFill>
                  <a:srgbClr val="687C6C"/>
                </a:solidFill>
                <a:latin typeface="Arial"/>
                <a:ea typeface="Arial"/>
                <a:cs typeface="Arial"/>
              </a:defRPr>
            </a:lvl2pPr>
            <a:lvl3pPr algn="l">
              <a:defRPr sz="1800" b="0">
                <a:solidFill>
                  <a:srgbClr val="687C6C"/>
                </a:solidFill>
                <a:latin typeface="Arial"/>
                <a:ea typeface="Arial"/>
                <a:cs typeface="Arial"/>
              </a:defRPr>
            </a:lvl3pPr>
            <a:lvl4pPr algn="l">
              <a:defRPr sz="1800" b="0">
                <a:solidFill>
                  <a:srgbClr val="687C6C"/>
                </a:solidFill>
                <a:latin typeface="Arial"/>
                <a:ea typeface="Arial"/>
                <a:cs typeface="Arial"/>
              </a:defRPr>
            </a:lvl4pPr>
            <a:lvl5pPr algn="l">
              <a:defRPr sz="1800" b="0">
                <a:solidFill>
                  <a:srgbClr val="687C6C"/>
                </a:solidFill>
                <a:latin typeface="Arial"/>
                <a:ea typeface="Arial"/>
                <a:cs typeface="Arial"/>
              </a:defRPr>
            </a:lvl5pPr>
            <a:lvl6pPr algn="l">
              <a:defRPr sz="1800" b="0">
                <a:solidFill>
                  <a:srgbClr val="687C6C"/>
                </a:solidFill>
                <a:latin typeface="Arial"/>
                <a:ea typeface="Arial"/>
                <a:cs typeface="Arial"/>
              </a:defRPr>
            </a:lvl6pPr>
            <a:lvl7pPr algn="l">
              <a:defRPr sz="1800" b="0">
                <a:solidFill>
                  <a:srgbClr val="687C6C"/>
                </a:solidFill>
                <a:latin typeface="Arial"/>
                <a:ea typeface="Arial"/>
                <a:cs typeface="Arial"/>
              </a:defRPr>
            </a:lvl7pPr>
            <a:lvl8pPr algn="l">
              <a:defRPr sz="1800" b="0">
                <a:solidFill>
                  <a:srgbClr val="687C6C"/>
                </a:solidFill>
                <a:latin typeface="Arial"/>
                <a:ea typeface="Arial"/>
                <a:cs typeface="Arial"/>
              </a:defRPr>
            </a:lvl8pPr>
            <a:lvl9pPr algn="l">
              <a:defRPr sz="1800" b="0">
                <a:solidFill>
                  <a:srgbClr val="687C6C"/>
                </a:solidFill>
                <a:latin typeface="Arial"/>
                <a:ea typeface="Arial"/>
                <a:cs typeface="Arial"/>
              </a:defRPr>
            </a:lvl9pPr>
          </a:lstStyle>
          <a:p xmlns:a="http://schemas.openxmlformats.org/drawingml/2006/main">
            <a:pPr algn="l">
              <a:defRPr sz="1800" b="0">
                <a:solidFill>
                  <a:srgbClr val="687C6C"/>
                </a:solidFill>
                <a:latin typeface="Arial"/>
                <a:ea typeface="Arial"/>
                <a:cs typeface="Arial"/>
              </a:defRPr>
            </a:pPr>
            <a:r>
              <a:rPr sz="1800" b="0">
                <a:solidFill>
                  <a:srgbClr val="687C6C"/>
                </a:solidFill>
                <a:latin typeface="Arial"/>
                <a:ea typeface="Arial"/>
                <a:cs typeface="Arial"/>
              </a:rPr>
              <a:t>Calendar days</a:t>
            </a:r>
          </a:p>
        </p:txBody>
      </p:sp>
      <p:sp>
        <p:nvSpPr>
          <p:cNvPr id="7" name="Coverage value 2">
            <a:extLst xmlns:a="http://schemas.openxmlformats.org/drawingml/2006/main">
              <a:ext uri="{FF2B5EF4-FFF2-40B4-BE49-F238E27FC236}">
                <a16:creationId xmlns:a16="http://schemas.microsoft.com/office/drawing/2014/main" id="{BC210785-E6B5-44BA-BA10-BBB47AA20B9F}"/>
              </a:ext>
            </a:extLst>
          </p:cNvPr>
          <p:cNvSpPr>
            <a:spLocks xmlns:a="http://schemas.openxmlformats.org/drawingml/2006/main" noGrp="1"/>
          </p:cNvSpPr>
          <p:nvPr/>
        </p:nvSpPr>
        <p:spPr>
          <a:xfrm xmlns:a="http://schemas.openxmlformats.org/drawingml/2006/main">
            <a:off x="4562475" y="4295775"/>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73E36"/>
                </a:solidFill>
                <a:latin typeface="Arial"/>
                <a:ea typeface="Arial"/>
                <a:cs typeface="Arial"/>
              </a:defRPr>
            </a:defPPr>
            <a:lvl1pPr algn="l">
              <a:defRPr sz="4650" b="1">
                <a:solidFill>
                  <a:srgbClr val="173E36"/>
                </a:solidFill>
                <a:latin typeface="Arial"/>
                <a:ea typeface="Arial"/>
                <a:cs typeface="Arial"/>
              </a:defRPr>
            </a:lvl1pPr>
            <a:lvl2pPr algn="l">
              <a:defRPr sz="4650" b="1">
                <a:solidFill>
                  <a:srgbClr val="173E36"/>
                </a:solidFill>
                <a:latin typeface="Arial"/>
                <a:ea typeface="Arial"/>
                <a:cs typeface="Arial"/>
              </a:defRPr>
            </a:lvl2pPr>
            <a:lvl3pPr algn="l">
              <a:defRPr sz="4650" b="1">
                <a:solidFill>
                  <a:srgbClr val="173E36"/>
                </a:solidFill>
                <a:latin typeface="Arial"/>
                <a:ea typeface="Arial"/>
                <a:cs typeface="Arial"/>
              </a:defRPr>
            </a:lvl3pPr>
            <a:lvl4pPr algn="l">
              <a:defRPr sz="4650" b="1">
                <a:solidFill>
                  <a:srgbClr val="173E36"/>
                </a:solidFill>
                <a:latin typeface="Arial"/>
                <a:ea typeface="Arial"/>
                <a:cs typeface="Arial"/>
              </a:defRPr>
            </a:lvl4pPr>
            <a:lvl5pPr algn="l">
              <a:defRPr sz="4650" b="1">
                <a:solidFill>
                  <a:srgbClr val="173E36"/>
                </a:solidFill>
                <a:latin typeface="Arial"/>
                <a:ea typeface="Arial"/>
                <a:cs typeface="Arial"/>
              </a:defRPr>
            </a:lvl5pPr>
            <a:lvl6pPr algn="l">
              <a:defRPr sz="4650" b="1">
                <a:solidFill>
                  <a:srgbClr val="173E36"/>
                </a:solidFill>
                <a:latin typeface="Arial"/>
                <a:ea typeface="Arial"/>
                <a:cs typeface="Arial"/>
              </a:defRPr>
            </a:lvl6pPr>
            <a:lvl7pPr algn="l">
              <a:defRPr sz="4650" b="1">
                <a:solidFill>
                  <a:srgbClr val="173E36"/>
                </a:solidFill>
                <a:latin typeface="Arial"/>
                <a:ea typeface="Arial"/>
                <a:cs typeface="Arial"/>
              </a:defRPr>
            </a:lvl7pPr>
            <a:lvl8pPr algn="l">
              <a:defRPr sz="4650" b="1">
                <a:solidFill>
                  <a:srgbClr val="173E36"/>
                </a:solidFill>
                <a:latin typeface="Arial"/>
                <a:ea typeface="Arial"/>
                <a:cs typeface="Arial"/>
              </a:defRPr>
            </a:lvl8pPr>
            <a:lvl9pPr algn="l">
              <a:defRPr sz="4650" b="1">
                <a:solidFill>
                  <a:srgbClr val="173E36"/>
                </a:solidFill>
                <a:latin typeface="Arial"/>
                <a:ea typeface="Arial"/>
                <a:cs typeface="Arial"/>
              </a:defRPr>
            </a:lvl9pPr>
          </a:lstStyle>
          <a:p xmlns:a="http://schemas.openxmlformats.org/drawingml/2006/main">
            <a:pPr algn="l">
              <a:defRPr sz="4650" b="1">
                <a:solidFill>
                  <a:srgbClr val="173E36"/>
                </a:solidFill>
                <a:latin typeface="Arial"/>
                <a:ea typeface="Arial"/>
                <a:cs typeface="Arial"/>
              </a:defRPr>
            </a:pPr>
            <a:r>
              <a:rPr sz="4650" b="1">
                <a:solidFill>
                  <a:srgbClr val="173E36"/>
                </a:solidFill>
                <a:latin typeface="Arial"/>
                <a:ea typeface="Arial"/>
                <a:cs typeface="Arial"/>
              </a:rPr>
              <a:t>670</a:t>
            </a:r>
          </a:p>
        </p:txBody>
      </p:sp>
      <p:sp>
        <p:nvSpPr>
          <p:cNvPr id="8" name="Coverage label 2">
            <a:extLst xmlns:a="http://schemas.openxmlformats.org/drawingml/2006/main">
              <a:ext uri="{FF2B5EF4-FFF2-40B4-BE49-F238E27FC236}">
                <a16:creationId xmlns:a16="http://schemas.microsoft.com/office/drawing/2014/main" id="{35FB148F-219D-4D07-8526-500FE9F878D7}"/>
              </a:ext>
            </a:extLst>
          </p:cNvPr>
          <p:cNvSpPr>
            <a:spLocks xmlns:a="http://schemas.openxmlformats.org/drawingml/2006/main" noGrp="1"/>
          </p:cNvSpPr>
          <p:nvPr/>
        </p:nvSpPr>
        <p:spPr>
          <a:xfrm xmlns:a="http://schemas.openxmlformats.org/drawingml/2006/main">
            <a:off x="4562475" y="5124450"/>
            <a:ext cx="290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7C6C"/>
                </a:solidFill>
                <a:latin typeface="Arial"/>
                <a:ea typeface="Arial"/>
                <a:cs typeface="Arial"/>
              </a:defRPr>
            </a:defPPr>
            <a:lvl1pPr algn="l">
              <a:defRPr sz="1800" b="0">
                <a:solidFill>
                  <a:srgbClr val="687C6C"/>
                </a:solidFill>
                <a:latin typeface="Arial"/>
                <a:ea typeface="Arial"/>
                <a:cs typeface="Arial"/>
              </a:defRPr>
            </a:lvl1pPr>
            <a:lvl2pPr algn="l">
              <a:defRPr sz="1800" b="0">
                <a:solidFill>
                  <a:srgbClr val="687C6C"/>
                </a:solidFill>
                <a:latin typeface="Arial"/>
                <a:ea typeface="Arial"/>
                <a:cs typeface="Arial"/>
              </a:defRPr>
            </a:lvl2pPr>
            <a:lvl3pPr algn="l">
              <a:defRPr sz="1800" b="0">
                <a:solidFill>
                  <a:srgbClr val="687C6C"/>
                </a:solidFill>
                <a:latin typeface="Arial"/>
                <a:ea typeface="Arial"/>
                <a:cs typeface="Arial"/>
              </a:defRPr>
            </a:lvl3pPr>
            <a:lvl4pPr algn="l">
              <a:defRPr sz="1800" b="0">
                <a:solidFill>
                  <a:srgbClr val="687C6C"/>
                </a:solidFill>
                <a:latin typeface="Arial"/>
                <a:ea typeface="Arial"/>
                <a:cs typeface="Arial"/>
              </a:defRPr>
            </a:lvl4pPr>
            <a:lvl5pPr algn="l">
              <a:defRPr sz="1800" b="0">
                <a:solidFill>
                  <a:srgbClr val="687C6C"/>
                </a:solidFill>
                <a:latin typeface="Arial"/>
                <a:ea typeface="Arial"/>
                <a:cs typeface="Arial"/>
              </a:defRPr>
            </a:lvl5pPr>
            <a:lvl6pPr algn="l">
              <a:defRPr sz="1800" b="0">
                <a:solidFill>
                  <a:srgbClr val="687C6C"/>
                </a:solidFill>
                <a:latin typeface="Arial"/>
                <a:ea typeface="Arial"/>
                <a:cs typeface="Arial"/>
              </a:defRPr>
            </a:lvl6pPr>
            <a:lvl7pPr algn="l">
              <a:defRPr sz="1800" b="0">
                <a:solidFill>
                  <a:srgbClr val="687C6C"/>
                </a:solidFill>
                <a:latin typeface="Arial"/>
                <a:ea typeface="Arial"/>
                <a:cs typeface="Arial"/>
              </a:defRPr>
            </a:lvl7pPr>
            <a:lvl8pPr algn="l">
              <a:defRPr sz="1800" b="0">
                <a:solidFill>
                  <a:srgbClr val="687C6C"/>
                </a:solidFill>
                <a:latin typeface="Arial"/>
                <a:ea typeface="Arial"/>
                <a:cs typeface="Arial"/>
              </a:defRPr>
            </a:lvl8pPr>
            <a:lvl9pPr algn="l">
              <a:defRPr sz="1800" b="0">
                <a:solidFill>
                  <a:srgbClr val="687C6C"/>
                </a:solidFill>
                <a:latin typeface="Arial"/>
                <a:ea typeface="Arial"/>
                <a:cs typeface="Arial"/>
              </a:defRPr>
            </a:lvl9pPr>
          </a:lstStyle>
          <a:p xmlns:a="http://schemas.openxmlformats.org/drawingml/2006/main">
            <a:pPr algn="l">
              <a:defRPr sz="1800" b="0">
                <a:solidFill>
                  <a:srgbClr val="687C6C"/>
                </a:solidFill>
                <a:latin typeface="Arial"/>
                <a:ea typeface="Arial"/>
                <a:cs typeface="Arial"/>
              </a:defRPr>
            </a:pPr>
            <a:r>
              <a:rPr sz="1800" b="0">
                <a:solidFill>
                  <a:srgbClr val="687C6C"/>
                </a:solidFill>
                <a:latin typeface="Arial"/>
                <a:ea typeface="Arial"/>
                <a:cs typeface="Arial"/>
              </a:rPr>
              <a:t>Complete reference days</a:t>
            </a:r>
          </a:p>
        </p:txBody>
      </p:sp>
      <p:sp>
        <p:nvSpPr>
          <p:cNvPr id="9" name="Coverage value 3">
            <a:extLst xmlns:a="http://schemas.openxmlformats.org/drawingml/2006/main">
              <a:ext uri="{FF2B5EF4-FFF2-40B4-BE49-F238E27FC236}">
                <a16:creationId xmlns:a16="http://schemas.microsoft.com/office/drawing/2014/main" id="{90621196-F4C9-4036-B0DA-F71153DCB984}"/>
              </a:ext>
            </a:extLst>
          </p:cNvPr>
          <p:cNvSpPr>
            <a:spLocks xmlns:a="http://schemas.openxmlformats.org/drawingml/2006/main" noGrp="1"/>
          </p:cNvSpPr>
          <p:nvPr/>
        </p:nvSpPr>
        <p:spPr>
          <a:xfrm xmlns:a="http://schemas.openxmlformats.org/drawingml/2006/main">
            <a:off x="8391525" y="4295775"/>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286C60"/>
                </a:solidFill>
                <a:latin typeface="Arial"/>
                <a:ea typeface="Arial"/>
                <a:cs typeface="Arial"/>
              </a:defRPr>
            </a:defPPr>
            <a:lvl1pPr algn="l">
              <a:defRPr sz="4650" b="1">
                <a:solidFill>
                  <a:srgbClr val="286C60"/>
                </a:solidFill>
                <a:latin typeface="Arial"/>
                <a:ea typeface="Arial"/>
                <a:cs typeface="Arial"/>
              </a:defRPr>
            </a:lvl1pPr>
            <a:lvl2pPr algn="l">
              <a:defRPr sz="4650" b="1">
                <a:solidFill>
                  <a:srgbClr val="286C60"/>
                </a:solidFill>
                <a:latin typeface="Arial"/>
                <a:ea typeface="Arial"/>
                <a:cs typeface="Arial"/>
              </a:defRPr>
            </a:lvl2pPr>
            <a:lvl3pPr algn="l">
              <a:defRPr sz="4650" b="1">
                <a:solidFill>
                  <a:srgbClr val="286C60"/>
                </a:solidFill>
                <a:latin typeface="Arial"/>
                <a:ea typeface="Arial"/>
                <a:cs typeface="Arial"/>
              </a:defRPr>
            </a:lvl3pPr>
            <a:lvl4pPr algn="l">
              <a:defRPr sz="4650" b="1">
                <a:solidFill>
                  <a:srgbClr val="286C60"/>
                </a:solidFill>
                <a:latin typeface="Arial"/>
                <a:ea typeface="Arial"/>
                <a:cs typeface="Arial"/>
              </a:defRPr>
            </a:lvl4pPr>
            <a:lvl5pPr algn="l">
              <a:defRPr sz="4650" b="1">
                <a:solidFill>
                  <a:srgbClr val="286C60"/>
                </a:solidFill>
                <a:latin typeface="Arial"/>
                <a:ea typeface="Arial"/>
                <a:cs typeface="Arial"/>
              </a:defRPr>
            </a:lvl5pPr>
            <a:lvl6pPr algn="l">
              <a:defRPr sz="4650" b="1">
                <a:solidFill>
                  <a:srgbClr val="286C60"/>
                </a:solidFill>
                <a:latin typeface="Arial"/>
                <a:ea typeface="Arial"/>
                <a:cs typeface="Arial"/>
              </a:defRPr>
            </a:lvl6pPr>
            <a:lvl7pPr algn="l">
              <a:defRPr sz="4650" b="1">
                <a:solidFill>
                  <a:srgbClr val="286C60"/>
                </a:solidFill>
                <a:latin typeface="Arial"/>
                <a:ea typeface="Arial"/>
                <a:cs typeface="Arial"/>
              </a:defRPr>
            </a:lvl7pPr>
            <a:lvl8pPr algn="l">
              <a:defRPr sz="4650" b="1">
                <a:solidFill>
                  <a:srgbClr val="286C60"/>
                </a:solidFill>
                <a:latin typeface="Arial"/>
                <a:ea typeface="Arial"/>
                <a:cs typeface="Arial"/>
              </a:defRPr>
            </a:lvl8pPr>
            <a:lvl9pPr algn="l">
              <a:defRPr sz="4650" b="1">
                <a:solidFill>
                  <a:srgbClr val="286C60"/>
                </a:solidFill>
                <a:latin typeface="Arial"/>
                <a:ea typeface="Arial"/>
                <a:cs typeface="Arial"/>
              </a:defRPr>
            </a:lvl9pPr>
          </a:lstStyle>
          <a:p xmlns:a="http://schemas.openxmlformats.org/drawingml/2006/main">
            <a:pPr algn="l">
              <a:defRPr sz="4650" b="1">
                <a:solidFill>
                  <a:srgbClr val="286C60"/>
                </a:solidFill>
                <a:latin typeface="Arial"/>
                <a:ea typeface="Arial"/>
                <a:cs typeface="Arial"/>
              </a:defRPr>
            </a:pPr>
            <a:r>
              <a:rPr sz="4650" b="1">
                <a:solidFill>
                  <a:srgbClr val="286C60"/>
                </a:solidFill>
                <a:latin typeface="Arial"/>
                <a:ea typeface="Arial"/>
                <a:cs typeface="Arial"/>
              </a:rPr>
              <a:t>636</a:t>
            </a:r>
          </a:p>
        </p:txBody>
      </p:sp>
      <p:sp>
        <p:nvSpPr>
          <p:cNvPr id="10" name="Coverage label 3">
            <a:extLst xmlns:a="http://schemas.openxmlformats.org/drawingml/2006/main">
              <a:ext uri="{FF2B5EF4-FFF2-40B4-BE49-F238E27FC236}">
                <a16:creationId xmlns:a16="http://schemas.microsoft.com/office/drawing/2014/main" id="{D79FF8D5-A8A1-48F7-B24C-5A1E8017F5EA}"/>
              </a:ext>
            </a:extLst>
          </p:cNvPr>
          <p:cNvSpPr>
            <a:spLocks xmlns:a="http://schemas.openxmlformats.org/drawingml/2006/main" noGrp="1"/>
          </p:cNvSpPr>
          <p:nvPr/>
        </p:nvSpPr>
        <p:spPr>
          <a:xfrm xmlns:a="http://schemas.openxmlformats.org/drawingml/2006/main">
            <a:off x="8391525" y="5124450"/>
            <a:ext cx="290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7C6C"/>
                </a:solidFill>
                <a:latin typeface="Arial"/>
                <a:ea typeface="Arial"/>
                <a:cs typeface="Arial"/>
              </a:defRPr>
            </a:defPPr>
            <a:lvl1pPr algn="l">
              <a:defRPr sz="1800" b="0">
                <a:solidFill>
                  <a:srgbClr val="687C6C"/>
                </a:solidFill>
                <a:latin typeface="Arial"/>
                <a:ea typeface="Arial"/>
                <a:cs typeface="Arial"/>
              </a:defRPr>
            </a:lvl1pPr>
            <a:lvl2pPr algn="l">
              <a:defRPr sz="1800" b="0">
                <a:solidFill>
                  <a:srgbClr val="687C6C"/>
                </a:solidFill>
                <a:latin typeface="Arial"/>
                <a:ea typeface="Arial"/>
                <a:cs typeface="Arial"/>
              </a:defRPr>
            </a:lvl2pPr>
            <a:lvl3pPr algn="l">
              <a:defRPr sz="1800" b="0">
                <a:solidFill>
                  <a:srgbClr val="687C6C"/>
                </a:solidFill>
                <a:latin typeface="Arial"/>
                <a:ea typeface="Arial"/>
                <a:cs typeface="Arial"/>
              </a:defRPr>
            </a:lvl3pPr>
            <a:lvl4pPr algn="l">
              <a:defRPr sz="1800" b="0">
                <a:solidFill>
                  <a:srgbClr val="687C6C"/>
                </a:solidFill>
                <a:latin typeface="Arial"/>
                <a:ea typeface="Arial"/>
                <a:cs typeface="Arial"/>
              </a:defRPr>
            </a:lvl4pPr>
            <a:lvl5pPr algn="l">
              <a:defRPr sz="1800" b="0">
                <a:solidFill>
                  <a:srgbClr val="687C6C"/>
                </a:solidFill>
                <a:latin typeface="Arial"/>
                <a:ea typeface="Arial"/>
                <a:cs typeface="Arial"/>
              </a:defRPr>
            </a:lvl5pPr>
            <a:lvl6pPr algn="l">
              <a:defRPr sz="1800" b="0">
                <a:solidFill>
                  <a:srgbClr val="687C6C"/>
                </a:solidFill>
                <a:latin typeface="Arial"/>
                <a:ea typeface="Arial"/>
                <a:cs typeface="Arial"/>
              </a:defRPr>
            </a:lvl6pPr>
            <a:lvl7pPr algn="l">
              <a:defRPr sz="1800" b="0">
                <a:solidFill>
                  <a:srgbClr val="687C6C"/>
                </a:solidFill>
                <a:latin typeface="Arial"/>
                <a:ea typeface="Arial"/>
                <a:cs typeface="Arial"/>
              </a:defRPr>
            </a:lvl7pPr>
            <a:lvl8pPr algn="l">
              <a:defRPr sz="1800" b="0">
                <a:solidFill>
                  <a:srgbClr val="687C6C"/>
                </a:solidFill>
                <a:latin typeface="Arial"/>
                <a:ea typeface="Arial"/>
                <a:cs typeface="Arial"/>
              </a:defRPr>
            </a:lvl8pPr>
            <a:lvl9pPr algn="l">
              <a:defRPr sz="1800" b="0">
                <a:solidFill>
                  <a:srgbClr val="687C6C"/>
                </a:solidFill>
                <a:latin typeface="Arial"/>
                <a:ea typeface="Arial"/>
                <a:cs typeface="Arial"/>
              </a:defRPr>
            </a:lvl9pPr>
          </a:lstStyle>
          <a:p xmlns:a="http://schemas.openxmlformats.org/drawingml/2006/main">
            <a:pPr algn="l">
              <a:defRPr sz="1800" b="0">
                <a:solidFill>
                  <a:srgbClr val="687C6C"/>
                </a:solidFill>
                <a:latin typeface="Arial"/>
                <a:ea typeface="Arial"/>
                <a:cs typeface="Arial"/>
              </a:defRPr>
            </a:pPr>
            <a:r>
              <a:rPr sz="1800" b="0">
                <a:solidFill>
                  <a:srgbClr val="687C6C"/>
                </a:solidFill>
                <a:latin typeface="Arial"/>
                <a:ea typeface="Arial"/>
                <a:cs typeface="Arial"/>
              </a:rPr>
              <a:t>Complete paired days</a:t>
            </a:r>
          </a:p>
        </p:txBody>
      </p:sp>
      <p:sp>
        <p:nvSpPr>
          <p:cNvPr id="11" name="Exclusion rule">
            <a:extLst xmlns:a="http://schemas.openxmlformats.org/drawingml/2006/main">
              <a:ext uri="{FF2B5EF4-FFF2-40B4-BE49-F238E27FC236}">
                <a16:creationId xmlns:a16="http://schemas.microsoft.com/office/drawing/2014/main" id="{12AE2ECD-4D8A-4305-A2C5-F2C1944F8305}"/>
              </a:ext>
            </a:extLst>
          </p:cNvPr>
          <p:cNvSpPr>
            <a:spLocks xmlns:a="http://schemas.openxmlformats.org/drawingml/2006/main" noGrp="1"/>
          </p:cNvSpPr>
          <p:nvPr/>
        </p:nvSpPr>
        <p:spPr>
          <a:xfrm xmlns:a="http://schemas.openxmlformats.org/drawingml/2006/main">
            <a:off x="733425" y="5819775"/>
            <a:ext cx="1062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36"/>
                </a:solidFill>
                <a:latin typeface="Arial"/>
                <a:ea typeface="Arial"/>
                <a:cs typeface="Arial"/>
              </a:defRPr>
            </a:defPPr>
            <a:lvl1pPr algn="l">
              <a:defRPr sz="1725" b="0">
                <a:solidFill>
                  <a:srgbClr val="173E36"/>
                </a:solidFill>
                <a:latin typeface="Arial"/>
                <a:ea typeface="Arial"/>
                <a:cs typeface="Arial"/>
              </a:defRPr>
            </a:lvl1pPr>
            <a:lvl2pPr algn="l">
              <a:defRPr sz="1725" b="0">
                <a:solidFill>
                  <a:srgbClr val="173E36"/>
                </a:solidFill>
                <a:latin typeface="Arial"/>
                <a:ea typeface="Arial"/>
                <a:cs typeface="Arial"/>
              </a:defRPr>
            </a:lvl2pPr>
            <a:lvl3pPr algn="l">
              <a:defRPr sz="1725" b="0">
                <a:solidFill>
                  <a:srgbClr val="173E36"/>
                </a:solidFill>
                <a:latin typeface="Arial"/>
                <a:ea typeface="Arial"/>
                <a:cs typeface="Arial"/>
              </a:defRPr>
            </a:lvl3pPr>
            <a:lvl4pPr algn="l">
              <a:defRPr sz="1725" b="0">
                <a:solidFill>
                  <a:srgbClr val="173E36"/>
                </a:solidFill>
                <a:latin typeface="Arial"/>
                <a:ea typeface="Arial"/>
                <a:cs typeface="Arial"/>
              </a:defRPr>
            </a:lvl4pPr>
            <a:lvl5pPr algn="l">
              <a:defRPr sz="1725" b="0">
                <a:solidFill>
                  <a:srgbClr val="173E36"/>
                </a:solidFill>
                <a:latin typeface="Arial"/>
                <a:ea typeface="Arial"/>
                <a:cs typeface="Arial"/>
              </a:defRPr>
            </a:lvl5pPr>
            <a:lvl6pPr algn="l">
              <a:defRPr sz="1725" b="0">
                <a:solidFill>
                  <a:srgbClr val="173E36"/>
                </a:solidFill>
                <a:latin typeface="Arial"/>
                <a:ea typeface="Arial"/>
                <a:cs typeface="Arial"/>
              </a:defRPr>
            </a:lvl6pPr>
            <a:lvl7pPr algn="l">
              <a:defRPr sz="1725" b="0">
                <a:solidFill>
                  <a:srgbClr val="173E36"/>
                </a:solidFill>
                <a:latin typeface="Arial"/>
                <a:ea typeface="Arial"/>
                <a:cs typeface="Arial"/>
              </a:defRPr>
            </a:lvl7pPr>
            <a:lvl8pPr algn="l">
              <a:defRPr sz="1725" b="0">
                <a:solidFill>
                  <a:srgbClr val="173E36"/>
                </a:solidFill>
                <a:latin typeface="Arial"/>
                <a:ea typeface="Arial"/>
                <a:cs typeface="Arial"/>
              </a:defRPr>
            </a:lvl8pPr>
            <a:lvl9pPr algn="l">
              <a:defRPr sz="1725" b="0">
                <a:solidFill>
                  <a:srgbClr val="173E36"/>
                </a:solidFill>
                <a:latin typeface="Arial"/>
                <a:ea typeface="Arial"/>
                <a:cs typeface="Arial"/>
              </a:defRPr>
            </a:lvl9pPr>
          </a:lstStyle>
          <a:p xmlns:a="http://schemas.openxmlformats.org/drawingml/2006/main">
            <a:pPr algn="l">
              <a:defRPr sz="1725" b="0">
                <a:solidFill>
                  <a:srgbClr val="173E36"/>
                </a:solidFill>
                <a:latin typeface="Arial"/>
                <a:ea typeface="Arial"/>
                <a:cs typeface="Arial"/>
              </a:defRPr>
            </a:pPr>
            <a:r>
              <a:rPr sz="1725" b="0">
                <a:solidFill>
                  <a:srgbClr val="173E36"/>
                </a:solidFill>
                <a:latin typeface="Arial"/>
                <a:ea typeface="Arial"/>
                <a:cs typeface="Arial"/>
              </a:rPr>
              <a:t>Exclude windows with a required hour missing, invalid data or negative rain.</a:t>
            </a:r>
          </a:p>
          <a:p xmlns:a="http://schemas.openxmlformats.org/drawingml/2006/main">
            <a:pPr algn="l">
              <a:defRPr sz="1725" b="0">
                <a:solidFill>
                  <a:srgbClr val="173E36"/>
                </a:solidFill>
                <a:latin typeface="Arial"/>
                <a:ea typeface="Arial"/>
                <a:cs typeface="Arial"/>
              </a:defRPr>
            </a:pPr>
            <a:r>
              <a:rPr sz="1725" b="0">
                <a:solidFill>
                  <a:srgbClr val="173E36"/>
                </a:solidFill>
                <a:latin typeface="Arial"/>
                <a:ea typeface="Arial"/>
                <a:cs typeface="Arial"/>
              </a:rPr>
              <a:t>Never fill missing observations with zero.</a:t>
            </a:r>
          </a:p>
        </p:txBody>
      </p:sp>
    </p:spTree>
    <p:extLst>
      <p:ext uri="{BB962C8B-B14F-4D97-AF65-F5344CB8AC3E}">
        <p14:creationId xmlns:p14="http://schemas.microsoft.com/office/powerpoint/2010/main" val="905226163"/>
      </p:ext>
    </p:extLst>
  </p:cSld>
</p:sld>
</file>

<file path=ppt/slides/slide5.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20" name="Title 5">
            <a:extLst xmlns:a="http://schemas.openxmlformats.org/drawingml/2006/main">
              <a:ext uri="{FF2B5EF4-FFF2-40B4-BE49-F238E27FC236}">
                <a16:creationId xmlns:a16="http://schemas.microsoft.com/office/drawing/2014/main" id="{C7BB6FAB-E460-4819-88D9-B89BEA15FA51}"/>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Historical model and online ensemble</a:t>
            </a:r>
          </a:p>
        </p:txBody>
      </p:sp>
      <p:sp>
        <p:nvSpPr>
          <p:cNvPr id="2" name="Page 5">
            <a:extLst xmlns:a="http://schemas.openxmlformats.org/drawingml/2006/main">
              <a:ext uri="{FF2B5EF4-FFF2-40B4-BE49-F238E27FC236}">
                <a16:creationId xmlns:a16="http://schemas.microsoft.com/office/drawing/2014/main" id="{16EBB3FB-2738-44A7-9795-D85F848E3ACD}"/>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05</a:t>
            </a:r>
          </a:p>
        </p:txBody>
      </p:sp>
      <p:sp>
        <p:nvSpPr>
          <p:cNvPr id="3" name="Historical lane">
            <a:extLst xmlns:a="http://schemas.openxmlformats.org/drawingml/2006/main">
              <a:ext uri="{FF2B5EF4-FFF2-40B4-BE49-F238E27FC236}">
                <a16:creationId xmlns:a16="http://schemas.microsoft.com/office/drawing/2014/main" id="{6F6CEE64-18A2-48E2-8B84-1EB8A036F747}"/>
              </a:ext>
            </a:extLst>
          </p:cNvPr>
          <p:cNvSpPr>
            <a:spLocks xmlns:a="http://schemas.openxmlformats.org/drawingml/2006/main" noGrp="1"/>
          </p:cNvSpPr>
          <p:nvPr/>
        </p:nvSpPr>
        <p:spPr>
          <a:xfrm xmlns:a="http://schemas.openxmlformats.org/drawingml/2006/main">
            <a:off x="723900" y="13906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C60"/>
                </a:solidFill>
                <a:latin typeface="Arial"/>
                <a:ea typeface="Arial"/>
                <a:cs typeface="Arial"/>
              </a:defRPr>
            </a:defPPr>
            <a:lvl1pPr algn="l">
              <a:defRPr sz="2250" b="1">
                <a:solidFill>
                  <a:srgbClr val="286C60"/>
                </a:solidFill>
                <a:latin typeface="Arial"/>
                <a:ea typeface="Arial"/>
                <a:cs typeface="Arial"/>
              </a:defRPr>
            </a:lvl1pPr>
            <a:lvl2pPr algn="l">
              <a:defRPr sz="2250" b="1">
                <a:solidFill>
                  <a:srgbClr val="286C60"/>
                </a:solidFill>
                <a:latin typeface="Arial"/>
                <a:ea typeface="Arial"/>
                <a:cs typeface="Arial"/>
              </a:defRPr>
            </a:lvl2pPr>
            <a:lvl3pPr algn="l">
              <a:defRPr sz="2250" b="1">
                <a:solidFill>
                  <a:srgbClr val="286C60"/>
                </a:solidFill>
                <a:latin typeface="Arial"/>
                <a:ea typeface="Arial"/>
                <a:cs typeface="Arial"/>
              </a:defRPr>
            </a:lvl3pPr>
            <a:lvl4pPr algn="l">
              <a:defRPr sz="2250" b="1">
                <a:solidFill>
                  <a:srgbClr val="286C60"/>
                </a:solidFill>
                <a:latin typeface="Arial"/>
                <a:ea typeface="Arial"/>
                <a:cs typeface="Arial"/>
              </a:defRPr>
            </a:lvl4pPr>
            <a:lvl5pPr algn="l">
              <a:defRPr sz="2250" b="1">
                <a:solidFill>
                  <a:srgbClr val="286C60"/>
                </a:solidFill>
                <a:latin typeface="Arial"/>
                <a:ea typeface="Arial"/>
                <a:cs typeface="Arial"/>
              </a:defRPr>
            </a:lvl5pPr>
            <a:lvl6pPr algn="l">
              <a:defRPr sz="2250" b="1">
                <a:solidFill>
                  <a:srgbClr val="286C60"/>
                </a:solidFill>
                <a:latin typeface="Arial"/>
                <a:ea typeface="Arial"/>
                <a:cs typeface="Arial"/>
              </a:defRPr>
            </a:lvl6pPr>
            <a:lvl7pPr algn="l">
              <a:defRPr sz="2250" b="1">
                <a:solidFill>
                  <a:srgbClr val="286C60"/>
                </a:solidFill>
                <a:latin typeface="Arial"/>
                <a:ea typeface="Arial"/>
                <a:cs typeface="Arial"/>
              </a:defRPr>
            </a:lvl7pPr>
            <a:lvl8pPr algn="l">
              <a:defRPr sz="2250" b="1">
                <a:solidFill>
                  <a:srgbClr val="286C60"/>
                </a:solidFill>
                <a:latin typeface="Arial"/>
                <a:ea typeface="Arial"/>
                <a:cs typeface="Arial"/>
              </a:defRPr>
            </a:lvl8pPr>
            <a:lvl9pPr algn="l">
              <a:defRPr sz="2250" b="1">
                <a:solidFill>
                  <a:srgbClr val="286C60"/>
                </a:solidFill>
                <a:latin typeface="Arial"/>
                <a:ea typeface="Arial"/>
                <a:cs typeface="Arial"/>
              </a:defRPr>
            </a:lvl9pPr>
          </a:lstStyle>
          <a:p xmlns:a="http://schemas.openxmlformats.org/drawingml/2006/main">
            <a:pPr algn="l">
              <a:defRPr sz="2250" b="1">
                <a:solidFill>
                  <a:srgbClr val="286C60"/>
                </a:solidFill>
                <a:latin typeface="Arial"/>
                <a:ea typeface="Arial"/>
                <a:cs typeface="Arial"/>
              </a:defRPr>
            </a:pPr>
            <a:r>
              <a:rPr sz="2250" b="1">
                <a:solidFill>
                  <a:srgbClr val="286C60"/>
                </a:solidFill>
                <a:latin typeface="Arial"/>
                <a:ea typeface="Arial"/>
                <a:cs typeface="Arial"/>
              </a:rPr>
              <a:t>Historical offline study</a:t>
            </a:r>
          </a:p>
        </p:txBody>
      </p:sp>
      <p:sp>
        <p:nvSpPr>
          <p:cNvPr id="4" name="Online lane">
            <a:extLst xmlns:a="http://schemas.openxmlformats.org/drawingml/2006/main">
              <a:ext uri="{FF2B5EF4-FFF2-40B4-BE49-F238E27FC236}">
                <a16:creationId xmlns:a16="http://schemas.microsoft.com/office/drawing/2014/main" id="{CD3CCE33-62E1-4000-BD0E-3251AF5DD47D}"/>
              </a:ext>
            </a:extLst>
          </p:cNvPr>
          <p:cNvSpPr>
            <a:spLocks xmlns:a="http://schemas.openxmlformats.org/drawingml/2006/main" noGrp="1"/>
          </p:cNvSpPr>
          <p:nvPr/>
        </p:nvSpPr>
        <p:spPr>
          <a:xfrm xmlns:a="http://schemas.openxmlformats.org/drawingml/2006/main">
            <a:off x="6486525" y="1390650"/>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C60"/>
                </a:solidFill>
                <a:latin typeface="Arial"/>
                <a:ea typeface="Arial"/>
                <a:cs typeface="Arial"/>
              </a:defRPr>
            </a:defPPr>
            <a:lvl1pPr algn="l">
              <a:defRPr sz="2250" b="1">
                <a:solidFill>
                  <a:srgbClr val="286C60"/>
                </a:solidFill>
                <a:latin typeface="Arial"/>
                <a:ea typeface="Arial"/>
                <a:cs typeface="Arial"/>
              </a:defRPr>
            </a:lvl1pPr>
            <a:lvl2pPr algn="l">
              <a:defRPr sz="2250" b="1">
                <a:solidFill>
                  <a:srgbClr val="286C60"/>
                </a:solidFill>
                <a:latin typeface="Arial"/>
                <a:ea typeface="Arial"/>
                <a:cs typeface="Arial"/>
              </a:defRPr>
            </a:lvl2pPr>
            <a:lvl3pPr algn="l">
              <a:defRPr sz="2250" b="1">
                <a:solidFill>
                  <a:srgbClr val="286C60"/>
                </a:solidFill>
                <a:latin typeface="Arial"/>
                <a:ea typeface="Arial"/>
                <a:cs typeface="Arial"/>
              </a:defRPr>
            </a:lvl3pPr>
            <a:lvl4pPr algn="l">
              <a:defRPr sz="2250" b="1">
                <a:solidFill>
                  <a:srgbClr val="286C60"/>
                </a:solidFill>
                <a:latin typeface="Arial"/>
                <a:ea typeface="Arial"/>
                <a:cs typeface="Arial"/>
              </a:defRPr>
            </a:lvl4pPr>
            <a:lvl5pPr algn="l">
              <a:defRPr sz="2250" b="1">
                <a:solidFill>
                  <a:srgbClr val="286C60"/>
                </a:solidFill>
                <a:latin typeface="Arial"/>
                <a:ea typeface="Arial"/>
                <a:cs typeface="Arial"/>
              </a:defRPr>
            </a:lvl5pPr>
            <a:lvl6pPr algn="l">
              <a:defRPr sz="2250" b="1">
                <a:solidFill>
                  <a:srgbClr val="286C60"/>
                </a:solidFill>
                <a:latin typeface="Arial"/>
                <a:ea typeface="Arial"/>
                <a:cs typeface="Arial"/>
              </a:defRPr>
            </a:lvl6pPr>
            <a:lvl7pPr algn="l">
              <a:defRPr sz="2250" b="1">
                <a:solidFill>
                  <a:srgbClr val="286C60"/>
                </a:solidFill>
                <a:latin typeface="Arial"/>
                <a:ea typeface="Arial"/>
                <a:cs typeface="Arial"/>
              </a:defRPr>
            </a:lvl7pPr>
            <a:lvl8pPr algn="l">
              <a:defRPr sz="2250" b="1">
                <a:solidFill>
                  <a:srgbClr val="286C60"/>
                </a:solidFill>
                <a:latin typeface="Arial"/>
                <a:ea typeface="Arial"/>
                <a:cs typeface="Arial"/>
              </a:defRPr>
            </a:lvl8pPr>
            <a:lvl9pPr algn="l">
              <a:defRPr sz="2250" b="1">
                <a:solidFill>
                  <a:srgbClr val="286C60"/>
                </a:solidFill>
                <a:latin typeface="Arial"/>
                <a:ea typeface="Arial"/>
                <a:cs typeface="Arial"/>
              </a:defRPr>
            </a:lvl9pPr>
          </a:lstStyle>
          <a:p xmlns:a="http://schemas.openxmlformats.org/drawingml/2006/main">
            <a:pPr algn="l">
              <a:defRPr sz="2250" b="1">
                <a:solidFill>
                  <a:srgbClr val="286C60"/>
                </a:solidFill>
                <a:latin typeface="Arial"/>
                <a:ea typeface="Arial"/>
                <a:cs typeface="Arial"/>
              </a:defRPr>
            </a:pPr>
            <a:r>
              <a:rPr sz="2250" b="1">
                <a:solidFill>
                  <a:srgbClr val="286C60"/>
                </a:solidFill>
                <a:latin typeface="Arial"/>
                <a:ea typeface="Arial"/>
                <a:cs typeface="Arial"/>
              </a:rPr>
              <a:t>Archived online snapshot</a:t>
            </a:r>
          </a:p>
        </p:txBody>
      </p:sp>
      <p:sp>
        <p:nvSpPr>
          <p:cNvPr id="5" name="Historical lane rule">
            <a:extLst xmlns:a="http://schemas.openxmlformats.org/drawingml/2006/main">
              <a:ext uri="{FF2B5EF4-FFF2-40B4-BE49-F238E27FC236}">
                <a16:creationId xmlns:a16="http://schemas.microsoft.com/office/drawing/2014/main" id="{17128D75-D18A-4EEA-BA3B-BB4D9A12D1F9}"/>
              </a:ext>
            </a:extLst>
          </p:cNvPr>
          <p:cNvSpPr>
            <a:spLocks xmlns:a="http://schemas.openxmlformats.org/drawingml/2006/main" noGrp="1"/>
          </p:cNvSpPr>
          <p:nvPr/>
        </p:nvSpPr>
        <p:spPr>
          <a:xfrm xmlns:a="http://schemas.openxmlformats.org/drawingml/2006/main">
            <a:off x="723900" y="1857375"/>
            <a:ext cx="5010150" cy="0"/>
          </a:xfrm>
          <a:prstGeom xmlns:a="http://schemas.openxmlformats.org/drawingml/2006/main" prst="line">
            <a:avLst/>
          </a:prstGeom>
          <a:noFill xmlns:a="http://schemas.openxmlformats.org/drawingml/2006/main"/>
          <a:ln xmlns:a="http://schemas.openxmlformats.org/drawingml/2006/main" w="38100">
            <a:solidFill>
              <a:srgbClr val="286C60"/>
            </a:solidFill>
            <a:prstDash val="solid"/>
          </a:ln>
        </p:spPr>
      </p:sp>
      <p:sp>
        <p:nvSpPr>
          <p:cNvPr id="6" name="Online lane rule">
            <a:extLst xmlns:a="http://schemas.openxmlformats.org/drawingml/2006/main">
              <a:ext uri="{FF2B5EF4-FFF2-40B4-BE49-F238E27FC236}">
                <a16:creationId xmlns:a16="http://schemas.microsoft.com/office/drawing/2014/main" id="{5F1D440B-D89D-48DD-BA77-2680965DB1DF}"/>
              </a:ext>
            </a:extLst>
          </p:cNvPr>
          <p:cNvSpPr>
            <a:spLocks xmlns:a="http://schemas.openxmlformats.org/drawingml/2006/main" noGrp="1"/>
          </p:cNvSpPr>
          <p:nvPr/>
        </p:nvSpPr>
        <p:spPr>
          <a:xfrm xmlns:a="http://schemas.openxmlformats.org/drawingml/2006/main">
            <a:off x="6486525" y="1857375"/>
            <a:ext cx="5000625" cy="0"/>
          </a:xfrm>
          <a:prstGeom xmlns:a="http://schemas.openxmlformats.org/drawingml/2006/main" prst="line">
            <a:avLst/>
          </a:prstGeom>
          <a:noFill xmlns:a="http://schemas.openxmlformats.org/drawingml/2006/main"/>
          <a:ln xmlns:a="http://schemas.openxmlformats.org/drawingml/2006/main" w="38100">
            <a:solidFill>
              <a:srgbClr val="286C60"/>
            </a:solidFill>
            <a:prstDash val="solid"/>
          </a:ln>
        </p:spPr>
      </p:sp>
      <p:sp>
        <p:nvSpPr>
          <p:cNvPr id="7" name="Historical input">
            <a:extLst xmlns:a="http://schemas.openxmlformats.org/drawingml/2006/main">
              <a:ext uri="{FF2B5EF4-FFF2-40B4-BE49-F238E27FC236}">
                <a16:creationId xmlns:a16="http://schemas.microsoft.com/office/drawing/2014/main" id="{6B3D5DCF-3AF6-4852-9F8D-510EF08CA25E}"/>
              </a:ext>
            </a:extLst>
          </p:cNvPr>
          <p:cNvSpPr>
            <a:spLocks xmlns:a="http://schemas.openxmlformats.org/drawingml/2006/main" noGrp="1"/>
          </p:cNvSpPr>
          <p:nvPr/>
        </p:nvSpPr>
        <p:spPr>
          <a:xfrm xmlns:a="http://schemas.openxmlformats.org/drawingml/2006/main">
            <a:off x="723900" y="214312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3E36"/>
                </a:solidFill>
                <a:latin typeface="Arial"/>
                <a:ea typeface="Arial"/>
                <a:cs typeface="Arial"/>
              </a:defRPr>
            </a:defPPr>
            <a:lvl1pPr algn="l">
              <a:defRPr sz="3600" b="1">
                <a:solidFill>
                  <a:srgbClr val="173E36"/>
                </a:solidFill>
                <a:latin typeface="Arial"/>
                <a:ea typeface="Arial"/>
                <a:cs typeface="Arial"/>
              </a:defRPr>
            </a:lvl1pPr>
            <a:lvl2pPr algn="l">
              <a:defRPr sz="3600" b="1">
                <a:solidFill>
                  <a:srgbClr val="173E36"/>
                </a:solidFill>
                <a:latin typeface="Arial"/>
                <a:ea typeface="Arial"/>
                <a:cs typeface="Arial"/>
              </a:defRPr>
            </a:lvl2pPr>
            <a:lvl3pPr algn="l">
              <a:defRPr sz="3600" b="1">
                <a:solidFill>
                  <a:srgbClr val="173E36"/>
                </a:solidFill>
                <a:latin typeface="Arial"/>
                <a:ea typeface="Arial"/>
                <a:cs typeface="Arial"/>
              </a:defRPr>
            </a:lvl3pPr>
            <a:lvl4pPr algn="l">
              <a:defRPr sz="3600" b="1">
                <a:solidFill>
                  <a:srgbClr val="173E36"/>
                </a:solidFill>
                <a:latin typeface="Arial"/>
                <a:ea typeface="Arial"/>
                <a:cs typeface="Arial"/>
              </a:defRPr>
            </a:lvl4pPr>
            <a:lvl5pPr algn="l">
              <a:defRPr sz="3600" b="1">
                <a:solidFill>
                  <a:srgbClr val="173E36"/>
                </a:solidFill>
                <a:latin typeface="Arial"/>
                <a:ea typeface="Arial"/>
                <a:cs typeface="Arial"/>
              </a:defRPr>
            </a:lvl5pPr>
            <a:lvl6pPr algn="l">
              <a:defRPr sz="3600" b="1">
                <a:solidFill>
                  <a:srgbClr val="173E36"/>
                </a:solidFill>
                <a:latin typeface="Arial"/>
                <a:ea typeface="Arial"/>
                <a:cs typeface="Arial"/>
              </a:defRPr>
            </a:lvl6pPr>
            <a:lvl7pPr algn="l">
              <a:defRPr sz="3600" b="1">
                <a:solidFill>
                  <a:srgbClr val="173E36"/>
                </a:solidFill>
                <a:latin typeface="Arial"/>
                <a:ea typeface="Arial"/>
                <a:cs typeface="Arial"/>
              </a:defRPr>
            </a:lvl7pPr>
            <a:lvl8pPr algn="l">
              <a:defRPr sz="3600" b="1">
                <a:solidFill>
                  <a:srgbClr val="173E36"/>
                </a:solidFill>
                <a:latin typeface="Arial"/>
                <a:ea typeface="Arial"/>
                <a:cs typeface="Arial"/>
              </a:defRPr>
            </a:lvl8pPr>
            <a:lvl9pPr algn="l">
              <a:defRPr sz="3600" b="1">
                <a:solidFill>
                  <a:srgbClr val="173E36"/>
                </a:solidFill>
                <a:latin typeface="Arial"/>
                <a:ea typeface="Arial"/>
                <a:cs typeface="Arial"/>
              </a:defRPr>
            </a:lvl9pPr>
          </a:lstStyle>
          <a:p xmlns:a="http://schemas.openxmlformats.org/drawingml/2006/main">
            <a:pPr algn="l">
              <a:defRPr sz="3600" b="1">
                <a:solidFill>
                  <a:srgbClr val="173E36"/>
                </a:solidFill>
                <a:latin typeface="Arial"/>
                <a:ea typeface="Arial"/>
                <a:cs typeface="Arial"/>
              </a:defRPr>
            </a:pPr>
            <a:r>
              <a:rPr sz="3600" b="1">
                <a:solidFill>
                  <a:srgbClr val="173E36"/>
                </a:solidFill>
                <a:latin typeface="Arial"/>
                <a:ea typeface="Arial"/>
                <a:cs typeface="Arial"/>
              </a:rPr>
              <a:t>52.5 mm</a:t>
            </a:r>
          </a:p>
        </p:txBody>
      </p:sp>
      <p:sp>
        <p:nvSpPr>
          <p:cNvPr id="8" name="Historical date">
            <a:extLst xmlns:a="http://schemas.openxmlformats.org/drawingml/2006/main">
              <a:ext uri="{FF2B5EF4-FFF2-40B4-BE49-F238E27FC236}">
                <a16:creationId xmlns:a16="http://schemas.microsoft.com/office/drawing/2014/main" id="{2A730D7C-53DA-4BE5-B9AA-76500D178C25}"/>
              </a:ext>
            </a:extLst>
          </p:cNvPr>
          <p:cNvSpPr>
            <a:spLocks xmlns:a="http://schemas.openxmlformats.org/drawingml/2006/main" noGrp="1"/>
          </p:cNvSpPr>
          <p:nvPr/>
        </p:nvSpPr>
        <p:spPr>
          <a:xfrm xmlns:a="http://schemas.openxmlformats.org/drawingml/2006/main">
            <a:off x="733425" y="28194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7C6C"/>
                </a:solidFill>
                <a:latin typeface="Arial"/>
                <a:ea typeface="Arial"/>
                <a:cs typeface="Arial"/>
              </a:defRPr>
            </a:defPPr>
            <a:lvl1pPr algn="l">
              <a:defRPr sz="1650" b="0">
                <a:solidFill>
                  <a:srgbClr val="687C6C"/>
                </a:solidFill>
                <a:latin typeface="Arial"/>
                <a:ea typeface="Arial"/>
                <a:cs typeface="Arial"/>
              </a:defRPr>
            </a:lvl1pPr>
            <a:lvl2pPr algn="l">
              <a:defRPr sz="1650" b="0">
                <a:solidFill>
                  <a:srgbClr val="687C6C"/>
                </a:solidFill>
                <a:latin typeface="Arial"/>
                <a:ea typeface="Arial"/>
                <a:cs typeface="Arial"/>
              </a:defRPr>
            </a:lvl2pPr>
            <a:lvl3pPr algn="l">
              <a:defRPr sz="1650" b="0">
                <a:solidFill>
                  <a:srgbClr val="687C6C"/>
                </a:solidFill>
                <a:latin typeface="Arial"/>
                <a:ea typeface="Arial"/>
                <a:cs typeface="Arial"/>
              </a:defRPr>
            </a:lvl3pPr>
            <a:lvl4pPr algn="l">
              <a:defRPr sz="1650" b="0">
                <a:solidFill>
                  <a:srgbClr val="687C6C"/>
                </a:solidFill>
                <a:latin typeface="Arial"/>
                <a:ea typeface="Arial"/>
                <a:cs typeface="Arial"/>
              </a:defRPr>
            </a:lvl4pPr>
            <a:lvl5pPr algn="l">
              <a:defRPr sz="1650" b="0">
                <a:solidFill>
                  <a:srgbClr val="687C6C"/>
                </a:solidFill>
                <a:latin typeface="Arial"/>
                <a:ea typeface="Arial"/>
                <a:cs typeface="Arial"/>
              </a:defRPr>
            </a:lvl5pPr>
            <a:lvl6pPr algn="l">
              <a:defRPr sz="1650" b="0">
                <a:solidFill>
                  <a:srgbClr val="687C6C"/>
                </a:solidFill>
                <a:latin typeface="Arial"/>
                <a:ea typeface="Arial"/>
                <a:cs typeface="Arial"/>
              </a:defRPr>
            </a:lvl6pPr>
            <a:lvl7pPr algn="l">
              <a:defRPr sz="1650" b="0">
                <a:solidFill>
                  <a:srgbClr val="687C6C"/>
                </a:solidFill>
                <a:latin typeface="Arial"/>
                <a:ea typeface="Arial"/>
                <a:cs typeface="Arial"/>
              </a:defRPr>
            </a:lvl7pPr>
            <a:lvl8pPr algn="l">
              <a:defRPr sz="1650" b="0">
                <a:solidFill>
                  <a:srgbClr val="687C6C"/>
                </a:solidFill>
                <a:latin typeface="Arial"/>
                <a:ea typeface="Arial"/>
                <a:cs typeface="Arial"/>
              </a:defRPr>
            </a:lvl8pPr>
            <a:lvl9pPr algn="l">
              <a:defRPr sz="1650" b="0">
                <a:solidFill>
                  <a:srgbClr val="687C6C"/>
                </a:solidFill>
                <a:latin typeface="Arial"/>
                <a:ea typeface="Arial"/>
                <a:cs typeface="Arial"/>
              </a:defRPr>
            </a:lvl9pPr>
          </a:lstStyle>
          <a:p xmlns:a="http://schemas.openxmlformats.org/drawingml/2006/main">
            <a:pPr algn="l">
              <a:defRPr sz="1650" b="0">
                <a:solidFill>
                  <a:srgbClr val="687C6C"/>
                </a:solidFill>
                <a:latin typeface="Arial"/>
                <a:ea typeface="Arial"/>
                <a:cs typeface="Arial"/>
              </a:defRPr>
            </a:pPr>
            <a:r>
              <a:rPr sz="1650" b="0">
                <a:solidFill>
                  <a:srgbClr val="687C6C"/>
                </a:solidFill>
                <a:latin typeface="Arial"/>
                <a:ea typeface="Arial"/>
                <a:cs typeface="Arial"/>
              </a:rPr>
              <a:t>Forecast for 1 Jun 2025</a:t>
            </a:r>
          </a:p>
        </p:txBody>
      </p:sp>
      <p:sp>
        <p:nvSpPr>
          <p:cNvPr id="9" name="Historical transformation">
            <a:extLst xmlns:a="http://schemas.openxmlformats.org/drawingml/2006/main">
              <a:ext uri="{FF2B5EF4-FFF2-40B4-BE49-F238E27FC236}">
                <a16:creationId xmlns:a16="http://schemas.microsoft.com/office/drawing/2014/main" id="{4674E993-7F86-4714-A9DD-A18035D8095E}"/>
              </a:ext>
            </a:extLst>
          </p:cNvPr>
          <p:cNvSpPr>
            <a:spLocks xmlns:a="http://schemas.openxmlformats.org/drawingml/2006/main" noGrp="1"/>
          </p:cNvSpPr>
          <p:nvPr/>
        </p:nvSpPr>
        <p:spPr>
          <a:xfrm xmlns:a="http://schemas.openxmlformats.org/drawingml/2006/main">
            <a:off x="733425" y="3343275"/>
            <a:ext cx="5000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E36"/>
                </a:solidFill>
                <a:latin typeface="Arial"/>
                <a:ea typeface="Arial"/>
                <a:cs typeface="Arial"/>
              </a:defRPr>
            </a:defPPr>
            <a:lvl1pPr algn="l">
              <a:defRPr sz="2100" b="0">
                <a:solidFill>
                  <a:srgbClr val="173E36"/>
                </a:solidFill>
                <a:latin typeface="Arial"/>
                <a:ea typeface="Arial"/>
                <a:cs typeface="Arial"/>
              </a:defRPr>
            </a:lvl1pPr>
            <a:lvl2pPr algn="l">
              <a:defRPr sz="2100" b="0">
                <a:solidFill>
                  <a:srgbClr val="173E36"/>
                </a:solidFill>
                <a:latin typeface="Arial"/>
                <a:ea typeface="Arial"/>
                <a:cs typeface="Arial"/>
              </a:defRPr>
            </a:lvl2pPr>
            <a:lvl3pPr algn="l">
              <a:defRPr sz="2100" b="0">
                <a:solidFill>
                  <a:srgbClr val="173E36"/>
                </a:solidFill>
                <a:latin typeface="Arial"/>
                <a:ea typeface="Arial"/>
                <a:cs typeface="Arial"/>
              </a:defRPr>
            </a:lvl3pPr>
            <a:lvl4pPr algn="l">
              <a:defRPr sz="2100" b="0">
                <a:solidFill>
                  <a:srgbClr val="173E36"/>
                </a:solidFill>
                <a:latin typeface="Arial"/>
                <a:ea typeface="Arial"/>
                <a:cs typeface="Arial"/>
              </a:defRPr>
            </a:lvl4pPr>
            <a:lvl5pPr algn="l">
              <a:defRPr sz="2100" b="0">
                <a:solidFill>
                  <a:srgbClr val="173E36"/>
                </a:solidFill>
                <a:latin typeface="Arial"/>
                <a:ea typeface="Arial"/>
                <a:cs typeface="Arial"/>
              </a:defRPr>
            </a:lvl5pPr>
            <a:lvl6pPr algn="l">
              <a:defRPr sz="2100" b="0">
                <a:solidFill>
                  <a:srgbClr val="173E36"/>
                </a:solidFill>
                <a:latin typeface="Arial"/>
                <a:ea typeface="Arial"/>
                <a:cs typeface="Arial"/>
              </a:defRPr>
            </a:lvl6pPr>
            <a:lvl7pPr algn="l">
              <a:defRPr sz="2100" b="0">
                <a:solidFill>
                  <a:srgbClr val="173E36"/>
                </a:solidFill>
                <a:latin typeface="Arial"/>
                <a:ea typeface="Arial"/>
                <a:cs typeface="Arial"/>
              </a:defRPr>
            </a:lvl7pPr>
            <a:lvl8pPr algn="l">
              <a:defRPr sz="2100" b="0">
                <a:solidFill>
                  <a:srgbClr val="173E36"/>
                </a:solidFill>
                <a:latin typeface="Arial"/>
                <a:ea typeface="Arial"/>
                <a:cs typeface="Arial"/>
              </a:defRPr>
            </a:lvl8pPr>
            <a:lvl9pPr algn="l">
              <a:defRPr sz="2100" b="0">
                <a:solidFill>
                  <a:srgbClr val="173E36"/>
                </a:solidFill>
                <a:latin typeface="Arial"/>
                <a:ea typeface="Arial"/>
                <a:cs typeface="Arial"/>
              </a:defRPr>
            </a:lvl9pPr>
          </a:lstStyle>
          <a:p xmlns:a="http://schemas.openxmlformats.org/drawingml/2006/main">
            <a:pPr algn="l">
              <a:defRPr sz="2100" b="0">
                <a:solidFill>
                  <a:srgbClr val="173E36"/>
                </a:solidFill>
                <a:latin typeface="Arial"/>
                <a:ea typeface="Arial"/>
                <a:cs typeface="Arial"/>
              </a:defRPr>
            </a:pPr>
            <a:r>
              <a:rPr sz="2100" b="0">
                <a:solidFill>
                  <a:srgbClr val="173E36"/>
                </a:solidFill>
                <a:latin typeface="Arial"/>
                <a:ea typeface="Arial"/>
                <a:cs typeface="Arial"/>
              </a:rPr>
              <a:t>log1p and standardization</a:t>
            </a:r>
          </a:p>
          <a:p xmlns:a="http://schemas.openxmlformats.org/drawingml/2006/main">
            <a:pPr algn="l">
              <a:defRPr sz="2100" b="0">
                <a:solidFill>
                  <a:srgbClr val="173E36"/>
                </a:solidFill>
                <a:latin typeface="Arial"/>
                <a:ea typeface="Arial"/>
                <a:cs typeface="Arial"/>
              </a:defRPr>
            </a:pPr>
            <a:r>
              <a:rPr sz="2100" b="0">
                <a:solidFill>
                  <a:srgbClr val="173E36"/>
                </a:solidFill>
                <a:latin typeface="Arial"/>
                <a:ea typeface="Arial"/>
                <a:cs typeface="Arial"/>
              </a:rPr>
              <a:t>Logistic regression</a:t>
            </a:r>
          </a:p>
        </p:txBody>
      </p:sp>
      <p:sp>
        <p:nvSpPr>
          <p:cNvPr id="10" name="Historical output">
            <a:extLst xmlns:a="http://schemas.openxmlformats.org/drawingml/2006/main">
              <a:ext uri="{FF2B5EF4-FFF2-40B4-BE49-F238E27FC236}">
                <a16:creationId xmlns:a16="http://schemas.microsoft.com/office/drawing/2014/main" id="{1F7A67B2-CCC1-4D39-AE04-8DF4532DE03A}"/>
              </a:ext>
            </a:extLst>
          </p:cNvPr>
          <p:cNvSpPr>
            <a:spLocks xmlns:a="http://schemas.openxmlformats.org/drawingml/2006/main" noGrp="1"/>
          </p:cNvSpPr>
          <p:nvPr/>
        </p:nvSpPr>
        <p:spPr>
          <a:xfrm xmlns:a="http://schemas.openxmlformats.org/drawingml/2006/main">
            <a:off x="714375" y="4333875"/>
            <a:ext cx="3810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286C60"/>
                </a:solidFill>
                <a:latin typeface="Arial"/>
                <a:ea typeface="Arial"/>
                <a:cs typeface="Arial"/>
              </a:defRPr>
            </a:defPPr>
            <a:lvl1pPr algn="l">
              <a:defRPr sz="4500" b="1">
                <a:solidFill>
                  <a:srgbClr val="286C60"/>
                </a:solidFill>
                <a:latin typeface="Arial"/>
                <a:ea typeface="Arial"/>
                <a:cs typeface="Arial"/>
              </a:defRPr>
            </a:lvl1pPr>
            <a:lvl2pPr algn="l">
              <a:defRPr sz="4500" b="1">
                <a:solidFill>
                  <a:srgbClr val="286C60"/>
                </a:solidFill>
                <a:latin typeface="Arial"/>
                <a:ea typeface="Arial"/>
                <a:cs typeface="Arial"/>
              </a:defRPr>
            </a:lvl2pPr>
            <a:lvl3pPr algn="l">
              <a:defRPr sz="4500" b="1">
                <a:solidFill>
                  <a:srgbClr val="286C60"/>
                </a:solidFill>
                <a:latin typeface="Arial"/>
                <a:ea typeface="Arial"/>
                <a:cs typeface="Arial"/>
              </a:defRPr>
            </a:lvl3pPr>
            <a:lvl4pPr algn="l">
              <a:defRPr sz="4500" b="1">
                <a:solidFill>
                  <a:srgbClr val="286C60"/>
                </a:solidFill>
                <a:latin typeface="Arial"/>
                <a:ea typeface="Arial"/>
                <a:cs typeface="Arial"/>
              </a:defRPr>
            </a:lvl4pPr>
            <a:lvl5pPr algn="l">
              <a:defRPr sz="4500" b="1">
                <a:solidFill>
                  <a:srgbClr val="286C60"/>
                </a:solidFill>
                <a:latin typeface="Arial"/>
                <a:ea typeface="Arial"/>
                <a:cs typeface="Arial"/>
              </a:defRPr>
            </a:lvl5pPr>
            <a:lvl6pPr algn="l">
              <a:defRPr sz="4500" b="1">
                <a:solidFill>
                  <a:srgbClr val="286C60"/>
                </a:solidFill>
                <a:latin typeface="Arial"/>
                <a:ea typeface="Arial"/>
                <a:cs typeface="Arial"/>
              </a:defRPr>
            </a:lvl6pPr>
            <a:lvl7pPr algn="l">
              <a:defRPr sz="4500" b="1">
                <a:solidFill>
                  <a:srgbClr val="286C60"/>
                </a:solidFill>
                <a:latin typeface="Arial"/>
                <a:ea typeface="Arial"/>
                <a:cs typeface="Arial"/>
              </a:defRPr>
            </a:lvl7pPr>
            <a:lvl8pPr algn="l">
              <a:defRPr sz="4500" b="1">
                <a:solidFill>
                  <a:srgbClr val="286C60"/>
                </a:solidFill>
                <a:latin typeface="Arial"/>
                <a:ea typeface="Arial"/>
                <a:cs typeface="Arial"/>
              </a:defRPr>
            </a:lvl8pPr>
            <a:lvl9pPr algn="l">
              <a:defRPr sz="4500" b="1">
                <a:solidFill>
                  <a:srgbClr val="286C60"/>
                </a:solidFill>
                <a:latin typeface="Arial"/>
                <a:ea typeface="Arial"/>
                <a:cs typeface="Arial"/>
              </a:defRPr>
            </a:lvl9pPr>
          </a:lstStyle>
          <a:p xmlns:a="http://schemas.openxmlformats.org/drawingml/2006/main">
            <a:pPr algn="l">
              <a:defRPr sz="4500" b="1">
                <a:solidFill>
                  <a:srgbClr val="286C60"/>
                </a:solidFill>
                <a:latin typeface="Arial"/>
                <a:ea typeface="Arial"/>
                <a:cs typeface="Arial"/>
              </a:defRPr>
            </a:pPr>
            <a:r>
              <a:rPr sz="4500" b="1">
                <a:solidFill>
                  <a:srgbClr val="286C60"/>
                </a:solidFill>
                <a:latin typeface="Arial"/>
                <a:ea typeface="Arial"/>
                <a:cs typeface="Arial"/>
              </a:rPr>
              <a:t>67.9%</a:t>
            </a:r>
          </a:p>
        </p:txBody>
      </p:sp>
      <p:sp>
        <p:nvSpPr>
          <p:cNvPr id="11" name="Historical meaning">
            <a:extLst xmlns:a="http://schemas.openxmlformats.org/drawingml/2006/main">
              <a:ext uri="{FF2B5EF4-FFF2-40B4-BE49-F238E27FC236}">
                <a16:creationId xmlns:a16="http://schemas.microsoft.com/office/drawing/2014/main" id="{A579042D-999D-4031-8B02-2FD438E9D1BC}"/>
              </a:ext>
            </a:extLst>
          </p:cNvPr>
          <p:cNvSpPr>
            <a:spLocks xmlns:a="http://schemas.openxmlformats.org/drawingml/2006/main" noGrp="1"/>
          </p:cNvSpPr>
          <p:nvPr/>
        </p:nvSpPr>
        <p:spPr>
          <a:xfrm xmlns:a="http://schemas.openxmlformats.org/drawingml/2006/main">
            <a:off x="733425" y="51339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E36"/>
                </a:solidFill>
                <a:latin typeface="Arial"/>
                <a:ea typeface="Arial"/>
                <a:cs typeface="Arial"/>
              </a:defRPr>
            </a:defPPr>
            <a:lvl1pPr algn="l">
              <a:defRPr sz="1725" b="0">
                <a:solidFill>
                  <a:srgbClr val="173E36"/>
                </a:solidFill>
                <a:latin typeface="Arial"/>
                <a:ea typeface="Arial"/>
                <a:cs typeface="Arial"/>
              </a:defRPr>
            </a:lvl1pPr>
            <a:lvl2pPr algn="l">
              <a:defRPr sz="1725" b="0">
                <a:solidFill>
                  <a:srgbClr val="173E36"/>
                </a:solidFill>
                <a:latin typeface="Arial"/>
                <a:ea typeface="Arial"/>
                <a:cs typeface="Arial"/>
              </a:defRPr>
            </a:lvl2pPr>
            <a:lvl3pPr algn="l">
              <a:defRPr sz="1725" b="0">
                <a:solidFill>
                  <a:srgbClr val="173E36"/>
                </a:solidFill>
                <a:latin typeface="Arial"/>
                <a:ea typeface="Arial"/>
                <a:cs typeface="Arial"/>
              </a:defRPr>
            </a:lvl3pPr>
            <a:lvl4pPr algn="l">
              <a:defRPr sz="1725" b="0">
                <a:solidFill>
                  <a:srgbClr val="173E36"/>
                </a:solidFill>
                <a:latin typeface="Arial"/>
                <a:ea typeface="Arial"/>
                <a:cs typeface="Arial"/>
              </a:defRPr>
            </a:lvl4pPr>
            <a:lvl5pPr algn="l">
              <a:defRPr sz="1725" b="0">
                <a:solidFill>
                  <a:srgbClr val="173E36"/>
                </a:solidFill>
                <a:latin typeface="Arial"/>
                <a:ea typeface="Arial"/>
                <a:cs typeface="Arial"/>
              </a:defRPr>
            </a:lvl5pPr>
            <a:lvl6pPr algn="l">
              <a:defRPr sz="1725" b="0">
                <a:solidFill>
                  <a:srgbClr val="173E36"/>
                </a:solidFill>
                <a:latin typeface="Arial"/>
                <a:ea typeface="Arial"/>
                <a:cs typeface="Arial"/>
              </a:defRPr>
            </a:lvl6pPr>
            <a:lvl7pPr algn="l">
              <a:defRPr sz="1725" b="0">
                <a:solidFill>
                  <a:srgbClr val="173E36"/>
                </a:solidFill>
                <a:latin typeface="Arial"/>
                <a:ea typeface="Arial"/>
                <a:cs typeface="Arial"/>
              </a:defRPr>
            </a:lvl7pPr>
            <a:lvl8pPr algn="l">
              <a:defRPr sz="1725" b="0">
                <a:solidFill>
                  <a:srgbClr val="173E36"/>
                </a:solidFill>
                <a:latin typeface="Arial"/>
                <a:ea typeface="Arial"/>
                <a:cs typeface="Arial"/>
              </a:defRPr>
            </a:lvl8pPr>
            <a:lvl9pPr algn="l">
              <a:defRPr sz="1725" b="0">
                <a:solidFill>
                  <a:srgbClr val="173E36"/>
                </a:solidFill>
                <a:latin typeface="Arial"/>
                <a:ea typeface="Arial"/>
                <a:cs typeface="Arial"/>
              </a:defRPr>
            </a:lvl9pPr>
          </a:lstStyle>
          <a:p xmlns:a="http://schemas.openxmlformats.org/drawingml/2006/main">
            <a:pPr algn="l">
              <a:defRPr sz="1725" b="0">
                <a:solidFill>
                  <a:srgbClr val="173E36"/>
                </a:solidFill>
                <a:latin typeface="Arial"/>
                <a:ea typeface="Arial"/>
                <a:cs typeface="Arial"/>
              </a:defRPr>
            </a:pPr>
            <a:r>
              <a:rPr sz="1725" b="0">
                <a:solidFill>
                  <a:srgbClr val="173E36"/>
                </a:solidFill>
                <a:latin typeface="Arial"/>
                <a:ea typeface="Arial"/>
                <a:cs typeface="Arial"/>
              </a:rPr>
              <a:t>P(reference daily rainfall ≥ 25 mm)</a:t>
            </a:r>
          </a:p>
        </p:txBody>
      </p:sp>
      <p:sp>
        <p:nvSpPr>
          <p:cNvPr id="12" name="Historical splits">
            <a:extLst xmlns:a="http://schemas.openxmlformats.org/drawingml/2006/main">
              <a:ext uri="{FF2B5EF4-FFF2-40B4-BE49-F238E27FC236}">
                <a16:creationId xmlns:a16="http://schemas.microsoft.com/office/drawing/2014/main" id="{B525F418-8009-4FF2-ACD8-ED5C0A1339BD}"/>
              </a:ext>
            </a:extLst>
          </p:cNvPr>
          <p:cNvSpPr>
            <a:spLocks xmlns:a="http://schemas.openxmlformats.org/drawingml/2006/main" noGrp="1"/>
          </p:cNvSpPr>
          <p:nvPr/>
        </p:nvSpPr>
        <p:spPr>
          <a:xfrm xmlns:a="http://schemas.openxmlformats.org/drawingml/2006/main">
            <a:off x="733425" y="56673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C6C"/>
                </a:solidFill>
                <a:latin typeface="Arial"/>
                <a:ea typeface="Arial"/>
                <a:cs typeface="Arial"/>
              </a:defRPr>
            </a:defPPr>
            <a:lvl1pPr algn="l">
              <a:defRPr sz="1575" b="0">
                <a:solidFill>
                  <a:srgbClr val="687C6C"/>
                </a:solidFill>
                <a:latin typeface="Arial"/>
                <a:ea typeface="Arial"/>
                <a:cs typeface="Arial"/>
              </a:defRPr>
            </a:lvl1pPr>
            <a:lvl2pPr algn="l">
              <a:defRPr sz="1575" b="0">
                <a:solidFill>
                  <a:srgbClr val="687C6C"/>
                </a:solidFill>
                <a:latin typeface="Arial"/>
                <a:ea typeface="Arial"/>
                <a:cs typeface="Arial"/>
              </a:defRPr>
            </a:lvl2pPr>
            <a:lvl3pPr algn="l">
              <a:defRPr sz="1575" b="0">
                <a:solidFill>
                  <a:srgbClr val="687C6C"/>
                </a:solidFill>
                <a:latin typeface="Arial"/>
                <a:ea typeface="Arial"/>
                <a:cs typeface="Arial"/>
              </a:defRPr>
            </a:lvl3pPr>
            <a:lvl4pPr algn="l">
              <a:defRPr sz="1575" b="0">
                <a:solidFill>
                  <a:srgbClr val="687C6C"/>
                </a:solidFill>
                <a:latin typeface="Arial"/>
                <a:ea typeface="Arial"/>
                <a:cs typeface="Arial"/>
              </a:defRPr>
            </a:lvl4pPr>
            <a:lvl5pPr algn="l">
              <a:defRPr sz="1575" b="0">
                <a:solidFill>
                  <a:srgbClr val="687C6C"/>
                </a:solidFill>
                <a:latin typeface="Arial"/>
                <a:ea typeface="Arial"/>
                <a:cs typeface="Arial"/>
              </a:defRPr>
            </a:lvl5pPr>
            <a:lvl6pPr algn="l">
              <a:defRPr sz="1575" b="0">
                <a:solidFill>
                  <a:srgbClr val="687C6C"/>
                </a:solidFill>
                <a:latin typeface="Arial"/>
                <a:ea typeface="Arial"/>
                <a:cs typeface="Arial"/>
              </a:defRPr>
            </a:lvl6pPr>
            <a:lvl7pPr algn="l">
              <a:defRPr sz="1575" b="0">
                <a:solidFill>
                  <a:srgbClr val="687C6C"/>
                </a:solidFill>
                <a:latin typeface="Arial"/>
                <a:ea typeface="Arial"/>
                <a:cs typeface="Arial"/>
              </a:defRPr>
            </a:lvl7pPr>
            <a:lvl8pPr algn="l">
              <a:defRPr sz="1575" b="0">
                <a:solidFill>
                  <a:srgbClr val="687C6C"/>
                </a:solidFill>
                <a:latin typeface="Arial"/>
                <a:ea typeface="Arial"/>
                <a:cs typeface="Arial"/>
              </a:defRPr>
            </a:lvl8pPr>
            <a:lvl9pPr algn="l">
              <a:defRPr sz="1575" b="0">
                <a:solidFill>
                  <a:srgbClr val="687C6C"/>
                </a:solidFill>
                <a:latin typeface="Arial"/>
                <a:ea typeface="Arial"/>
                <a:cs typeface="Arial"/>
              </a:defRPr>
            </a:lvl9pPr>
          </a:lstStyle>
          <a:p xmlns:a="http://schemas.openxmlformats.org/drawingml/2006/main">
            <a:pPr algn="l">
              <a:defRPr sz="1575" b="0">
                <a:solidFill>
                  <a:srgbClr val="687C6C"/>
                </a:solidFill>
                <a:latin typeface="Arial"/>
                <a:ea typeface="Arial"/>
                <a:cs typeface="Arial"/>
              </a:defRPr>
            </a:pPr>
            <a:r>
              <a:rPr sz="1575" b="0">
                <a:solidFill>
                  <a:srgbClr val="687C6C"/>
                </a:solidFill>
                <a:latin typeface="Arial"/>
                <a:ea typeface="Arial"/>
                <a:cs typeface="Arial"/>
              </a:rPr>
              <a:t>Train 276 days, validation 120 days</a:t>
            </a:r>
          </a:p>
          <a:p xmlns:a="http://schemas.openxmlformats.org/drawingml/2006/main">
            <a:pPr algn="l">
              <a:defRPr sz="1575" b="0">
                <a:solidFill>
                  <a:srgbClr val="687C6C"/>
                </a:solidFill>
                <a:latin typeface="Arial"/>
                <a:ea typeface="Arial"/>
                <a:cs typeface="Arial"/>
              </a:defRPr>
            </a:pPr>
            <a:r>
              <a:rPr sz="1575" b="0">
                <a:solidFill>
                  <a:srgbClr val="687C6C"/>
                </a:solidFill>
                <a:latin typeface="Arial"/>
                <a:ea typeface="Arial"/>
                <a:cs typeface="Arial"/>
              </a:rPr>
              <a:t>Test 240 days with 18 events</a:t>
            </a:r>
          </a:p>
        </p:txBody>
      </p:sp>
      <p:sp>
        <p:nvSpPr>
          <p:cNvPr id="13" name="Online dimensions">
            <a:extLst xmlns:a="http://schemas.openxmlformats.org/drawingml/2006/main">
              <a:ext uri="{FF2B5EF4-FFF2-40B4-BE49-F238E27FC236}">
                <a16:creationId xmlns:a16="http://schemas.microsoft.com/office/drawing/2014/main" id="{A84B8BA5-3696-4B91-8581-2CA68DB2274D}"/>
              </a:ext>
            </a:extLst>
          </p:cNvPr>
          <p:cNvSpPr>
            <a:spLocks xmlns:a="http://schemas.openxmlformats.org/drawingml/2006/main" noGrp="1"/>
          </p:cNvSpPr>
          <p:nvPr/>
        </p:nvSpPr>
        <p:spPr>
          <a:xfrm xmlns:a="http://schemas.openxmlformats.org/drawingml/2006/main">
            <a:off x="6477000" y="216217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73E36"/>
                </a:solidFill>
                <a:latin typeface="Arial"/>
                <a:ea typeface="Arial"/>
                <a:cs typeface="Arial"/>
              </a:defRPr>
            </a:defPPr>
            <a:lvl1pPr algn="l">
              <a:defRPr sz="2850" b="1">
                <a:solidFill>
                  <a:srgbClr val="173E36"/>
                </a:solidFill>
                <a:latin typeface="Arial"/>
                <a:ea typeface="Arial"/>
                <a:cs typeface="Arial"/>
              </a:defRPr>
            </a:lvl1pPr>
            <a:lvl2pPr algn="l">
              <a:defRPr sz="2850" b="1">
                <a:solidFill>
                  <a:srgbClr val="173E36"/>
                </a:solidFill>
                <a:latin typeface="Arial"/>
                <a:ea typeface="Arial"/>
                <a:cs typeface="Arial"/>
              </a:defRPr>
            </a:lvl2pPr>
            <a:lvl3pPr algn="l">
              <a:defRPr sz="2850" b="1">
                <a:solidFill>
                  <a:srgbClr val="173E36"/>
                </a:solidFill>
                <a:latin typeface="Arial"/>
                <a:ea typeface="Arial"/>
                <a:cs typeface="Arial"/>
              </a:defRPr>
            </a:lvl3pPr>
            <a:lvl4pPr algn="l">
              <a:defRPr sz="2850" b="1">
                <a:solidFill>
                  <a:srgbClr val="173E36"/>
                </a:solidFill>
                <a:latin typeface="Arial"/>
                <a:ea typeface="Arial"/>
                <a:cs typeface="Arial"/>
              </a:defRPr>
            </a:lvl4pPr>
            <a:lvl5pPr algn="l">
              <a:defRPr sz="2850" b="1">
                <a:solidFill>
                  <a:srgbClr val="173E36"/>
                </a:solidFill>
                <a:latin typeface="Arial"/>
                <a:ea typeface="Arial"/>
                <a:cs typeface="Arial"/>
              </a:defRPr>
            </a:lvl5pPr>
            <a:lvl6pPr algn="l">
              <a:defRPr sz="2850" b="1">
                <a:solidFill>
                  <a:srgbClr val="173E36"/>
                </a:solidFill>
                <a:latin typeface="Arial"/>
                <a:ea typeface="Arial"/>
                <a:cs typeface="Arial"/>
              </a:defRPr>
            </a:lvl6pPr>
            <a:lvl7pPr algn="l">
              <a:defRPr sz="2850" b="1">
                <a:solidFill>
                  <a:srgbClr val="173E36"/>
                </a:solidFill>
                <a:latin typeface="Arial"/>
                <a:ea typeface="Arial"/>
                <a:cs typeface="Arial"/>
              </a:defRPr>
            </a:lvl7pPr>
            <a:lvl8pPr algn="l">
              <a:defRPr sz="2850" b="1">
                <a:solidFill>
                  <a:srgbClr val="173E36"/>
                </a:solidFill>
                <a:latin typeface="Arial"/>
                <a:ea typeface="Arial"/>
                <a:cs typeface="Arial"/>
              </a:defRPr>
            </a:lvl8pPr>
            <a:lvl9pPr algn="l">
              <a:defRPr sz="2850" b="1">
                <a:solidFill>
                  <a:srgbClr val="173E36"/>
                </a:solidFill>
                <a:latin typeface="Arial"/>
                <a:ea typeface="Arial"/>
                <a:cs typeface="Arial"/>
              </a:defRPr>
            </a:lvl9pPr>
          </a:lstStyle>
          <a:p xmlns:a="http://schemas.openxmlformats.org/drawingml/2006/main">
            <a:pPr algn="l">
              <a:defRPr sz="2850" b="1">
                <a:solidFill>
                  <a:srgbClr val="173E36"/>
                </a:solidFill>
                <a:latin typeface="Arial"/>
                <a:ea typeface="Arial"/>
                <a:cs typeface="Arial"/>
              </a:defRPr>
            </a:pPr>
            <a:r>
              <a:rPr sz="2850" b="1">
                <a:solidFill>
                  <a:srgbClr val="173E36"/>
                </a:solidFill>
                <a:latin typeface="Arial"/>
                <a:ea typeface="Arial"/>
                <a:cs typeface="Arial"/>
              </a:rPr>
              <a:t>51 members × 24 hours</a:t>
            </a:r>
          </a:p>
        </p:txBody>
      </p:sp>
      <p:sp>
        <p:nvSpPr>
          <p:cNvPr id="14" name="Online window">
            <a:extLst xmlns:a="http://schemas.openxmlformats.org/drawingml/2006/main">
              <a:ext uri="{FF2B5EF4-FFF2-40B4-BE49-F238E27FC236}">
                <a16:creationId xmlns:a16="http://schemas.microsoft.com/office/drawing/2014/main" id="{63566A39-84DD-4FE0-AFC9-841C62FC8788}"/>
              </a:ext>
            </a:extLst>
          </p:cNvPr>
          <p:cNvSpPr>
            <a:spLocks xmlns:a="http://schemas.openxmlformats.org/drawingml/2006/main" noGrp="1"/>
          </p:cNvSpPr>
          <p:nvPr/>
        </p:nvSpPr>
        <p:spPr>
          <a:xfrm xmlns:a="http://schemas.openxmlformats.org/drawingml/2006/main">
            <a:off x="6486525" y="28194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7C6C"/>
                </a:solidFill>
                <a:latin typeface="Arial"/>
                <a:ea typeface="Arial"/>
                <a:cs typeface="Arial"/>
              </a:defRPr>
            </a:defPPr>
            <a:lvl1pPr algn="l">
              <a:defRPr sz="1575" b="0">
                <a:solidFill>
                  <a:srgbClr val="687C6C"/>
                </a:solidFill>
                <a:latin typeface="Arial"/>
                <a:ea typeface="Arial"/>
                <a:cs typeface="Arial"/>
              </a:defRPr>
            </a:lvl1pPr>
            <a:lvl2pPr algn="l">
              <a:defRPr sz="1575" b="0">
                <a:solidFill>
                  <a:srgbClr val="687C6C"/>
                </a:solidFill>
                <a:latin typeface="Arial"/>
                <a:ea typeface="Arial"/>
                <a:cs typeface="Arial"/>
              </a:defRPr>
            </a:lvl2pPr>
            <a:lvl3pPr algn="l">
              <a:defRPr sz="1575" b="0">
                <a:solidFill>
                  <a:srgbClr val="687C6C"/>
                </a:solidFill>
                <a:latin typeface="Arial"/>
                <a:ea typeface="Arial"/>
                <a:cs typeface="Arial"/>
              </a:defRPr>
            </a:lvl3pPr>
            <a:lvl4pPr algn="l">
              <a:defRPr sz="1575" b="0">
                <a:solidFill>
                  <a:srgbClr val="687C6C"/>
                </a:solidFill>
                <a:latin typeface="Arial"/>
                <a:ea typeface="Arial"/>
                <a:cs typeface="Arial"/>
              </a:defRPr>
            </a:lvl4pPr>
            <a:lvl5pPr algn="l">
              <a:defRPr sz="1575" b="0">
                <a:solidFill>
                  <a:srgbClr val="687C6C"/>
                </a:solidFill>
                <a:latin typeface="Arial"/>
                <a:ea typeface="Arial"/>
                <a:cs typeface="Arial"/>
              </a:defRPr>
            </a:lvl5pPr>
            <a:lvl6pPr algn="l">
              <a:defRPr sz="1575" b="0">
                <a:solidFill>
                  <a:srgbClr val="687C6C"/>
                </a:solidFill>
                <a:latin typeface="Arial"/>
                <a:ea typeface="Arial"/>
                <a:cs typeface="Arial"/>
              </a:defRPr>
            </a:lvl6pPr>
            <a:lvl7pPr algn="l">
              <a:defRPr sz="1575" b="0">
                <a:solidFill>
                  <a:srgbClr val="687C6C"/>
                </a:solidFill>
                <a:latin typeface="Arial"/>
                <a:ea typeface="Arial"/>
                <a:cs typeface="Arial"/>
              </a:defRPr>
            </a:lvl7pPr>
            <a:lvl8pPr algn="l">
              <a:defRPr sz="1575" b="0">
                <a:solidFill>
                  <a:srgbClr val="687C6C"/>
                </a:solidFill>
                <a:latin typeface="Arial"/>
                <a:ea typeface="Arial"/>
                <a:cs typeface="Arial"/>
              </a:defRPr>
            </a:lvl8pPr>
            <a:lvl9pPr algn="l">
              <a:defRPr sz="1575" b="0">
                <a:solidFill>
                  <a:srgbClr val="687C6C"/>
                </a:solidFill>
                <a:latin typeface="Arial"/>
                <a:ea typeface="Arial"/>
                <a:cs typeface="Arial"/>
              </a:defRPr>
            </a:lvl9pPr>
          </a:lstStyle>
          <a:p xmlns:a="http://schemas.openxmlformats.org/drawingml/2006/main">
            <a:pPr algn="l">
              <a:defRPr sz="1575" b="0">
                <a:solidFill>
                  <a:srgbClr val="687C6C"/>
                </a:solidFill>
                <a:latin typeface="Arial"/>
                <a:ea typeface="Arial"/>
                <a:cs typeface="Arial"/>
              </a:defRPr>
            </a:pPr>
            <a:r>
              <a:rPr sz="1575" b="0">
                <a:solidFill>
                  <a:srgbClr val="687C6C"/>
                </a:solidFill>
                <a:latin typeface="Arial"/>
                <a:ea typeface="Arial"/>
                <a:cs typeface="Arial"/>
              </a:rPr>
              <a:t>20 Oct 08:00 to 21 Oct 08:00 (UTC+08)</a:t>
            </a:r>
          </a:p>
        </p:txBody>
      </p:sp>
      <p:sp>
        <p:nvSpPr>
          <p:cNvPr id="15" name="Online aggregation">
            <a:extLst xmlns:a="http://schemas.openxmlformats.org/drawingml/2006/main">
              <a:ext uri="{FF2B5EF4-FFF2-40B4-BE49-F238E27FC236}">
                <a16:creationId xmlns:a16="http://schemas.microsoft.com/office/drawing/2014/main" id="{851C97AE-AEEF-42EE-84B5-D7D61F0027CC}"/>
              </a:ext>
            </a:extLst>
          </p:cNvPr>
          <p:cNvSpPr>
            <a:spLocks xmlns:a="http://schemas.openxmlformats.org/drawingml/2006/main" noGrp="1"/>
          </p:cNvSpPr>
          <p:nvPr/>
        </p:nvSpPr>
        <p:spPr>
          <a:xfrm xmlns:a="http://schemas.openxmlformats.org/drawingml/2006/main">
            <a:off x="6486525" y="3343275"/>
            <a:ext cx="5000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E36"/>
                </a:solidFill>
                <a:latin typeface="Arial"/>
                <a:ea typeface="Arial"/>
                <a:cs typeface="Arial"/>
              </a:defRPr>
            </a:defPPr>
            <a:lvl1pPr algn="l">
              <a:defRPr sz="2025" b="0">
                <a:solidFill>
                  <a:srgbClr val="173E36"/>
                </a:solidFill>
                <a:latin typeface="Arial"/>
                <a:ea typeface="Arial"/>
                <a:cs typeface="Arial"/>
              </a:defRPr>
            </a:lvl1pPr>
            <a:lvl2pPr algn="l">
              <a:defRPr sz="2025" b="0">
                <a:solidFill>
                  <a:srgbClr val="173E36"/>
                </a:solidFill>
                <a:latin typeface="Arial"/>
                <a:ea typeface="Arial"/>
                <a:cs typeface="Arial"/>
              </a:defRPr>
            </a:lvl2pPr>
            <a:lvl3pPr algn="l">
              <a:defRPr sz="2025" b="0">
                <a:solidFill>
                  <a:srgbClr val="173E36"/>
                </a:solidFill>
                <a:latin typeface="Arial"/>
                <a:ea typeface="Arial"/>
                <a:cs typeface="Arial"/>
              </a:defRPr>
            </a:lvl3pPr>
            <a:lvl4pPr algn="l">
              <a:defRPr sz="2025" b="0">
                <a:solidFill>
                  <a:srgbClr val="173E36"/>
                </a:solidFill>
                <a:latin typeface="Arial"/>
                <a:ea typeface="Arial"/>
                <a:cs typeface="Arial"/>
              </a:defRPr>
            </a:lvl4pPr>
            <a:lvl5pPr algn="l">
              <a:defRPr sz="2025" b="0">
                <a:solidFill>
                  <a:srgbClr val="173E36"/>
                </a:solidFill>
                <a:latin typeface="Arial"/>
                <a:ea typeface="Arial"/>
                <a:cs typeface="Arial"/>
              </a:defRPr>
            </a:lvl5pPr>
            <a:lvl6pPr algn="l">
              <a:defRPr sz="2025" b="0">
                <a:solidFill>
                  <a:srgbClr val="173E36"/>
                </a:solidFill>
                <a:latin typeface="Arial"/>
                <a:ea typeface="Arial"/>
                <a:cs typeface="Arial"/>
              </a:defRPr>
            </a:lvl6pPr>
            <a:lvl7pPr algn="l">
              <a:defRPr sz="2025" b="0">
                <a:solidFill>
                  <a:srgbClr val="173E36"/>
                </a:solidFill>
                <a:latin typeface="Arial"/>
                <a:ea typeface="Arial"/>
                <a:cs typeface="Arial"/>
              </a:defRPr>
            </a:lvl7pPr>
            <a:lvl8pPr algn="l">
              <a:defRPr sz="2025" b="0">
                <a:solidFill>
                  <a:srgbClr val="173E36"/>
                </a:solidFill>
                <a:latin typeface="Arial"/>
                <a:ea typeface="Arial"/>
                <a:cs typeface="Arial"/>
              </a:defRPr>
            </a:lvl8pPr>
            <a:lvl9pPr algn="l">
              <a:defRPr sz="2025" b="0">
                <a:solidFill>
                  <a:srgbClr val="173E36"/>
                </a:solidFill>
                <a:latin typeface="Arial"/>
                <a:ea typeface="Arial"/>
                <a:cs typeface="Arial"/>
              </a:defRPr>
            </a:lvl9pPr>
          </a:lstStyle>
          <a:p xmlns:a="http://schemas.openxmlformats.org/drawingml/2006/main">
            <a:pPr algn="l">
              <a:defRPr sz="2025" b="0">
                <a:solidFill>
                  <a:srgbClr val="173E36"/>
                </a:solidFill>
                <a:latin typeface="Arial"/>
                <a:ea typeface="Arial"/>
                <a:cs typeface="Arial"/>
              </a:defRPr>
            </a:pPr>
            <a:r>
              <a:rPr sz="2025" b="0">
                <a:solidFill>
                  <a:srgbClr val="173E36"/>
                </a:solidFill>
                <a:latin typeface="Arial"/>
                <a:ea typeface="Arial"/>
                <a:cs typeface="Arial"/>
              </a:rPr>
              <a:t>Sum rain for each member</a:t>
            </a:r>
          </a:p>
          <a:p xmlns:a="http://schemas.openxmlformats.org/drawingml/2006/main">
            <a:pPr algn="l">
              <a:defRPr sz="2025" b="0">
                <a:solidFill>
                  <a:srgbClr val="173E36"/>
                </a:solidFill>
                <a:latin typeface="Arial"/>
                <a:ea typeface="Arial"/>
                <a:cs typeface="Arial"/>
              </a:defRPr>
            </a:pPr>
            <a:r>
              <a:rPr sz="2025" b="0">
                <a:solidFill>
                  <a:srgbClr val="173E36"/>
                </a:solidFill>
                <a:latin typeface="Arial"/>
                <a:ea typeface="Arial"/>
                <a:cs typeface="Arial"/>
              </a:rPr>
              <a:t>Count totals at or above 25 mm</a:t>
            </a:r>
          </a:p>
        </p:txBody>
      </p:sp>
      <p:sp>
        <p:nvSpPr>
          <p:cNvPr id="16" name="Online fraction">
            <a:extLst xmlns:a="http://schemas.openxmlformats.org/drawingml/2006/main">
              <a:ext uri="{FF2B5EF4-FFF2-40B4-BE49-F238E27FC236}">
                <a16:creationId xmlns:a16="http://schemas.microsoft.com/office/drawing/2014/main" id="{9986A976-775E-40F0-8328-FFD0FC021EB3}"/>
              </a:ext>
            </a:extLst>
          </p:cNvPr>
          <p:cNvSpPr>
            <a:spLocks xmlns:a="http://schemas.openxmlformats.org/drawingml/2006/main" noGrp="1"/>
          </p:cNvSpPr>
          <p:nvPr/>
        </p:nvSpPr>
        <p:spPr>
          <a:xfrm xmlns:a="http://schemas.openxmlformats.org/drawingml/2006/main">
            <a:off x="6467475" y="4333875"/>
            <a:ext cx="50292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86C60"/>
                </a:solidFill>
                <a:latin typeface="Arial"/>
                <a:ea typeface="Arial"/>
                <a:cs typeface="Arial"/>
              </a:defRPr>
            </a:defPPr>
            <a:lvl1pPr algn="l">
              <a:defRPr sz="4050" b="1">
                <a:solidFill>
                  <a:srgbClr val="286C60"/>
                </a:solidFill>
                <a:latin typeface="Arial"/>
                <a:ea typeface="Arial"/>
                <a:cs typeface="Arial"/>
              </a:defRPr>
            </a:lvl1pPr>
            <a:lvl2pPr algn="l">
              <a:defRPr sz="4050" b="1">
                <a:solidFill>
                  <a:srgbClr val="286C60"/>
                </a:solidFill>
                <a:latin typeface="Arial"/>
                <a:ea typeface="Arial"/>
                <a:cs typeface="Arial"/>
              </a:defRPr>
            </a:lvl2pPr>
            <a:lvl3pPr algn="l">
              <a:defRPr sz="4050" b="1">
                <a:solidFill>
                  <a:srgbClr val="286C60"/>
                </a:solidFill>
                <a:latin typeface="Arial"/>
                <a:ea typeface="Arial"/>
                <a:cs typeface="Arial"/>
              </a:defRPr>
            </a:lvl3pPr>
            <a:lvl4pPr algn="l">
              <a:defRPr sz="4050" b="1">
                <a:solidFill>
                  <a:srgbClr val="286C60"/>
                </a:solidFill>
                <a:latin typeface="Arial"/>
                <a:ea typeface="Arial"/>
                <a:cs typeface="Arial"/>
              </a:defRPr>
            </a:lvl4pPr>
            <a:lvl5pPr algn="l">
              <a:defRPr sz="4050" b="1">
                <a:solidFill>
                  <a:srgbClr val="286C60"/>
                </a:solidFill>
                <a:latin typeface="Arial"/>
                <a:ea typeface="Arial"/>
                <a:cs typeface="Arial"/>
              </a:defRPr>
            </a:lvl5pPr>
            <a:lvl6pPr algn="l">
              <a:defRPr sz="4050" b="1">
                <a:solidFill>
                  <a:srgbClr val="286C60"/>
                </a:solidFill>
                <a:latin typeface="Arial"/>
                <a:ea typeface="Arial"/>
                <a:cs typeface="Arial"/>
              </a:defRPr>
            </a:lvl6pPr>
            <a:lvl7pPr algn="l">
              <a:defRPr sz="4050" b="1">
                <a:solidFill>
                  <a:srgbClr val="286C60"/>
                </a:solidFill>
                <a:latin typeface="Arial"/>
                <a:ea typeface="Arial"/>
                <a:cs typeface="Arial"/>
              </a:defRPr>
            </a:lvl7pPr>
            <a:lvl8pPr algn="l">
              <a:defRPr sz="4050" b="1">
                <a:solidFill>
                  <a:srgbClr val="286C60"/>
                </a:solidFill>
                <a:latin typeface="Arial"/>
                <a:ea typeface="Arial"/>
                <a:cs typeface="Arial"/>
              </a:defRPr>
            </a:lvl8pPr>
            <a:lvl9pPr algn="l">
              <a:defRPr sz="4050" b="1">
                <a:solidFill>
                  <a:srgbClr val="286C60"/>
                </a:solidFill>
                <a:latin typeface="Arial"/>
                <a:ea typeface="Arial"/>
                <a:cs typeface="Arial"/>
              </a:defRPr>
            </a:lvl9pPr>
          </a:lstStyle>
          <a:p xmlns:a="http://schemas.openxmlformats.org/drawingml/2006/main">
            <a:pPr algn="l">
              <a:defRPr sz="4050" b="1">
                <a:solidFill>
                  <a:srgbClr val="286C60"/>
                </a:solidFill>
                <a:latin typeface="Arial"/>
                <a:ea typeface="Arial"/>
                <a:cs typeface="Arial"/>
              </a:defRPr>
            </a:pPr>
            <a:r>
              <a:rPr sz="4050" b="1">
                <a:solidFill>
                  <a:srgbClr val="286C60"/>
                </a:solidFill>
                <a:latin typeface="Arial"/>
                <a:ea typeface="Arial"/>
                <a:cs typeface="Arial"/>
              </a:rPr>
              <a:t>0 / 51 = 0%</a:t>
            </a:r>
          </a:p>
        </p:txBody>
      </p:sp>
      <p:sp>
        <p:nvSpPr>
          <p:cNvPr id="17" name="Online meaning">
            <a:extLst xmlns:a="http://schemas.openxmlformats.org/drawingml/2006/main">
              <a:ext uri="{FF2B5EF4-FFF2-40B4-BE49-F238E27FC236}">
                <a16:creationId xmlns:a16="http://schemas.microsoft.com/office/drawing/2014/main" id="{83FC46FF-6CA1-4AF0-8A47-DB49AC0F4FC5}"/>
              </a:ext>
            </a:extLst>
          </p:cNvPr>
          <p:cNvSpPr>
            <a:spLocks xmlns:a="http://schemas.openxmlformats.org/drawingml/2006/main" noGrp="1"/>
          </p:cNvSpPr>
          <p:nvPr/>
        </p:nvSpPr>
        <p:spPr>
          <a:xfrm xmlns:a="http://schemas.openxmlformats.org/drawingml/2006/main">
            <a:off x="6486525" y="5133975"/>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3E36"/>
                </a:solidFill>
                <a:latin typeface="Arial"/>
                <a:ea typeface="Arial"/>
                <a:cs typeface="Arial"/>
              </a:defRPr>
            </a:defPPr>
            <a:lvl1pPr algn="l">
              <a:defRPr sz="1650" b="0">
                <a:solidFill>
                  <a:srgbClr val="173E36"/>
                </a:solidFill>
                <a:latin typeface="Arial"/>
                <a:ea typeface="Arial"/>
                <a:cs typeface="Arial"/>
              </a:defRPr>
            </a:lvl1pPr>
            <a:lvl2pPr algn="l">
              <a:defRPr sz="1650" b="0">
                <a:solidFill>
                  <a:srgbClr val="173E36"/>
                </a:solidFill>
                <a:latin typeface="Arial"/>
                <a:ea typeface="Arial"/>
                <a:cs typeface="Arial"/>
              </a:defRPr>
            </a:lvl2pPr>
            <a:lvl3pPr algn="l">
              <a:defRPr sz="1650" b="0">
                <a:solidFill>
                  <a:srgbClr val="173E36"/>
                </a:solidFill>
                <a:latin typeface="Arial"/>
                <a:ea typeface="Arial"/>
                <a:cs typeface="Arial"/>
              </a:defRPr>
            </a:lvl3pPr>
            <a:lvl4pPr algn="l">
              <a:defRPr sz="1650" b="0">
                <a:solidFill>
                  <a:srgbClr val="173E36"/>
                </a:solidFill>
                <a:latin typeface="Arial"/>
                <a:ea typeface="Arial"/>
                <a:cs typeface="Arial"/>
              </a:defRPr>
            </a:lvl4pPr>
            <a:lvl5pPr algn="l">
              <a:defRPr sz="1650" b="0">
                <a:solidFill>
                  <a:srgbClr val="173E36"/>
                </a:solidFill>
                <a:latin typeface="Arial"/>
                <a:ea typeface="Arial"/>
                <a:cs typeface="Arial"/>
              </a:defRPr>
            </a:lvl5pPr>
            <a:lvl6pPr algn="l">
              <a:defRPr sz="1650" b="0">
                <a:solidFill>
                  <a:srgbClr val="173E36"/>
                </a:solidFill>
                <a:latin typeface="Arial"/>
                <a:ea typeface="Arial"/>
                <a:cs typeface="Arial"/>
              </a:defRPr>
            </a:lvl6pPr>
            <a:lvl7pPr algn="l">
              <a:defRPr sz="1650" b="0">
                <a:solidFill>
                  <a:srgbClr val="173E36"/>
                </a:solidFill>
                <a:latin typeface="Arial"/>
                <a:ea typeface="Arial"/>
                <a:cs typeface="Arial"/>
              </a:defRPr>
            </a:lvl7pPr>
            <a:lvl8pPr algn="l">
              <a:defRPr sz="1650" b="0">
                <a:solidFill>
                  <a:srgbClr val="173E36"/>
                </a:solidFill>
                <a:latin typeface="Arial"/>
                <a:ea typeface="Arial"/>
                <a:cs typeface="Arial"/>
              </a:defRPr>
            </a:lvl8pPr>
            <a:lvl9pPr algn="l">
              <a:defRPr sz="1650" b="0">
                <a:solidFill>
                  <a:srgbClr val="173E36"/>
                </a:solidFill>
                <a:latin typeface="Arial"/>
                <a:ea typeface="Arial"/>
                <a:cs typeface="Arial"/>
              </a:defRPr>
            </a:lvl9pPr>
          </a:lstStyle>
          <a:p xmlns:a="http://schemas.openxmlformats.org/drawingml/2006/main">
            <a:pPr algn="l">
              <a:defRPr sz="1650" b="0">
                <a:solidFill>
                  <a:srgbClr val="173E36"/>
                </a:solidFill>
                <a:latin typeface="Arial"/>
                <a:ea typeface="Arial"/>
                <a:cs typeface="Arial"/>
              </a:defRPr>
            </a:pPr>
            <a:r>
              <a:rPr sz="1650" b="0">
                <a:solidFill>
                  <a:srgbClr val="173E36"/>
                </a:solidFill>
                <a:latin typeface="Arial"/>
                <a:ea typeface="Arial"/>
                <a:cs typeface="Arial"/>
              </a:rPr>
              <a:t>Uncalibrated ensemble member fraction</a:t>
            </a:r>
          </a:p>
        </p:txBody>
      </p:sp>
      <p:sp>
        <p:nvSpPr>
          <p:cNvPr id="18" name="Online capture">
            <a:extLst xmlns:a="http://schemas.openxmlformats.org/drawingml/2006/main">
              <a:ext uri="{FF2B5EF4-FFF2-40B4-BE49-F238E27FC236}">
                <a16:creationId xmlns:a16="http://schemas.microsoft.com/office/drawing/2014/main" id="{FBC81F87-D71E-4EFE-B607-328339189997}"/>
              </a:ext>
            </a:extLst>
          </p:cNvPr>
          <p:cNvSpPr>
            <a:spLocks xmlns:a="http://schemas.openxmlformats.org/drawingml/2006/main" noGrp="1"/>
          </p:cNvSpPr>
          <p:nvPr/>
        </p:nvSpPr>
        <p:spPr>
          <a:xfrm xmlns:a="http://schemas.openxmlformats.org/drawingml/2006/main">
            <a:off x="6486525" y="56959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7C6C"/>
                </a:solidFill>
                <a:latin typeface="Arial"/>
                <a:ea typeface="Arial"/>
                <a:cs typeface="Arial"/>
              </a:defRPr>
            </a:defPPr>
            <a:lvl1pPr algn="l">
              <a:defRPr sz="1500" b="0">
                <a:solidFill>
                  <a:srgbClr val="687C6C"/>
                </a:solidFill>
                <a:latin typeface="Arial"/>
                <a:ea typeface="Arial"/>
                <a:cs typeface="Arial"/>
              </a:defRPr>
            </a:lvl1pPr>
            <a:lvl2pPr algn="l">
              <a:defRPr sz="1500" b="0">
                <a:solidFill>
                  <a:srgbClr val="687C6C"/>
                </a:solidFill>
                <a:latin typeface="Arial"/>
                <a:ea typeface="Arial"/>
                <a:cs typeface="Arial"/>
              </a:defRPr>
            </a:lvl2pPr>
            <a:lvl3pPr algn="l">
              <a:defRPr sz="1500" b="0">
                <a:solidFill>
                  <a:srgbClr val="687C6C"/>
                </a:solidFill>
                <a:latin typeface="Arial"/>
                <a:ea typeface="Arial"/>
                <a:cs typeface="Arial"/>
              </a:defRPr>
            </a:lvl3pPr>
            <a:lvl4pPr algn="l">
              <a:defRPr sz="1500" b="0">
                <a:solidFill>
                  <a:srgbClr val="687C6C"/>
                </a:solidFill>
                <a:latin typeface="Arial"/>
                <a:ea typeface="Arial"/>
                <a:cs typeface="Arial"/>
              </a:defRPr>
            </a:lvl4pPr>
            <a:lvl5pPr algn="l">
              <a:defRPr sz="1500" b="0">
                <a:solidFill>
                  <a:srgbClr val="687C6C"/>
                </a:solidFill>
                <a:latin typeface="Arial"/>
                <a:ea typeface="Arial"/>
                <a:cs typeface="Arial"/>
              </a:defRPr>
            </a:lvl5pPr>
            <a:lvl6pPr algn="l">
              <a:defRPr sz="1500" b="0">
                <a:solidFill>
                  <a:srgbClr val="687C6C"/>
                </a:solidFill>
                <a:latin typeface="Arial"/>
                <a:ea typeface="Arial"/>
                <a:cs typeface="Arial"/>
              </a:defRPr>
            </a:lvl6pPr>
            <a:lvl7pPr algn="l">
              <a:defRPr sz="1500" b="0">
                <a:solidFill>
                  <a:srgbClr val="687C6C"/>
                </a:solidFill>
                <a:latin typeface="Arial"/>
                <a:ea typeface="Arial"/>
                <a:cs typeface="Arial"/>
              </a:defRPr>
            </a:lvl7pPr>
            <a:lvl8pPr algn="l">
              <a:defRPr sz="1500" b="0">
                <a:solidFill>
                  <a:srgbClr val="687C6C"/>
                </a:solidFill>
                <a:latin typeface="Arial"/>
                <a:ea typeface="Arial"/>
                <a:cs typeface="Arial"/>
              </a:defRPr>
            </a:lvl8pPr>
            <a:lvl9pPr algn="l">
              <a:defRPr sz="1500" b="0">
                <a:solidFill>
                  <a:srgbClr val="687C6C"/>
                </a:solidFill>
                <a:latin typeface="Arial"/>
                <a:ea typeface="Arial"/>
                <a:cs typeface="Arial"/>
              </a:defRPr>
            </a:lvl9pPr>
          </a:lstStyle>
          <a:p xmlns:a="http://schemas.openxmlformats.org/drawingml/2006/main">
            <a:pPr algn="l">
              <a:defRPr sz="1500" b="0">
                <a:solidFill>
                  <a:srgbClr val="687C6C"/>
                </a:solidFill>
                <a:latin typeface="Arial"/>
                <a:ea typeface="Arial"/>
                <a:cs typeface="Arial"/>
              </a:defRPr>
            </a:pPr>
            <a:r>
              <a:rPr sz="1500" b="0">
                <a:solidFill>
                  <a:srgbClr val="687C6C"/>
                </a:solidFill>
                <a:latin typeface="Arial"/>
                <a:ea typeface="Arial"/>
                <a:cs typeface="Arial"/>
              </a:rPr>
              <a:t>Captured 19 Oct 2026, 19:22 (UTC+08)</a:t>
            </a:r>
          </a:p>
        </p:txBody>
      </p:sp>
      <p:sp>
        <p:nvSpPr>
          <p:cNvPr id="19" name="Probability limits">
            <a:extLst xmlns:a="http://schemas.openxmlformats.org/drawingml/2006/main">
              <a:ext uri="{FF2B5EF4-FFF2-40B4-BE49-F238E27FC236}">
                <a16:creationId xmlns:a16="http://schemas.microsoft.com/office/drawing/2014/main" id="{52F758FE-71F8-4D50-BC20-0972AF2FFF80}"/>
              </a:ext>
            </a:extLst>
          </p:cNvPr>
          <p:cNvSpPr>
            <a:spLocks xmlns:a="http://schemas.openxmlformats.org/drawingml/2006/main" noGrp="1"/>
          </p:cNvSpPr>
          <p:nvPr/>
        </p:nvSpPr>
        <p:spPr>
          <a:xfrm xmlns:a="http://schemas.openxmlformats.org/drawingml/2006/main">
            <a:off x="733425" y="62579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88" b="0">
                <a:solidFill>
                  <a:srgbClr val="B06945"/>
                </a:solidFill>
                <a:latin typeface="Arial"/>
                <a:ea typeface="Arial"/>
                <a:cs typeface="Arial"/>
              </a:defRPr>
            </a:defPPr>
            <a:lvl1pPr algn="l">
              <a:defRPr sz="1388" b="0">
                <a:solidFill>
                  <a:srgbClr val="B06945"/>
                </a:solidFill>
                <a:latin typeface="Arial"/>
                <a:ea typeface="Arial"/>
                <a:cs typeface="Arial"/>
              </a:defRPr>
            </a:lvl1pPr>
            <a:lvl2pPr algn="l">
              <a:defRPr sz="1388" b="0">
                <a:solidFill>
                  <a:srgbClr val="B06945"/>
                </a:solidFill>
                <a:latin typeface="Arial"/>
                <a:ea typeface="Arial"/>
                <a:cs typeface="Arial"/>
              </a:defRPr>
            </a:lvl2pPr>
            <a:lvl3pPr algn="l">
              <a:defRPr sz="1388" b="0">
                <a:solidFill>
                  <a:srgbClr val="B06945"/>
                </a:solidFill>
                <a:latin typeface="Arial"/>
                <a:ea typeface="Arial"/>
                <a:cs typeface="Arial"/>
              </a:defRPr>
            </a:lvl3pPr>
            <a:lvl4pPr algn="l">
              <a:defRPr sz="1388" b="0">
                <a:solidFill>
                  <a:srgbClr val="B06945"/>
                </a:solidFill>
                <a:latin typeface="Arial"/>
                <a:ea typeface="Arial"/>
                <a:cs typeface="Arial"/>
              </a:defRPr>
            </a:lvl4pPr>
            <a:lvl5pPr algn="l">
              <a:defRPr sz="1388" b="0">
                <a:solidFill>
                  <a:srgbClr val="B06945"/>
                </a:solidFill>
                <a:latin typeface="Arial"/>
                <a:ea typeface="Arial"/>
                <a:cs typeface="Arial"/>
              </a:defRPr>
            </a:lvl5pPr>
            <a:lvl6pPr algn="l">
              <a:defRPr sz="1388" b="0">
                <a:solidFill>
                  <a:srgbClr val="B06945"/>
                </a:solidFill>
                <a:latin typeface="Arial"/>
                <a:ea typeface="Arial"/>
                <a:cs typeface="Arial"/>
              </a:defRPr>
            </a:lvl6pPr>
            <a:lvl7pPr algn="l">
              <a:defRPr sz="1388" b="0">
                <a:solidFill>
                  <a:srgbClr val="B06945"/>
                </a:solidFill>
                <a:latin typeface="Arial"/>
                <a:ea typeface="Arial"/>
                <a:cs typeface="Arial"/>
              </a:defRPr>
            </a:lvl7pPr>
            <a:lvl8pPr algn="l">
              <a:defRPr sz="1388" b="0">
                <a:solidFill>
                  <a:srgbClr val="B06945"/>
                </a:solidFill>
                <a:latin typeface="Arial"/>
                <a:ea typeface="Arial"/>
                <a:cs typeface="Arial"/>
              </a:defRPr>
            </a:lvl8pPr>
            <a:lvl9pPr algn="l">
              <a:defRPr sz="1388" b="0">
                <a:solidFill>
                  <a:srgbClr val="B06945"/>
                </a:solidFill>
                <a:latin typeface="Arial"/>
                <a:ea typeface="Arial"/>
                <a:cs typeface="Arial"/>
              </a:defRPr>
            </a:lvl9pPr>
          </a:lstStyle>
          <a:p xmlns:a="http://schemas.openxmlformats.org/drawingml/2006/main">
            <a:pPr algn="l">
              <a:defRPr sz="1388" b="0">
                <a:solidFill>
                  <a:srgbClr val="B06945"/>
                </a:solidFill>
                <a:latin typeface="Arial"/>
                <a:ea typeface="Arial"/>
                <a:cs typeface="Arial"/>
              </a:defRPr>
            </a:pPr>
            <a:r>
              <a:rPr sz="1388" b="0">
                <a:solidFill>
                  <a:srgbClr val="B06945"/>
                </a:solidFill>
                <a:latin typeface="Arial"/>
                <a:ea typeface="Arial"/>
                <a:cs typeface="Arial"/>
              </a:rPr>
              <a:t>Neither output represents a shop flood or stock loss probability. The historical model serves offline research only.</a:t>
            </a:r>
          </a:p>
        </p:txBody>
      </p:sp>
    </p:spTree>
    <p:extLst>
      <p:ext uri="{BB962C8B-B14F-4D97-AF65-F5344CB8AC3E}">
        <p14:creationId xmlns:p14="http://schemas.microsoft.com/office/powerpoint/2010/main" val="431553891"/>
      </p:ext>
    </p:extLst>
  </p:cSld>
</p:sld>
</file>

<file path=ppt/slides/slide6.xml><?xml version="1.0" encoding="utf-8"?>
<p:sld xmlns:p="http://schemas.openxmlformats.org/presentationml/2006/main">
  <p:cSld>
    <p:bg>
      <p:bgPr>
        <a:solidFill xmlns:a="http://schemas.openxmlformats.org/drawingml/2006/main">
          <a:srgbClr val="102E2A"/>
        </a:solidFill>
      </p:bgPr>
    </p:bg>
    <p:spTree>
      <p:nvGrpSpPr>
        <p:cNvPr id="1" name=""/>
        <p:cNvGrpSpPr/>
        <p:nvPr/>
      </p:nvGrpSpPr>
      <p:grpSpPr>
        <a:xfrm xmlns:a="http://schemas.openxmlformats.org/drawingml/2006/main"/>
      </p:grpSpPr>
      <p:sp>
        <p:nvSpPr>
          <p:cNvPr id="16" name="Title 6">
            <a:extLst xmlns:a="http://schemas.openxmlformats.org/drawingml/2006/main">
              <a:ext uri="{FF2B5EF4-FFF2-40B4-BE49-F238E27FC236}">
                <a16:creationId xmlns:a16="http://schemas.microsoft.com/office/drawing/2014/main" id="{35F289B3-81E6-481A-9ACA-DDAFB645810F}"/>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0EFD7"/>
                </a:solidFill>
                <a:latin typeface="Arial"/>
                <a:ea typeface="Arial"/>
                <a:cs typeface="Arial"/>
              </a:defRPr>
            </a:defPPr>
            <a:lvl1pPr algn="l">
              <a:defRPr sz="3300" b="1">
                <a:solidFill>
                  <a:srgbClr val="F0EFD7"/>
                </a:solidFill>
                <a:latin typeface="Arial"/>
                <a:ea typeface="Arial"/>
                <a:cs typeface="Arial"/>
              </a:defRPr>
            </a:lvl1pPr>
            <a:lvl2pPr algn="l">
              <a:defRPr sz="3300" b="1">
                <a:solidFill>
                  <a:srgbClr val="F0EFD7"/>
                </a:solidFill>
                <a:latin typeface="Arial"/>
                <a:ea typeface="Arial"/>
                <a:cs typeface="Arial"/>
              </a:defRPr>
            </a:lvl2pPr>
            <a:lvl3pPr algn="l">
              <a:defRPr sz="3300" b="1">
                <a:solidFill>
                  <a:srgbClr val="F0EFD7"/>
                </a:solidFill>
                <a:latin typeface="Arial"/>
                <a:ea typeface="Arial"/>
                <a:cs typeface="Arial"/>
              </a:defRPr>
            </a:lvl3pPr>
            <a:lvl4pPr algn="l">
              <a:defRPr sz="3300" b="1">
                <a:solidFill>
                  <a:srgbClr val="F0EFD7"/>
                </a:solidFill>
                <a:latin typeface="Arial"/>
                <a:ea typeface="Arial"/>
                <a:cs typeface="Arial"/>
              </a:defRPr>
            </a:lvl4pPr>
            <a:lvl5pPr algn="l">
              <a:defRPr sz="3300" b="1">
                <a:solidFill>
                  <a:srgbClr val="F0EFD7"/>
                </a:solidFill>
                <a:latin typeface="Arial"/>
                <a:ea typeface="Arial"/>
                <a:cs typeface="Arial"/>
              </a:defRPr>
            </a:lvl5pPr>
            <a:lvl6pPr algn="l">
              <a:defRPr sz="3300" b="1">
                <a:solidFill>
                  <a:srgbClr val="F0EFD7"/>
                </a:solidFill>
                <a:latin typeface="Arial"/>
                <a:ea typeface="Arial"/>
                <a:cs typeface="Arial"/>
              </a:defRPr>
            </a:lvl6pPr>
            <a:lvl7pPr algn="l">
              <a:defRPr sz="3300" b="1">
                <a:solidFill>
                  <a:srgbClr val="F0EFD7"/>
                </a:solidFill>
                <a:latin typeface="Arial"/>
                <a:ea typeface="Arial"/>
                <a:cs typeface="Arial"/>
              </a:defRPr>
            </a:lvl7pPr>
            <a:lvl8pPr algn="l">
              <a:defRPr sz="3300" b="1">
                <a:solidFill>
                  <a:srgbClr val="F0EFD7"/>
                </a:solidFill>
                <a:latin typeface="Arial"/>
                <a:ea typeface="Arial"/>
                <a:cs typeface="Arial"/>
              </a:defRPr>
            </a:lvl8pPr>
            <a:lvl9pPr algn="l">
              <a:defRPr sz="3300" b="1">
                <a:solidFill>
                  <a:srgbClr val="F0EFD7"/>
                </a:solidFill>
                <a:latin typeface="Arial"/>
                <a:ea typeface="Arial"/>
                <a:cs typeface="Arial"/>
              </a:defRPr>
            </a:lvl9pPr>
          </a:lstStyle>
          <a:p xmlns:a="http://schemas.openxmlformats.org/drawingml/2006/main">
            <a:pPr algn="l">
              <a:defRPr sz="3300" b="1">
                <a:solidFill>
                  <a:srgbClr val="F0EFD7"/>
                </a:solidFill>
                <a:latin typeface="Arial"/>
                <a:ea typeface="Arial"/>
                <a:cs typeface="Arial"/>
              </a:defRPr>
            </a:pPr>
            <a:r>
              <a:rPr sz="3300" b="1">
                <a:solidFill>
                  <a:srgbClr val="F0EFD7"/>
                </a:solidFill>
                <a:latin typeface="Arial"/>
                <a:ea typeface="Arial"/>
                <a:cs typeface="Arial"/>
              </a:rPr>
              <a:t>A CNY 460 gap in expected cost</a:t>
            </a:r>
          </a:p>
        </p:txBody>
      </p:sp>
      <p:sp>
        <p:nvSpPr>
          <p:cNvPr id="2" name="Page 6">
            <a:extLst xmlns:a="http://schemas.openxmlformats.org/drawingml/2006/main">
              <a:ext uri="{FF2B5EF4-FFF2-40B4-BE49-F238E27FC236}">
                <a16:creationId xmlns:a16="http://schemas.microsoft.com/office/drawing/2014/main" id="{5AD16E07-34D2-4E97-800A-6A8B431D08F9}"/>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9C5A9"/>
                </a:solidFill>
                <a:latin typeface="Arial"/>
                <a:ea typeface="Arial"/>
                <a:cs typeface="Arial"/>
              </a:defRPr>
            </a:defPPr>
            <a:lvl1pPr algn="r">
              <a:defRPr sz="1350" b="0">
                <a:solidFill>
                  <a:srgbClr val="A9C5A9"/>
                </a:solidFill>
                <a:latin typeface="Arial"/>
                <a:ea typeface="Arial"/>
                <a:cs typeface="Arial"/>
              </a:defRPr>
            </a:lvl1pPr>
            <a:lvl2pPr algn="r">
              <a:defRPr sz="1350" b="0">
                <a:solidFill>
                  <a:srgbClr val="A9C5A9"/>
                </a:solidFill>
                <a:latin typeface="Arial"/>
                <a:ea typeface="Arial"/>
                <a:cs typeface="Arial"/>
              </a:defRPr>
            </a:lvl2pPr>
            <a:lvl3pPr algn="r">
              <a:defRPr sz="1350" b="0">
                <a:solidFill>
                  <a:srgbClr val="A9C5A9"/>
                </a:solidFill>
                <a:latin typeface="Arial"/>
                <a:ea typeface="Arial"/>
                <a:cs typeface="Arial"/>
              </a:defRPr>
            </a:lvl3pPr>
            <a:lvl4pPr algn="r">
              <a:defRPr sz="1350" b="0">
                <a:solidFill>
                  <a:srgbClr val="A9C5A9"/>
                </a:solidFill>
                <a:latin typeface="Arial"/>
                <a:ea typeface="Arial"/>
                <a:cs typeface="Arial"/>
              </a:defRPr>
            </a:lvl4pPr>
            <a:lvl5pPr algn="r">
              <a:defRPr sz="1350" b="0">
                <a:solidFill>
                  <a:srgbClr val="A9C5A9"/>
                </a:solidFill>
                <a:latin typeface="Arial"/>
                <a:ea typeface="Arial"/>
                <a:cs typeface="Arial"/>
              </a:defRPr>
            </a:lvl5pPr>
            <a:lvl6pPr algn="r">
              <a:defRPr sz="1350" b="0">
                <a:solidFill>
                  <a:srgbClr val="A9C5A9"/>
                </a:solidFill>
                <a:latin typeface="Arial"/>
                <a:ea typeface="Arial"/>
                <a:cs typeface="Arial"/>
              </a:defRPr>
            </a:lvl6pPr>
            <a:lvl7pPr algn="r">
              <a:defRPr sz="1350" b="0">
                <a:solidFill>
                  <a:srgbClr val="A9C5A9"/>
                </a:solidFill>
                <a:latin typeface="Arial"/>
                <a:ea typeface="Arial"/>
                <a:cs typeface="Arial"/>
              </a:defRPr>
            </a:lvl7pPr>
            <a:lvl8pPr algn="r">
              <a:defRPr sz="1350" b="0">
                <a:solidFill>
                  <a:srgbClr val="A9C5A9"/>
                </a:solidFill>
                <a:latin typeface="Arial"/>
                <a:ea typeface="Arial"/>
                <a:cs typeface="Arial"/>
              </a:defRPr>
            </a:lvl8pPr>
            <a:lvl9pPr algn="r">
              <a:defRPr sz="1350" b="0">
                <a:solidFill>
                  <a:srgbClr val="A9C5A9"/>
                </a:solidFill>
                <a:latin typeface="Arial"/>
                <a:ea typeface="Arial"/>
                <a:cs typeface="Arial"/>
              </a:defRPr>
            </a:lvl9pPr>
          </a:lstStyle>
          <a:p xmlns:a="http://schemas.openxmlformats.org/drawingml/2006/main">
            <a:pPr algn="r">
              <a:defRPr sz="1350" b="0">
                <a:solidFill>
                  <a:srgbClr val="A9C5A9"/>
                </a:solidFill>
                <a:latin typeface="Arial"/>
                <a:ea typeface="Arial"/>
                <a:cs typeface="Arial"/>
              </a:defRPr>
            </a:pPr>
            <a:r>
              <a:rPr sz="1350" b="0">
                <a:solidFill>
                  <a:srgbClr val="A9C5A9"/>
                </a:solidFill>
                <a:latin typeface="Arial"/>
                <a:ea typeface="Arial"/>
                <a:cs typeface="Arial"/>
              </a:rPr>
              <a:t>06</a:t>
            </a:r>
          </a:p>
        </p:txBody>
      </p:sp>
      <p:sp>
        <p:nvSpPr>
          <p:cNvPr id="3" name="Scenario status">
            <a:extLst xmlns:a="http://schemas.openxmlformats.org/drawingml/2006/main">
              <a:ext uri="{FF2B5EF4-FFF2-40B4-BE49-F238E27FC236}">
                <a16:creationId xmlns:a16="http://schemas.microsoft.com/office/drawing/2014/main" id="{A2252F69-CFB0-45DA-A524-9ADE33B6A13F}"/>
              </a:ext>
            </a:extLst>
          </p:cNvPr>
          <p:cNvSpPr>
            <a:spLocks xmlns:a="http://schemas.openxmlformats.org/drawingml/2006/main" noGrp="1"/>
          </p:cNvSpPr>
          <p:nvPr/>
        </p:nvSpPr>
        <p:spPr>
          <a:xfrm xmlns:a="http://schemas.openxmlformats.org/drawingml/2006/main">
            <a:off x="723900" y="145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8E3B3"/>
                </a:solidFill>
                <a:latin typeface="Arial"/>
                <a:ea typeface="Arial"/>
                <a:cs typeface="Arial"/>
              </a:defRPr>
            </a:defPPr>
            <a:lvl1pPr algn="l">
              <a:defRPr sz="2175" b="0">
                <a:solidFill>
                  <a:srgbClr val="C8E3B3"/>
                </a:solidFill>
                <a:latin typeface="Arial"/>
                <a:ea typeface="Arial"/>
                <a:cs typeface="Arial"/>
              </a:defRPr>
            </a:lvl1pPr>
            <a:lvl2pPr algn="l">
              <a:defRPr sz="2175" b="0">
                <a:solidFill>
                  <a:srgbClr val="C8E3B3"/>
                </a:solidFill>
                <a:latin typeface="Arial"/>
                <a:ea typeface="Arial"/>
                <a:cs typeface="Arial"/>
              </a:defRPr>
            </a:lvl2pPr>
            <a:lvl3pPr algn="l">
              <a:defRPr sz="2175" b="0">
                <a:solidFill>
                  <a:srgbClr val="C8E3B3"/>
                </a:solidFill>
                <a:latin typeface="Arial"/>
                <a:ea typeface="Arial"/>
                <a:cs typeface="Arial"/>
              </a:defRPr>
            </a:lvl3pPr>
            <a:lvl4pPr algn="l">
              <a:defRPr sz="2175" b="0">
                <a:solidFill>
                  <a:srgbClr val="C8E3B3"/>
                </a:solidFill>
                <a:latin typeface="Arial"/>
                <a:ea typeface="Arial"/>
                <a:cs typeface="Arial"/>
              </a:defRPr>
            </a:lvl4pPr>
            <a:lvl5pPr algn="l">
              <a:defRPr sz="2175" b="0">
                <a:solidFill>
                  <a:srgbClr val="C8E3B3"/>
                </a:solidFill>
                <a:latin typeface="Arial"/>
                <a:ea typeface="Arial"/>
                <a:cs typeface="Arial"/>
              </a:defRPr>
            </a:lvl5pPr>
            <a:lvl6pPr algn="l">
              <a:defRPr sz="2175" b="0">
                <a:solidFill>
                  <a:srgbClr val="C8E3B3"/>
                </a:solidFill>
                <a:latin typeface="Arial"/>
                <a:ea typeface="Arial"/>
                <a:cs typeface="Arial"/>
              </a:defRPr>
            </a:lvl6pPr>
            <a:lvl7pPr algn="l">
              <a:defRPr sz="2175" b="0">
                <a:solidFill>
                  <a:srgbClr val="C8E3B3"/>
                </a:solidFill>
                <a:latin typeface="Arial"/>
                <a:ea typeface="Arial"/>
                <a:cs typeface="Arial"/>
              </a:defRPr>
            </a:lvl7pPr>
            <a:lvl8pPr algn="l">
              <a:defRPr sz="2175" b="0">
                <a:solidFill>
                  <a:srgbClr val="C8E3B3"/>
                </a:solidFill>
                <a:latin typeface="Arial"/>
                <a:ea typeface="Arial"/>
                <a:cs typeface="Arial"/>
              </a:defRPr>
            </a:lvl8pPr>
            <a:lvl9pPr algn="l">
              <a:defRPr sz="2175" b="0">
                <a:solidFill>
                  <a:srgbClr val="C8E3B3"/>
                </a:solidFill>
                <a:latin typeface="Arial"/>
                <a:ea typeface="Arial"/>
                <a:cs typeface="Arial"/>
              </a:defRPr>
            </a:lvl9pPr>
          </a:lstStyle>
          <a:p xmlns:a="http://schemas.openxmlformats.org/drawingml/2006/main">
            <a:pPr algn="l">
              <a:defRPr sz="2175" b="0">
                <a:solidFill>
                  <a:srgbClr val="C8E3B3"/>
                </a:solidFill>
                <a:latin typeface="Arial"/>
                <a:ea typeface="Arial"/>
                <a:cs typeface="Arial"/>
              </a:defRPr>
            </a:pPr>
            <a:r>
              <a:rPr sz="2175" b="0">
                <a:solidFill>
                  <a:srgbClr val="C8E3B3"/>
                </a:solidFill>
                <a:latin typeface="Arial"/>
                <a:ea typeface="Arial"/>
                <a:cs typeface="Arial"/>
              </a:rPr>
              <a:t>Hypothetical inputs, separate from weather forecasts</a:t>
            </a:r>
          </a:p>
        </p:txBody>
      </p:sp>
      <p:sp>
        <p:nvSpPr>
          <p:cNvPr id="4" name="Conditional losses">
            <a:extLst xmlns:a="http://schemas.openxmlformats.org/drawingml/2006/main">
              <a:ext uri="{FF2B5EF4-FFF2-40B4-BE49-F238E27FC236}">
                <a16:creationId xmlns:a16="http://schemas.microsoft.com/office/drawing/2014/main" id="{90FEB215-056A-499F-A4E4-24A01AFA0777}"/>
              </a:ext>
            </a:extLst>
          </p:cNvPr>
          <p:cNvSpPr>
            <a:spLocks xmlns:a="http://schemas.openxmlformats.org/drawingml/2006/main" noGrp="1"/>
          </p:cNvSpPr>
          <p:nvPr/>
        </p:nvSpPr>
        <p:spPr>
          <a:xfrm xmlns:a="http://schemas.openxmlformats.org/drawingml/2006/main">
            <a:off x="723900" y="20574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0EFD7"/>
                </a:solidFill>
                <a:latin typeface="Arial"/>
                <a:ea typeface="Arial"/>
                <a:cs typeface="Arial"/>
              </a:defRPr>
            </a:defPPr>
            <a:lvl1pPr algn="l">
              <a:defRPr sz="1875" b="0">
                <a:solidFill>
                  <a:srgbClr val="F0EFD7"/>
                </a:solidFill>
                <a:latin typeface="Arial"/>
                <a:ea typeface="Arial"/>
                <a:cs typeface="Arial"/>
              </a:defRPr>
            </a:lvl1pPr>
            <a:lvl2pPr algn="l">
              <a:defRPr sz="1875" b="0">
                <a:solidFill>
                  <a:srgbClr val="F0EFD7"/>
                </a:solidFill>
                <a:latin typeface="Arial"/>
                <a:ea typeface="Arial"/>
                <a:cs typeface="Arial"/>
              </a:defRPr>
            </a:lvl2pPr>
            <a:lvl3pPr algn="l">
              <a:defRPr sz="1875" b="0">
                <a:solidFill>
                  <a:srgbClr val="F0EFD7"/>
                </a:solidFill>
                <a:latin typeface="Arial"/>
                <a:ea typeface="Arial"/>
                <a:cs typeface="Arial"/>
              </a:defRPr>
            </a:lvl3pPr>
            <a:lvl4pPr algn="l">
              <a:defRPr sz="1875" b="0">
                <a:solidFill>
                  <a:srgbClr val="F0EFD7"/>
                </a:solidFill>
                <a:latin typeface="Arial"/>
                <a:ea typeface="Arial"/>
                <a:cs typeface="Arial"/>
              </a:defRPr>
            </a:lvl4pPr>
            <a:lvl5pPr algn="l">
              <a:defRPr sz="1875" b="0">
                <a:solidFill>
                  <a:srgbClr val="F0EFD7"/>
                </a:solidFill>
                <a:latin typeface="Arial"/>
                <a:ea typeface="Arial"/>
                <a:cs typeface="Arial"/>
              </a:defRPr>
            </a:lvl5pPr>
            <a:lvl6pPr algn="l">
              <a:defRPr sz="1875" b="0">
                <a:solidFill>
                  <a:srgbClr val="F0EFD7"/>
                </a:solidFill>
                <a:latin typeface="Arial"/>
                <a:ea typeface="Arial"/>
                <a:cs typeface="Arial"/>
              </a:defRPr>
            </a:lvl6pPr>
            <a:lvl7pPr algn="l">
              <a:defRPr sz="1875" b="0">
                <a:solidFill>
                  <a:srgbClr val="F0EFD7"/>
                </a:solidFill>
                <a:latin typeface="Arial"/>
                <a:ea typeface="Arial"/>
                <a:cs typeface="Arial"/>
              </a:defRPr>
            </a:lvl7pPr>
            <a:lvl8pPr algn="l">
              <a:defRPr sz="1875" b="0">
                <a:solidFill>
                  <a:srgbClr val="F0EFD7"/>
                </a:solidFill>
                <a:latin typeface="Arial"/>
                <a:ea typeface="Arial"/>
                <a:cs typeface="Arial"/>
              </a:defRPr>
            </a:lvl8pPr>
            <a:lvl9pPr algn="l">
              <a:defRPr sz="1875" b="0">
                <a:solidFill>
                  <a:srgbClr val="F0EFD7"/>
                </a:solidFill>
                <a:latin typeface="Arial"/>
                <a:ea typeface="Arial"/>
                <a:cs typeface="Arial"/>
              </a:defRPr>
            </a:lvl9pPr>
          </a:lstStyle>
          <a:p xmlns:a="http://schemas.openxmlformats.org/drawingml/2006/main">
            <a:pPr algn="l">
              <a:defRPr sz="1875" b="0">
                <a:solidFill>
                  <a:srgbClr val="F0EFD7"/>
                </a:solidFill>
                <a:latin typeface="Arial"/>
                <a:ea typeface="Arial"/>
                <a:cs typeface="Arial"/>
              </a:defRPr>
            </a:pPr>
            <a:r>
              <a:rPr sz="1875" b="0">
                <a:solidFill>
                  <a:srgbClr val="F0EFD7"/>
                </a:solidFill>
                <a:latin typeface="Arial"/>
                <a:ea typeface="Arial"/>
                <a:cs typeface="Arial"/>
              </a:rPr>
              <a:t>Event losses: L₀ = CNY 1,000 if kept, L₁ = CNY 100 after relocation</a:t>
            </a:r>
          </a:p>
        </p:txBody>
      </p:sp>
      <p:sp>
        <p:nvSpPr>
          <p:cNvPr id="5" name="Relocation inputs">
            <a:extLst xmlns:a="http://schemas.openxmlformats.org/drawingml/2006/main">
              <a:ext uri="{FF2B5EF4-FFF2-40B4-BE49-F238E27FC236}">
                <a16:creationId xmlns:a16="http://schemas.microsoft.com/office/drawing/2014/main" id="{54ED19AD-ECAF-4330-8C99-C58F6B507144}"/>
              </a:ext>
            </a:extLst>
          </p:cNvPr>
          <p:cNvSpPr>
            <a:spLocks xmlns:a="http://schemas.openxmlformats.org/drawingml/2006/main" noGrp="1"/>
          </p:cNvSpPr>
          <p:nvPr/>
        </p:nvSpPr>
        <p:spPr>
          <a:xfrm xmlns:a="http://schemas.openxmlformats.org/drawingml/2006/main">
            <a:off x="723900" y="25717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0EFD7"/>
                </a:solidFill>
                <a:latin typeface="Arial"/>
                <a:ea typeface="Arial"/>
                <a:cs typeface="Arial"/>
              </a:defRPr>
            </a:defPPr>
            <a:lvl1pPr algn="l">
              <a:defRPr sz="1875" b="0">
                <a:solidFill>
                  <a:srgbClr val="F0EFD7"/>
                </a:solidFill>
                <a:latin typeface="Arial"/>
                <a:ea typeface="Arial"/>
                <a:cs typeface="Arial"/>
              </a:defRPr>
            </a:lvl1pPr>
            <a:lvl2pPr algn="l">
              <a:defRPr sz="1875" b="0">
                <a:solidFill>
                  <a:srgbClr val="F0EFD7"/>
                </a:solidFill>
                <a:latin typeface="Arial"/>
                <a:ea typeface="Arial"/>
                <a:cs typeface="Arial"/>
              </a:defRPr>
            </a:lvl2pPr>
            <a:lvl3pPr algn="l">
              <a:defRPr sz="1875" b="0">
                <a:solidFill>
                  <a:srgbClr val="F0EFD7"/>
                </a:solidFill>
                <a:latin typeface="Arial"/>
                <a:ea typeface="Arial"/>
                <a:cs typeface="Arial"/>
              </a:defRPr>
            </a:lvl3pPr>
            <a:lvl4pPr algn="l">
              <a:defRPr sz="1875" b="0">
                <a:solidFill>
                  <a:srgbClr val="F0EFD7"/>
                </a:solidFill>
                <a:latin typeface="Arial"/>
                <a:ea typeface="Arial"/>
                <a:cs typeface="Arial"/>
              </a:defRPr>
            </a:lvl4pPr>
            <a:lvl5pPr algn="l">
              <a:defRPr sz="1875" b="0">
                <a:solidFill>
                  <a:srgbClr val="F0EFD7"/>
                </a:solidFill>
                <a:latin typeface="Arial"/>
                <a:ea typeface="Arial"/>
                <a:cs typeface="Arial"/>
              </a:defRPr>
            </a:lvl5pPr>
            <a:lvl6pPr algn="l">
              <a:defRPr sz="1875" b="0">
                <a:solidFill>
                  <a:srgbClr val="F0EFD7"/>
                </a:solidFill>
                <a:latin typeface="Arial"/>
                <a:ea typeface="Arial"/>
                <a:cs typeface="Arial"/>
              </a:defRPr>
            </a:lvl6pPr>
            <a:lvl7pPr algn="l">
              <a:defRPr sz="1875" b="0">
                <a:solidFill>
                  <a:srgbClr val="F0EFD7"/>
                </a:solidFill>
                <a:latin typeface="Arial"/>
                <a:ea typeface="Arial"/>
                <a:cs typeface="Arial"/>
              </a:defRPr>
            </a:lvl7pPr>
            <a:lvl8pPr algn="l">
              <a:defRPr sz="1875" b="0">
                <a:solidFill>
                  <a:srgbClr val="F0EFD7"/>
                </a:solidFill>
                <a:latin typeface="Arial"/>
                <a:ea typeface="Arial"/>
                <a:cs typeface="Arial"/>
              </a:defRPr>
            </a:lvl8pPr>
            <a:lvl9pPr algn="l">
              <a:defRPr sz="1875" b="0">
                <a:solidFill>
                  <a:srgbClr val="F0EFD7"/>
                </a:solidFill>
                <a:latin typeface="Arial"/>
                <a:ea typeface="Arial"/>
                <a:cs typeface="Arial"/>
              </a:defRPr>
            </a:lvl9pPr>
          </a:lstStyle>
          <a:p xmlns:a="http://schemas.openxmlformats.org/drawingml/2006/main">
            <a:pPr algn="l">
              <a:defRPr sz="1875" b="0">
                <a:solidFill>
                  <a:srgbClr val="F0EFD7"/>
                </a:solidFill>
                <a:latin typeface="Arial"/>
                <a:ea typeface="Arial"/>
                <a:cs typeface="Arial"/>
              </a:defRPr>
            </a:pPr>
            <a:r>
              <a:rPr sz="1875" b="0">
                <a:solidFill>
                  <a:srgbClr val="F0EFD7"/>
                </a:solidFill>
                <a:latin typeface="Arial"/>
                <a:ea typeface="Arial"/>
                <a:cs typeface="Arial"/>
              </a:rPr>
              <a:t>Relocation cost C = CNY 80 (labour 60 + materials 20)</a:t>
            </a:r>
          </a:p>
        </p:txBody>
      </p:sp>
      <p:sp>
        <p:nvSpPr>
          <p:cNvPr id="6" name="Hypothetical probability">
            <a:extLst xmlns:a="http://schemas.openxmlformats.org/drawingml/2006/main">
              <a:ext uri="{FF2B5EF4-FFF2-40B4-BE49-F238E27FC236}">
                <a16:creationId xmlns:a16="http://schemas.microsoft.com/office/drawing/2014/main" id="{B2949020-F3A2-4EF6-BDC0-3437D6378F73}"/>
              </a:ext>
            </a:extLst>
          </p:cNvPr>
          <p:cNvSpPr>
            <a:spLocks xmlns:a="http://schemas.openxmlformats.org/drawingml/2006/main" noGrp="1"/>
          </p:cNvSpPr>
          <p:nvPr/>
        </p:nvSpPr>
        <p:spPr>
          <a:xfrm xmlns:a="http://schemas.openxmlformats.org/drawingml/2006/main">
            <a:off x="723900" y="30384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0EFD7"/>
                </a:solidFill>
                <a:latin typeface="Arial"/>
                <a:ea typeface="Arial"/>
                <a:cs typeface="Arial"/>
              </a:defRPr>
            </a:defPPr>
            <a:lvl1pPr algn="l">
              <a:defRPr sz="1875" b="0">
                <a:solidFill>
                  <a:srgbClr val="F0EFD7"/>
                </a:solidFill>
                <a:latin typeface="Arial"/>
                <a:ea typeface="Arial"/>
                <a:cs typeface="Arial"/>
              </a:defRPr>
            </a:lvl1pPr>
            <a:lvl2pPr algn="l">
              <a:defRPr sz="1875" b="0">
                <a:solidFill>
                  <a:srgbClr val="F0EFD7"/>
                </a:solidFill>
                <a:latin typeface="Arial"/>
                <a:ea typeface="Arial"/>
                <a:cs typeface="Arial"/>
              </a:defRPr>
            </a:lvl2pPr>
            <a:lvl3pPr algn="l">
              <a:defRPr sz="1875" b="0">
                <a:solidFill>
                  <a:srgbClr val="F0EFD7"/>
                </a:solidFill>
                <a:latin typeface="Arial"/>
                <a:ea typeface="Arial"/>
                <a:cs typeface="Arial"/>
              </a:defRPr>
            </a:lvl3pPr>
            <a:lvl4pPr algn="l">
              <a:defRPr sz="1875" b="0">
                <a:solidFill>
                  <a:srgbClr val="F0EFD7"/>
                </a:solidFill>
                <a:latin typeface="Arial"/>
                <a:ea typeface="Arial"/>
                <a:cs typeface="Arial"/>
              </a:defRPr>
            </a:lvl4pPr>
            <a:lvl5pPr algn="l">
              <a:defRPr sz="1875" b="0">
                <a:solidFill>
                  <a:srgbClr val="F0EFD7"/>
                </a:solidFill>
                <a:latin typeface="Arial"/>
                <a:ea typeface="Arial"/>
                <a:cs typeface="Arial"/>
              </a:defRPr>
            </a:lvl5pPr>
            <a:lvl6pPr algn="l">
              <a:defRPr sz="1875" b="0">
                <a:solidFill>
                  <a:srgbClr val="F0EFD7"/>
                </a:solidFill>
                <a:latin typeface="Arial"/>
                <a:ea typeface="Arial"/>
                <a:cs typeface="Arial"/>
              </a:defRPr>
            </a:lvl6pPr>
            <a:lvl7pPr algn="l">
              <a:defRPr sz="1875" b="0">
                <a:solidFill>
                  <a:srgbClr val="F0EFD7"/>
                </a:solidFill>
                <a:latin typeface="Arial"/>
                <a:ea typeface="Arial"/>
                <a:cs typeface="Arial"/>
              </a:defRPr>
            </a:lvl7pPr>
            <a:lvl8pPr algn="l">
              <a:defRPr sz="1875" b="0">
                <a:solidFill>
                  <a:srgbClr val="F0EFD7"/>
                </a:solidFill>
                <a:latin typeface="Arial"/>
                <a:ea typeface="Arial"/>
                <a:cs typeface="Arial"/>
              </a:defRPr>
            </a:lvl8pPr>
            <a:lvl9pPr algn="l">
              <a:defRPr sz="1875" b="0">
                <a:solidFill>
                  <a:srgbClr val="F0EFD7"/>
                </a:solidFill>
                <a:latin typeface="Arial"/>
                <a:ea typeface="Arial"/>
                <a:cs typeface="Arial"/>
              </a:defRPr>
            </a:lvl9pPr>
          </a:lstStyle>
          <a:p xmlns:a="http://schemas.openxmlformats.org/drawingml/2006/main">
            <a:pPr algn="l">
              <a:defRPr sz="1875" b="0">
                <a:solidFill>
                  <a:srgbClr val="F0EFD7"/>
                </a:solidFill>
                <a:latin typeface="Arial"/>
                <a:ea typeface="Arial"/>
                <a:cs typeface="Arial"/>
              </a:defRPr>
            </a:pPr>
            <a:r>
              <a:rPr sz="1875" b="0">
                <a:solidFill>
                  <a:srgbClr val="F0EFD7"/>
                </a:solidFill>
                <a:latin typeface="Arial"/>
                <a:ea typeface="Arial"/>
                <a:cs typeface="Arial"/>
              </a:rPr>
              <a:t>Assumed event probability p = 60%</a:t>
            </a:r>
          </a:p>
        </p:txBody>
      </p:sp>
      <p:sp>
        <p:nvSpPr>
          <p:cNvPr id="7" name="Cost comparison rule">
            <a:extLst xmlns:a="http://schemas.openxmlformats.org/drawingml/2006/main">
              <a:ext uri="{FF2B5EF4-FFF2-40B4-BE49-F238E27FC236}">
                <a16:creationId xmlns:a16="http://schemas.microsoft.com/office/drawing/2014/main" id="{FD488D0B-707D-43DF-BACC-12639FF27434}"/>
              </a:ext>
            </a:extLst>
          </p:cNvPr>
          <p:cNvSpPr>
            <a:spLocks xmlns:a="http://schemas.openxmlformats.org/drawingml/2006/main" noGrp="1"/>
          </p:cNvSpPr>
          <p:nvPr/>
        </p:nvSpPr>
        <p:spPr>
          <a:xfrm xmlns:a="http://schemas.openxmlformats.org/drawingml/2006/main">
            <a:off x="723900" y="3571875"/>
            <a:ext cx="10734675" cy="0"/>
          </a:xfrm>
          <a:prstGeom xmlns:a="http://schemas.openxmlformats.org/drawingml/2006/main" prst="line">
            <a:avLst/>
          </a:prstGeom>
          <a:noFill xmlns:a="http://schemas.openxmlformats.org/drawingml/2006/main"/>
          <a:ln xmlns:a="http://schemas.openxmlformats.org/drawingml/2006/main" w="9525">
            <a:solidFill>
              <a:srgbClr val="36534A"/>
            </a:solidFill>
            <a:prstDash val="solid"/>
          </a:ln>
        </p:spPr>
      </p:sp>
      <p:sp>
        <p:nvSpPr>
          <p:cNvPr id="8" name="Keep option">
            <a:extLst xmlns:a="http://schemas.openxmlformats.org/drawingml/2006/main">
              <a:ext uri="{FF2B5EF4-FFF2-40B4-BE49-F238E27FC236}">
                <a16:creationId xmlns:a16="http://schemas.microsoft.com/office/drawing/2014/main" id="{EF6C68DB-D944-490B-A4D8-138686A7932C}"/>
              </a:ext>
            </a:extLst>
          </p:cNvPr>
          <p:cNvSpPr>
            <a:spLocks xmlns:a="http://schemas.openxmlformats.org/drawingml/2006/main" noGrp="1"/>
          </p:cNvSpPr>
          <p:nvPr/>
        </p:nvSpPr>
        <p:spPr>
          <a:xfrm xmlns:a="http://schemas.openxmlformats.org/drawingml/2006/main">
            <a:off x="723900" y="38862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0EFD7"/>
                </a:solidFill>
                <a:latin typeface="Arial"/>
                <a:ea typeface="Arial"/>
                <a:cs typeface="Arial"/>
              </a:defRPr>
            </a:defPPr>
            <a:lvl1pPr algn="l">
              <a:defRPr sz="2400" b="1">
                <a:solidFill>
                  <a:srgbClr val="F0EFD7"/>
                </a:solidFill>
                <a:latin typeface="Arial"/>
                <a:ea typeface="Arial"/>
                <a:cs typeface="Arial"/>
              </a:defRPr>
            </a:lvl1pPr>
            <a:lvl2pPr algn="l">
              <a:defRPr sz="2400" b="1">
                <a:solidFill>
                  <a:srgbClr val="F0EFD7"/>
                </a:solidFill>
                <a:latin typeface="Arial"/>
                <a:ea typeface="Arial"/>
                <a:cs typeface="Arial"/>
              </a:defRPr>
            </a:lvl2pPr>
            <a:lvl3pPr algn="l">
              <a:defRPr sz="2400" b="1">
                <a:solidFill>
                  <a:srgbClr val="F0EFD7"/>
                </a:solidFill>
                <a:latin typeface="Arial"/>
                <a:ea typeface="Arial"/>
                <a:cs typeface="Arial"/>
              </a:defRPr>
            </a:lvl3pPr>
            <a:lvl4pPr algn="l">
              <a:defRPr sz="2400" b="1">
                <a:solidFill>
                  <a:srgbClr val="F0EFD7"/>
                </a:solidFill>
                <a:latin typeface="Arial"/>
                <a:ea typeface="Arial"/>
                <a:cs typeface="Arial"/>
              </a:defRPr>
            </a:lvl4pPr>
            <a:lvl5pPr algn="l">
              <a:defRPr sz="2400" b="1">
                <a:solidFill>
                  <a:srgbClr val="F0EFD7"/>
                </a:solidFill>
                <a:latin typeface="Arial"/>
                <a:ea typeface="Arial"/>
                <a:cs typeface="Arial"/>
              </a:defRPr>
            </a:lvl5pPr>
            <a:lvl6pPr algn="l">
              <a:defRPr sz="2400" b="1">
                <a:solidFill>
                  <a:srgbClr val="F0EFD7"/>
                </a:solidFill>
                <a:latin typeface="Arial"/>
                <a:ea typeface="Arial"/>
                <a:cs typeface="Arial"/>
              </a:defRPr>
            </a:lvl6pPr>
            <a:lvl7pPr algn="l">
              <a:defRPr sz="2400" b="1">
                <a:solidFill>
                  <a:srgbClr val="F0EFD7"/>
                </a:solidFill>
                <a:latin typeface="Arial"/>
                <a:ea typeface="Arial"/>
                <a:cs typeface="Arial"/>
              </a:defRPr>
            </a:lvl7pPr>
            <a:lvl8pPr algn="l">
              <a:defRPr sz="2400" b="1">
                <a:solidFill>
                  <a:srgbClr val="F0EFD7"/>
                </a:solidFill>
                <a:latin typeface="Arial"/>
                <a:ea typeface="Arial"/>
                <a:cs typeface="Arial"/>
              </a:defRPr>
            </a:lvl8pPr>
            <a:lvl9pPr algn="l">
              <a:defRPr sz="2400" b="1">
                <a:solidFill>
                  <a:srgbClr val="F0EFD7"/>
                </a:solidFill>
                <a:latin typeface="Arial"/>
                <a:ea typeface="Arial"/>
                <a:cs typeface="Arial"/>
              </a:defRPr>
            </a:lvl9pPr>
          </a:lstStyle>
          <a:p xmlns:a="http://schemas.openxmlformats.org/drawingml/2006/main">
            <a:pPr algn="l">
              <a:defRPr sz="2400" b="1">
                <a:solidFill>
                  <a:srgbClr val="F0EFD7"/>
                </a:solidFill>
                <a:latin typeface="Arial"/>
                <a:ea typeface="Arial"/>
                <a:cs typeface="Arial"/>
              </a:defRPr>
            </a:pPr>
            <a:r>
              <a:rPr sz="2400" b="1">
                <a:solidFill>
                  <a:srgbClr val="F0EFD7"/>
                </a:solidFill>
                <a:latin typeface="Arial"/>
                <a:ea typeface="Arial"/>
                <a:cs typeface="Arial"/>
              </a:rPr>
              <a:t>Keep stock in place</a:t>
            </a:r>
          </a:p>
        </p:txBody>
      </p:sp>
      <p:sp>
        <p:nvSpPr>
          <p:cNvPr id="9" name="Keep formula">
            <a:extLst xmlns:a="http://schemas.openxmlformats.org/drawingml/2006/main">
              <a:ext uri="{FF2B5EF4-FFF2-40B4-BE49-F238E27FC236}">
                <a16:creationId xmlns:a16="http://schemas.microsoft.com/office/drawing/2014/main" id="{1B2317A5-D147-4953-8036-E6149FF69BE5}"/>
              </a:ext>
            </a:extLst>
          </p:cNvPr>
          <p:cNvSpPr>
            <a:spLocks xmlns:a="http://schemas.openxmlformats.org/drawingml/2006/main" noGrp="1"/>
          </p:cNvSpPr>
          <p:nvPr/>
        </p:nvSpPr>
        <p:spPr>
          <a:xfrm xmlns:a="http://schemas.openxmlformats.org/drawingml/2006/main">
            <a:off x="723900" y="45148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9C5A9"/>
                </a:solidFill>
                <a:latin typeface="Arial"/>
                <a:ea typeface="Arial"/>
                <a:cs typeface="Arial"/>
              </a:defRPr>
            </a:defPPr>
            <a:lvl1pPr algn="l">
              <a:defRPr sz="2100" b="0">
                <a:solidFill>
                  <a:srgbClr val="A9C5A9"/>
                </a:solidFill>
                <a:latin typeface="Arial"/>
                <a:ea typeface="Arial"/>
                <a:cs typeface="Arial"/>
              </a:defRPr>
            </a:lvl1pPr>
            <a:lvl2pPr algn="l">
              <a:defRPr sz="2100" b="0">
                <a:solidFill>
                  <a:srgbClr val="A9C5A9"/>
                </a:solidFill>
                <a:latin typeface="Arial"/>
                <a:ea typeface="Arial"/>
                <a:cs typeface="Arial"/>
              </a:defRPr>
            </a:lvl2pPr>
            <a:lvl3pPr algn="l">
              <a:defRPr sz="2100" b="0">
                <a:solidFill>
                  <a:srgbClr val="A9C5A9"/>
                </a:solidFill>
                <a:latin typeface="Arial"/>
                <a:ea typeface="Arial"/>
                <a:cs typeface="Arial"/>
              </a:defRPr>
            </a:lvl3pPr>
            <a:lvl4pPr algn="l">
              <a:defRPr sz="2100" b="0">
                <a:solidFill>
                  <a:srgbClr val="A9C5A9"/>
                </a:solidFill>
                <a:latin typeface="Arial"/>
                <a:ea typeface="Arial"/>
                <a:cs typeface="Arial"/>
              </a:defRPr>
            </a:lvl4pPr>
            <a:lvl5pPr algn="l">
              <a:defRPr sz="2100" b="0">
                <a:solidFill>
                  <a:srgbClr val="A9C5A9"/>
                </a:solidFill>
                <a:latin typeface="Arial"/>
                <a:ea typeface="Arial"/>
                <a:cs typeface="Arial"/>
              </a:defRPr>
            </a:lvl5pPr>
            <a:lvl6pPr algn="l">
              <a:defRPr sz="2100" b="0">
                <a:solidFill>
                  <a:srgbClr val="A9C5A9"/>
                </a:solidFill>
                <a:latin typeface="Arial"/>
                <a:ea typeface="Arial"/>
                <a:cs typeface="Arial"/>
              </a:defRPr>
            </a:lvl6pPr>
            <a:lvl7pPr algn="l">
              <a:defRPr sz="2100" b="0">
                <a:solidFill>
                  <a:srgbClr val="A9C5A9"/>
                </a:solidFill>
                <a:latin typeface="Arial"/>
                <a:ea typeface="Arial"/>
                <a:cs typeface="Arial"/>
              </a:defRPr>
            </a:lvl7pPr>
            <a:lvl8pPr algn="l">
              <a:defRPr sz="2100" b="0">
                <a:solidFill>
                  <a:srgbClr val="A9C5A9"/>
                </a:solidFill>
                <a:latin typeface="Arial"/>
                <a:ea typeface="Arial"/>
                <a:cs typeface="Arial"/>
              </a:defRPr>
            </a:lvl8pPr>
            <a:lvl9pPr algn="l">
              <a:defRPr sz="2100" b="0">
                <a:solidFill>
                  <a:srgbClr val="A9C5A9"/>
                </a:solidFill>
                <a:latin typeface="Arial"/>
                <a:ea typeface="Arial"/>
                <a:cs typeface="Arial"/>
              </a:defRPr>
            </a:lvl9pPr>
          </a:lstStyle>
          <a:p xmlns:a="http://schemas.openxmlformats.org/drawingml/2006/main">
            <a:pPr algn="l">
              <a:defRPr sz="2100" b="0">
                <a:solidFill>
                  <a:srgbClr val="A9C5A9"/>
                </a:solidFill>
                <a:latin typeface="Arial"/>
                <a:ea typeface="Arial"/>
                <a:cs typeface="Arial"/>
              </a:defRPr>
            </a:pPr>
            <a:r>
              <a:rPr sz="2100" b="0">
                <a:solidFill>
                  <a:srgbClr val="A9C5A9"/>
                </a:solidFill>
                <a:latin typeface="Arial"/>
                <a:ea typeface="Arial"/>
                <a:cs typeface="Arial"/>
              </a:rPr>
              <a:t>pL₀ = 0.60 × 1,000</a:t>
            </a:r>
          </a:p>
        </p:txBody>
      </p:sp>
      <p:sp>
        <p:nvSpPr>
          <p:cNvPr id="10" name="Keep expected cost">
            <a:extLst xmlns:a="http://schemas.openxmlformats.org/drawingml/2006/main">
              <a:ext uri="{FF2B5EF4-FFF2-40B4-BE49-F238E27FC236}">
                <a16:creationId xmlns:a16="http://schemas.microsoft.com/office/drawing/2014/main" id="{9FEE3338-EA5A-4143-A0C4-2A1BA302C66D}"/>
              </a:ext>
            </a:extLst>
          </p:cNvPr>
          <p:cNvSpPr>
            <a:spLocks xmlns:a="http://schemas.openxmlformats.org/drawingml/2006/main" noGrp="1"/>
          </p:cNvSpPr>
          <p:nvPr/>
        </p:nvSpPr>
        <p:spPr>
          <a:xfrm xmlns:a="http://schemas.openxmlformats.org/drawingml/2006/main">
            <a:off x="695325" y="5000625"/>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0EFD7"/>
                </a:solidFill>
                <a:latin typeface="Arial"/>
                <a:ea typeface="Arial"/>
                <a:cs typeface="Arial"/>
              </a:defRPr>
            </a:defPPr>
            <a:lvl1pPr algn="l">
              <a:defRPr sz="4800" b="1">
                <a:solidFill>
                  <a:srgbClr val="F0EFD7"/>
                </a:solidFill>
                <a:latin typeface="Arial"/>
                <a:ea typeface="Arial"/>
                <a:cs typeface="Arial"/>
              </a:defRPr>
            </a:lvl1pPr>
            <a:lvl2pPr algn="l">
              <a:defRPr sz="4800" b="1">
                <a:solidFill>
                  <a:srgbClr val="F0EFD7"/>
                </a:solidFill>
                <a:latin typeface="Arial"/>
                <a:ea typeface="Arial"/>
                <a:cs typeface="Arial"/>
              </a:defRPr>
            </a:lvl2pPr>
            <a:lvl3pPr algn="l">
              <a:defRPr sz="4800" b="1">
                <a:solidFill>
                  <a:srgbClr val="F0EFD7"/>
                </a:solidFill>
                <a:latin typeface="Arial"/>
                <a:ea typeface="Arial"/>
                <a:cs typeface="Arial"/>
              </a:defRPr>
            </a:lvl3pPr>
            <a:lvl4pPr algn="l">
              <a:defRPr sz="4800" b="1">
                <a:solidFill>
                  <a:srgbClr val="F0EFD7"/>
                </a:solidFill>
                <a:latin typeface="Arial"/>
                <a:ea typeface="Arial"/>
                <a:cs typeface="Arial"/>
              </a:defRPr>
            </a:lvl4pPr>
            <a:lvl5pPr algn="l">
              <a:defRPr sz="4800" b="1">
                <a:solidFill>
                  <a:srgbClr val="F0EFD7"/>
                </a:solidFill>
                <a:latin typeface="Arial"/>
                <a:ea typeface="Arial"/>
                <a:cs typeface="Arial"/>
              </a:defRPr>
            </a:lvl5pPr>
            <a:lvl6pPr algn="l">
              <a:defRPr sz="4800" b="1">
                <a:solidFill>
                  <a:srgbClr val="F0EFD7"/>
                </a:solidFill>
                <a:latin typeface="Arial"/>
                <a:ea typeface="Arial"/>
                <a:cs typeface="Arial"/>
              </a:defRPr>
            </a:lvl6pPr>
            <a:lvl7pPr algn="l">
              <a:defRPr sz="4800" b="1">
                <a:solidFill>
                  <a:srgbClr val="F0EFD7"/>
                </a:solidFill>
                <a:latin typeface="Arial"/>
                <a:ea typeface="Arial"/>
                <a:cs typeface="Arial"/>
              </a:defRPr>
            </a:lvl7pPr>
            <a:lvl8pPr algn="l">
              <a:defRPr sz="4800" b="1">
                <a:solidFill>
                  <a:srgbClr val="F0EFD7"/>
                </a:solidFill>
                <a:latin typeface="Arial"/>
                <a:ea typeface="Arial"/>
                <a:cs typeface="Arial"/>
              </a:defRPr>
            </a:lvl8pPr>
            <a:lvl9pPr algn="l">
              <a:defRPr sz="4800" b="1">
                <a:solidFill>
                  <a:srgbClr val="F0EFD7"/>
                </a:solidFill>
                <a:latin typeface="Arial"/>
                <a:ea typeface="Arial"/>
                <a:cs typeface="Arial"/>
              </a:defRPr>
            </a:lvl9pPr>
          </a:lstStyle>
          <a:p xmlns:a="http://schemas.openxmlformats.org/drawingml/2006/main">
            <a:pPr algn="l">
              <a:defRPr sz="4800" b="1">
                <a:solidFill>
                  <a:srgbClr val="F0EFD7"/>
                </a:solidFill>
                <a:latin typeface="Arial"/>
                <a:ea typeface="Arial"/>
                <a:cs typeface="Arial"/>
              </a:defRPr>
            </a:pPr>
            <a:r>
              <a:rPr sz="4800" b="1">
                <a:solidFill>
                  <a:srgbClr val="F0EFD7"/>
                </a:solidFill>
                <a:latin typeface="Arial"/>
                <a:ea typeface="Arial"/>
                <a:cs typeface="Arial"/>
              </a:rPr>
              <a:t>CNY 600</a:t>
            </a:r>
          </a:p>
        </p:txBody>
      </p:sp>
      <p:sp>
        <p:nvSpPr>
          <p:cNvPr id="11" name="Relocate option">
            <a:extLst xmlns:a="http://schemas.openxmlformats.org/drawingml/2006/main">
              <a:ext uri="{FF2B5EF4-FFF2-40B4-BE49-F238E27FC236}">
                <a16:creationId xmlns:a16="http://schemas.microsoft.com/office/drawing/2014/main" id="{CF998D00-FB5A-468D-AB5D-3B95E73481F1}"/>
              </a:ext>
            </a:extLst>
          </p:cNvPr>
          <p:cNvSpPr>
            <a:spLocks xmlns:a="http://schemas.openxmlformats.org/drawingml/2006/main" noGrp="1"/>
          </p:cNvSpPr>
          <p:nvPr/>
        </p:nvSpPr>
        <p:spPr>
          <a:xfrm xmlns:a="http://schemas.openxmlformats.org/drawingml/2006/main">
            <a:off x="6943725" y="3886200"/>
            <a:ext cx="428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C8E3B3"/>
                </a:solidFill>
                <a:latin typeface="Arial"/>
                <a:ea typeface="Arial"/>
                <a:cs typeface="Arial"/>
              </a:defRPr>
            </a:defPPr>
            <a:lvl1pPr algn="l">
              <a:defRPr sz="2400" b="1">
                <a:solidFill>
                  <a:srgbClr val="C8E3B3"/>
                </a:solidFill>
                <a:latin typeface="Arial"/>
                <a:ea typeface="Arial"/>
                <a:cs typeface="Arial"/>
              </a:defRPr>
            </a:lvl1pPr>
            <a:lvl2pPr algn="l">
              <a:defRPr sz="2400" b="1">
                <a:solidFill>
                  <a:srgbClr val="C8E3B3"/>
                </a:solidFill>
                <a:latin typeface="Arial"/>
                <a:ea typeface="Arial"/>
                <a:cs typeface="Arial"/>
              </a:defRPr>
            </a:lvl2pPr>
            <a:lvl3pPr algn="l">
              <a:defRPr sz="2400" b="1">
                <a:solidFill>
                  <a:srgbClr val="C8E3B3"/>
                </a:solidFill>
                <a:latin typeface="Arial"/>
                <a:ea typeface="Arial"/>
                <a:cs typeface="Arial"/>
              </a:defRPr>
            </a:lvl3pPr>
            <a:lvl4pPr algn="l">
              <a:defRPr sz="2400" b="1">
                <a:solidFill>
                  <a:srgbClr val="C8E3B3"/>
                </a:solidFill>
                <a:latin typeface="Arial"/>
                <a:ea typeface="Arial"/>
                <a:cs typeface="Arial"/>
              </a:defRPr>
            </a:lvl4pPr>
            <a:lvl5pPr algn="l">
              <a:defRPr sz="2400" b="1">
                <a:solidFill>
                  <a:srgbClr val="C8E3B3"/>
                </a:solidFill>
                <a:latin typeface="Arial"/>
                <a:ea typeface="Arial"/>
                <a:cs typeface="Arial"/>
              </a:defRPr>
            </a:lvl5pPr>
            <a:lvl6pPr algn="l">
              <a:defRPr sz="2400" b="1">
                <a:solidFill>
                  <a:srgbClr val="C8E3B3"/>
                </a:solidFill>
                <a:latin typeface="Arial"/>
                <a:ea typeface="Arial"/>
                <a:cs typeface="Arial"/>
              </a:defRPr>
            </a:lvl6pPr>
            <a:lvl7pPr algn="l">
              <a:defRPr sz="2400" b="1">
                <a:solidFill>
                  <a:srgbClr val="C8E3B3"/>
                </a:solidFill>
                <a:latin typeface="Arial"/>
                <a:ea typeface="Arial"/>
                <a:cs typeface="Arial"/>
              </a:defRPr>
            </a:lvl7pPr>
            <a:lvl8pPr algn="l">
              <a:defRPr sz="2400" b="1">
                <a:solidFill>
                  <a:srgbClr val="C8E3B3"/>
                </a:solidFill>
                <a:latin typeface="Arial"/>
                <a:ea typeface="Arial"/>
                <a:cs typeface="Arial"/>
              </a:defRPr>
            </a:lvl8pPr>
            <a:lvl9pPr algn="l">
              <a:defRPr sz="2400" b="1">
                <a:solidFill>
                  <a:srgbClr val="C8E3B3"/>
                </a:solidFill>
                <a:latin typeface="Arial"/>
                <a:ea typeface="Arial"/>
                <a:cs typeface="Arial"/>
              </a:defRPr>
            </a:lvl9pPr>
          </a:lstStyle>
          <a:p xmlns:a="http://schemas.openxmlformats.org/drawingml/2006/main">
            <a:pPr algn="l">
              <a:defRPr sz="2400" b="1">
                <a:solidFill>
                  <a:srgbClr val="C8E3B3"/>
                </a:solidFill>
                <a:latin typeface="Arial"/>
                <a:ea typeface="Arial"/>
                <a:cs typeface="Arial"/>
              </a:defRPr>
            </a:pPr>
            <a:r>
              <a:rPr sz="2400" b="1">
                <a:solidFill>
                  <a:srgbClr val="C8E3B3"/>
                </a:solidFill>
                <a:latin typeface="Arial"/>
                <a:ea typeface="Arial"/>
                <a:cs typeface="Arial"/>
              </a:rPr>
              <a:t>Relocate</a:t>
            </a:r>
          </a:p>
        </p:txBody>
      </p:sp>
      <p:sp>
        <p:nvSpPr>
          <p:cNvPr id="12" name="Relocate formula">
            <a:extLst xmlns:a="http://schemas.openxmlformats.org/drawingml/2006/main">
              <a:ext uri="{FF2B5EF4-FFF2-40B4-BE49-F238E27FC236}">
                <a16:creationId xmlns:a16="http://schemas.microsoft.com/office/drawing/2014/main" id="{9991360E-AB18-4180-829F-19878CBEFFCE}"/>
              </a:ext>
            </a:extLst>
          </p:cNvPr>
          <p:cNvSpPr>
            <a:spLocks xmlns:a="http://schemas.openxmlformats.org/drawingml/2006/main" noGrp="1"/>
          </p:cNvSpPr>
          <p:nvPr/>
        </p:nvSpPr>
        <p:spPr>
          <a:xfrm xmlns:a="http://schemas.openxmlformats.org/drawingml/2006/main">
            <a:off x="6943725" y="45148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9C5A9"/>
                </a:solidFill>
                <a:latin typeface="Arial"/>
                <a:ea typeface="Arial"/>
                <a:cs typeface="Arial"/>
              </a:defRPr>
            </a:defPPr>
            <a:lvl1pPr algn="l">
              <a:defRPr sz="2025" b="0">
                <a:solidFill>
                  <a:srgbClr val="A9C5A9"/>
                </a:solidFill>
                <a:latin typeface="Arial"/>
                <a:ea typeface="Arial"/>
                <a:cs typeface="Arial"/>
              </a:defRPr>
            </a:lvl1pPr>
            <a:lvl2pPr algn="l">
              <a:defRPr sz="2025" b="0">
                <a:solidFill>
                  <a:srgbClr val="A9C5A9"/>
                </a:solidFill>
                <a:latin typeface="Arial"/>
                <a:ea typeface="Arial"/>
                <a:cs typeface="Arial"/>
              </a:defRPr>
            </a:lvl2pPr>
            <a:lvl3pPr algn="l">
              <a:defRPr sz="2025" b="0">
                <a:solidFill>
                  <a:srgbClr val="A9C5A9"/>
                </a:solidFill>
                <a:latin typeface="Arial"/>
                <a:ea typeface="Arial"/>
                <a:cs typeface="Arial"/>
              </a:defRPr>
            </a:lvl3pPr>
            <a:lvl4pPr algn="l">
              <a:defRPr sz="2025" b="0">
                <a:solidFill>
                  <a:srgbClr val="A9C5A9"/>
                </a:solidFill>
                <a:latin typeface="Arial"/>
                <a:ea typeface="Arial"/>
                <a:cs typeface="Arial"/>
              </a:defRPr>
            </a:lvl4pPr>
            <a:lvl5pPr algn="l">
              <a:defRPr sz="2025" b="0">
                <a:solidFill>
                  <a:srgbClr val="A9C5A9"/>
                </a:solidFill>
                <a:latin typeface="Arial"/>
                <a:ea typeface="Arial"/>
                <a:cs typeface="Arial"/>
              </a:defRPr>
            </a:lvl5pPr>
            <a:lvl6pPr algn="l">
              <a:defRPr sz="2025" b="0">
                <a:solidFill>
                  <a:srgbClr val="A9C5A9"/>
                </a:solidFill>
                <a:latin typeface="Arial"/>
                <a:ea typeface="Arial"/>
                <a:cs typeface="Arial"/>
              </a:defRPr>
            </a:lvl6pPr>
            <a:lvl7pPr algn="l">
              <a:defRPr sz="2025" b="0">
                <a:solidFill>
                  <a:srgbClr val="A9C5A9"/>
                </a:solidFill>
                <a:latin typeface="Arial"/>
                <a:ea typeface="Arial"/>
                <a:cs typeface="Arial"/>
              </a:defRPr>
            </a:lvl7pPr>
            <a:lvl8pPr algn="l">
              <a:defRPr sz="2025" b="0">
                <a:solidFill>
                  <a:srgbClr val="A9C5A9"/>
                </a:solidFill>
                <a:latin typeface="Arial"/>
                <a:ea typeface="Arial"/>
                <a:cs typeface="Arial"/>
              </a:defRPr>
            </a:lvl8pPr>
            <a:lvl9pPr algn="l">
              <a:defRPr sz="2025" b="0">
                <a:solidFill>
                  <a:srgbClr val="A9C5A9"/>
                </a:solidFill>
                <a:latin typeface="Arial"/>
                <a:ea typeface="Arial"/>
                <a:cs typeface="Arial"/>
              </a:defRPr>
            </a:lvl9pPr>
          </a:lstStyle>
          <a:p xmlns:a="http://schemas.openxmlformats.org/drawingml/2006/main">
            <a:pPr algn="l">
              <a:defRPr sz="2025" b="0">
                <a:solidFill>
                  <a:srgbClr val="A9C5A9"/>
                </a:solidFill>
                <a:latin typeface="Arial"/>
                <a:ea typeface="Arial"/>
                <a:cs typeface="Arial"/>
              </a:defRPr>
            </a:pPr>
            <a:r>
              <a:rPr sz="2025" b="0">
                <a:solidFill>
                  <a:srgbClr val="A9C5A9"/>
                </a:solidFill>
                <a:latin typeface="Arial"/>
                <a:ea typeface="Arial"/>
                <a:cs typeface="Arial"/>
              </a:rPr>
              <a:t>C + pL₁ = 80 + 0.60 × 100</a:t>
            </a:r>
          </a:p>
        </p:txBody>
      </p:sp>
      <p:sp>
        <p:nvSpPr>
          <p:cNvPr id="13" name="Relocate expected cost">
            <a:extLst xmlns:a="http://schemas.openxmlformats.org/drawingml/2006/main">
              <a:ext uri="{FF2B5EF4-FFF2-40B4-BE49-F238E27FC236}">
                <a16:creationId xmlns:a16="http://schemas.microsoft.com/office/drawing/2014/main" id="{1EF078F3-E8EC-40C5-9BD9-3B4C7C21AE2E}"/>
              </a:ext>
            </a:extLst>
          </p:cNvPr>
          <p:cNvSpPr>
            <a:spLocks xmlns:a="http://schemas.openxmlformats.org/drawingml/2006/main" noGrp="1"/>
          </p:cNvSpPr>
          <p:nvPr/>
        </p:nvSpPr>
        <p:spPr>
          <a:xfrm xmlns:a="http://schemas.openxmlformats.org/drawingml/2006/main">
            <a:off x="6915150" y="5000625"/>
            <a:ext cx="45529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C8E3B3"/>
                </a:solidFill>
                <a:latin typeface="Arial"/>
                <a:ea typeface="Arial"/>
                <a:cs typeface="Arial"/>
              </a:defRPr>
            </a:defPPr>
            <a:lvl1pPr algn="l">
              <a:defRPr sz="4800" b="1">
                <a:solidFill>
                  <a:srgbClr val="C8E3B3"/>
                </a:solidFill>
                <a:latin typeface="Arial"/>
                <a:ea typeface="Arial"/>
                <a:cs typeface="Arial"/>
              </a:defRPr>
            </a:lvl1pPr>
            <a:lvl2pPr algn="l">
              <a:defRPr sz="4800" b="1">
                <a:solidFill>
                  <a:srgbClr val="C8E3B3"/>
                </a:solidFill>
                <a:latin typeface="Arial"/>
                <a:ea typeface="Arial"/>
                <a:cs typeface="Arial"/>
              </a:defRPr>
            </a:lvl2pPr>
            <a:lvl3pPr algn="l">
              <a:defRPr sz="4800" b="1">
                <a:solidFill>
                  <a:srgbClr val="C8E3B3"/>
                </a:solidFill>
                <a:latin typeface="Arial"/>
                <a:ea typeface="Arial"/>
                <a:cs typeface="Arial"/>
              </a:defRPr>
            </a:lvl3pPr>
            <a:lvl4pPr algn="l">
              <a:defRPr sz="4800" b="1">
                <a:solidFill>
                  <a:srgbClr val="C8E3B3"/>
                </a:solidFill>
                <a:latin typeface="Arial"/>
                <a:ea typeface="Arial"/>
                <a:cs typeface="Arial"/>
              </a:defRPr>
            </a:lvl4pPr>
            <a:lvl5pPr algn="l">
              <a:defRPr sz="4800" b="1">
                <a:solidFill>
                  <a:srgbClr val="C8E3B3"/>
                </a:solidFill>
                <a:latin typeface="Arial"/>
                <a:ea typeface="Arial"/>
                <a:cs typeface="Arial"/>
              </a:defRPr>
            </a:lvl5pPr>
            <a:lvl6pPr algn="l">
              <a:defRPr sz="4800" b="1">
                <a:solidFill>
                  <a:srgbClr val="C8E3B3"/>
                </a:solidFill>
                <a:latin typeface="Arial"/>
                <a:ea typeface="Arial"/>
                <a:cs typeface="Arial"/>
              </a:defRPr>
            </a:lvl6pPr>
            <a:lvl7pPr algn="l">
              <a:defRPr sz="4800" b="1">
                <a:solidFill>
                  <a:srgbClr val="C8E3B3"/>
                </a:solidFill>
                <a:latin typeface="Arial"/>
                <a:ea typeface="Arial"/>
                <a:cs typeface="Arial"/>
              </a:defRPr>
            </a:lvl7pPr>
            <a:lvl8pPr algn="l">
              <a:defRPr sz="4800" b="1">
                <a:solidFill>
                  <a:srgbClr val="C8E3B3"/>
                </a:solidFill>
                <a:latin typeface="Arial"/>
                <a:ea typeface="Arial"/>
                <a:cs typeface="Arial"/>
              </a:defRPr>
            </a:lvl8pPr>
            <a:lvl9pPr algn="l">
              <a:defRPr sz="4800" b="1">
                <a:solidFill>
                  <a:srgbClr val="C8E3B3"/>
                </a:solidFill>
                <a:latin typeface="Arial"/>
                <a:ea typeface="Arial"/>
                <a:cs typeface="Arial"/>
              </a:defRPr>
            </a:lvl9pPr>
          </a:lstStyle>
          <a:p xmlns:a="http://schemas.openxmlformats.org/drawingml/2006/main">
            <a:pPr algn="l">
              <a:defRPr sz="4800" b="1">
                <a:solidFill>
                  <a:srgbClr val="C8E3B3"/>
                </a:solidFill>
                <a:latin typeface="Arial"/>
                <a:ea typeface="Arial"/>
                <a:cs typeface="Arial"/>
              </a:defRPr>
            </a:pPr>
            <a:r>
              <a:rPr sz="4800" b="1">
                <a:solidFill>
                  <a:srgbClr val="C8E3B3"/>
                </a:solidFill>
                <a:latin typeface="Arial"/>
                <a:ea typeface="Arial"/>
                <a:cs typeface="Arial"/>
              </a:rPr>
              <a:t>CNY 140</a:t>
            </a:r>
          </a:p>
        </p:txBody>
      </p:sp>
      <p:sp>
        <p:nvSpPr>
          <p:cNvPr id="14" name="Cost result rule">
            <a:extLst xmlns:a="http://schemas.openxmlformats.org/drawingml/2006/main">
              <a:ext uri="{FF2B5EF4-FFF2-40B4-BE49-F238E27FC236}">
                <a16:creationId xmlns:a16="http://schemas.microsoft.com/office/drawing/2014/main" id="{9C6ADD90-D285-4BB7-AF07-5E7F60ADA4A1}"/>
              </a:ext>
            </a:extLst>
          </p:cNvPr>
          <p:cNvSpPr>
            <a:spLocks xmlns:a="http://schemas.openxmlformats.org/drawingml/2006/main" noGrp="1"/>
          </p:cNvSpPr>
          <p:nvPr/>
        </p:nvSpPr>
        <p:spPr>
          <a:xfrm xmlns:a="http://schemas.openxmlformats.org/drawingml/2006/main">
            <a:off x="723900" y="6019800"/>
            <a:ext cx="10734675" cy="0"/>
          </a:xfrm>
          <a:prstGeom xmlns:a="http://schemas.openxmlformats.org/drawingml/2006/main" prst="line">
            <a:avLst/>
          </a:prstGeom>
          <a:noFill xmlns:a="http://schemas.openxmlformats.org/drawingml/2006/main"/>
          <a:ln xmlns:a="http://schemas.openxmlformats.org/drawingml/2006/main" w="9525">
            <a:solidFill>
              <a:srgbClr val="36534A"/>
            </a:solidFill>
            <a:prstDash val="solid"/>
          </a:ln>
        </p:spPr>
      </p:sp>
      <p:sp>
        <p:nvSpPr>
          <p:cNvPr id="15" name="Expected cost qualification">
            <a:extLst xmlns:a="http://schemas.openxmlformats.org/drawingml/2006/main">
              <a:ext uri="{FF2B5EF4-FFF2-40B4-BE49-F238E27FC236}">
                <a16:creationId xmlns:a16="http://schemas.microsoft.com/office/drawing/2014/main" id="{EA2B99B3-45E7-4454-8D9F-8D097D30C5D5}"/>
              </a:ext>
            </a:extLst>
          </p:cNvPr>
          <p:cNvSpPr>
            <a:spLocks xmlns:a="http://schemas.openxmlformats.org/drawingml/2006/main" noGrp="1"/>
          </p:cNvSpPr>
          <p:nvPr/>
        </p:nvSpPr>
        <p:spPr>
          <a:xfrm xmlns:a="http://schemas.openxmlformats.org/drawingml/2006/main">
            <a:off x="733425" y="620077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0EFD7"/>
                </a:solidFill>
                <a:latin typeface="Arial"/>
                <a:ea typeface="Arial"/>
                <a:cs typeface="Arial"/>
              </a:defRPr>
            </a:defPPr>
            <a:lvl1pPr algn="l">
              <a:defRPr sz="1575" b="0">
                <a:solidFill>
                  <a:srgbClr val="F0EFD7"/>
                </a:solidFill>
                <a:latin typeface="Arial"/>
                <a:ea typeface="Arial"/>
                <a:cs typeface="Arial"/>
              </a:defRPr>
            </a:lvl1pPr>
            <a:lvl2pPr algn="l">
              <a:defRPr sz="1575" b="0">
                <a:solidFill>
                  <a:srgbClr val="F0EFD7"/>
                </a:solidFill>
                <a:latin typeface="Arial"/>
                <a:ea typeface="Arial"/>
                <a:cs typeface="Arial"/>
              </a:defRPr>
            </a:lvl2pPr>
            <a:lvl3pPr algn="l">
              <a:defRPr sz="1575" b="0">
                <a:solidFill>
                  <a:srgbClr val="F0EFD7"/>
                </a:solidFill>
                <a:latin typeface="Arial"/>
                <a:ea typeface="Arial"/>
                <a:cs typeface="Arial"/>
              </a:defRPr>
            </a:lvl3pPr>
            <a:lvl4pPr algn="l">
              <a:defRPr sz="1575" b="0">
                <a:solidFill>
                  <a:srgbClr val="F0EFD7"/>
                </a:solidFill>
                <a:latin typeface="Arial"/>
                <a:ea typeface="Arial"/>
                <a:cs typeface="Arial"/>
              </a:defRPr>
            </a:lvl4pPr>
            <a:lvl5pPr algn="l">
              <a:defRPr sz="1575" b="0">
                <a:solidFill>
                  <a:srgbClr val="F0EFD7"/>
                </a:solidFill>
                <a:latin typeface="Arial"/>
                <a:ea typeface="Arial"/>
                <a:cs typeface="Arial"/>
              </a:defRPr>
            </a:lvl5pPr>
            <a:lvl6pPr algn="l">
              <a:defRPr sz="1575" b="0">
                <a:solidFill>
                  <a:srgbClr val="F0EFD7"/>
                </a:solidFill>
                <a:latin typeface="Arial"/>
                <a:ea typeface="Arial"/>
                <a:cs typeface="Arial"/>
              </a:defRPr>
            </a:lvl6pPr>
            <a:lvl7pPr algn="l">
              <a:defRPr sz="1575" b="0">
                <a:solidFill>
                  <a:srgbClr val="F0EFD7"/>
                </a:solidFill>
                <a:latin typeface="Arial"/>
                <a:ea typeface="Arial"/>
                <a:cs typeface="Arial"/>
              </a:defRPr>
            </a:lvl7pPr>
            <a:lvl8pPr algn="l">
              <a:defRPr sz="1575" b="0">
                <a:solidFill>
                  <a:srgbClr val="F0EFD7"/>
                </a:solidFill>
                <a:latin typeface="Arial"/>
                <a:ea typeface="Arial"/>
                <a:cs typeface="Arial"/>
              </a:defRPr>
            </a:lvl8pPr>
            <a:lvl9pPr algn="l">
              <a:defRPr sz="1575" b="0">
                <a:solidFill>
                  <a:srgbClr val="F0EFD7"/>
                </a:solidFill>
                <a:latin typeface="Arial"/>
                <a:ea typeface="Arial"/>
                <a:cs typeface="Arial"/>
              </a:defRPr>
            </a:lvl9pPr>
          </a:lstStyle>
          <a:p xmlns:a="http://schemas.openxmlformats.org/drawingml/2006/main">
            <a:pPr algn="l">
              <a:defRPr sz="1575" b="0">
                <a:solidFill>
                  <a:srgbClr val="F0EFD7"/>
                </a:solidFill>
                <a:latin typeface="Arial"/>
                <a:ea typeface="Arial"/>
                <a:cs typeface="Arial"/>
              </a:defRPr>
            </a:pPr>
            <a:r>
              <a:rPr sz="1575" b="0">
                <a:solidFill>
                  <a:srgbClr val="F0EFD7"/>
                </a:solidFill>
                <a:latin typeface="Arial"/>
                <a:ea typeface="Arial"/>
                <a:cs typeface="Arial"/>
              </a:rPr>
              <a:t>The CNY 460 difference comes from this scenario. Actual merchant loss reduction is unverified.</a:t>
            </a:r>
          </a:p>
        </p:txBody>
      </p:sp>
    </p:spTree>
    <p:extLst>
      <p:ext uri="{BB962C8B-B14F-4D97-AF65-F5344CB8AC3E}">
        <p14:creationId xmlns:p14="http://schemas.microsoft.com/office/powerpoint/2010/main" val="1914780603"/>
      </p:ext>
    </p:extLst>
  </p:cSld>
</p:sld>
</file>

<file path=ppt/slides/slide7.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11" name="Title 7">
            <a:extLst xmlns:a="http://schemas.openxmlformats.org/drawingml/2006/main">
              <a:ext uri="{FF2B5EF4-FFF2-40B4-BE49-F238E27FC236}">
                <a16:creationId xmlns:a16="http://schemas.microsoft.com/office/drawing/2014/main" id="{5F04F7AE-68CA-4819-AA88-66165603E7BF}"/>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Relocation cost changes the choice</a:t>
            </a:r>
          </a:p>
        </p:txBody>
      </p:sp>
      <p:sp>
        <p:nvSpPr>
          <p:cNvPr id="2" name="Page 7">
            <a:extLst xmlns:a="http://schemas.openxmlformats.org/drawingml/2006/main">
              <a:ext uri="{FF2B5EF4-FFF2-40B4-BE49-F238E27FC236}">
                <a16:creationId xmlns:a16="http://schemas.microsoft.com/office/drawing/2014/main" id="{1EE9DB9A-A388-4B8F-BBAB-9F431B4908C8}"/>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07</a:t>
            </a:r>
          </a:p>
        </p:txBody>
      </p:sp>
      <p:sp>
        <p:nvSpPr>
          <p:cNvPr id="3" name="Sensitivity assumptions">
            <a:extLst xmlns:a="http://schemas.openxmlformats.org/drawingml/2006/main">
              <a:ext uri="{FF2B5EF4-FFF2-40B4-BE49-F238E27FC236}">
                <a16:creationId xmlns:a16="http://schemas.microsoft.com/office/drawing/2014/main" id="{F3DE50FE-12FE-4204-8709-2FCAC5AE3B51}"/>
              </a:ext>
            </a:extLst>
          </p:cNvPr>
          <p:cNvSpPr>
            <a:spLocks xmlns:a="http://schemas.openxmlformats.org/drawingml/2006/main" noGrp="1"/>
          </p:cNvSpPr>
          <p:nvPr/>
        </p:nvSpPr>
        <p:spPr>
          <a:xfrm xmlns:a="http://schemas.openxmlformats.org/drawingml/2006/main">
            <a:off x="723900" y="14668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6C60"/>
                </a:solidFill>
                <a:latin typeface="Arial"/>
                <a:ea typeface="Arial"/>
                <a:cs typeface="Arial"/>
              </a:defRPr>
            </a:defPPr>
            <a:lvl1pPr algn="l">
              <a:defRPr sz="2025" b="0">
                <a:solidFill>
                  <a:srgbClr val="286C60"/>
                </a:solidFill>
                <a:latin typeface="Arial"/>
                <a:ea typeface="Arial"/>
                <a:cs typeface="Arial"/>
              </a:defRPr>
            </a:lvl1pPr>
            <a:lvl2pPr algn="l">
              <a:defRPr sz="2025" b="0">
                <a:solidFill>
                  <a:srgbClr val="286C60"/>
                </a:solidFill>
                <a:latin typeface="Arial"/>
                <a:ea typeface="Arial"/>
                <a:cs typeface="Arial"/>
              </a:defRPr>
            </a:lvl2pPr>
            <a:lvl3pPr algn="l">
              <a:defRPr sz="2025" b="0">
                <a:solidFill>
                  <a:srgbClr val="286C60"/>
                </a:solidFill>
                <a:latin typeface="Arial"/>
                <a:ea typeface="Arial"/>
                <a:cs typeface="Arial"/>
              </a:defRPr>
            </a:lvl3pPr>
            <a:lvl4pPr algn="l">
              <a:defRPr sz="2025" b="0">
                <a:solidFill>
                  <a:srgbClr val="286C60"/>
                </a:solidFill>
                <a:latin typeface="Arial"/>
                <a:ea typeface="Arial"/>
                <a:cs typeface="Arial"/>
              </a:defRPr>
            </a:lvl4pPr>
            <a:lvl5pPr algn="l">
              <a:defRPr sz="2025" b="0">
                <a:solidFill>
                  <a:srgbClr val="286C60"/>
                </a:solidFill>
                <a:latin typeface="Arial"/>
                <a:ea typeface="Arial"/>
                <a:cs typeface="Arial"/>
              </a:defRPr>
            </a:lvl5pPr>
            <a:lvl6pPr algn="l">
              <a:defRPr sz="2025" b="0">
                <a:solidFill>
                  <a:srgbClr val="286C60"/>
                </a:solidFill>
                <a:latin typeface="Arial"/>
                <a:ea typeface="Arial"/>
                <a:cs typeface="Arial"/>
              </a:defRPr>
            </a:lvl6pPr>
            <a:lvl7pPr algn="l">
              <a:defRPr sz="2025" b="0">
                <a:solidFill>
                  <a:srgbClr val="286C60"/>
                </a:solidFill>
                <a:latin typeface="Arial"/>
                <a:ea typeface="Arial"/>
                <a:cs typeface="Arial"/>
              </a:defRPr>
            </a:lvl7pPr>
            <a:lvl8pPr algn="l">
              <a:defRPr sz="2025" b="0">
                <a:solidFill>
                  <a:srgbClr val="286C60"/>
                </a:solidFill>
                <a:latin typeface="Arial"/>
                <a:ea typeface="Arial"/>
                <a:cs typeface="Arial"/>
              </a:defRPr>
            </a:lvl8pPr>
            <a:lvl9pPr algn="l">
              <a:defRPr sz="2025" b="0">
                <a:solidFill>
                  <a:srgbClr val="286C60"/>
                </a:solidFill>
                <a:latin typeface="Arial"/>
                <a:ea typeface="Arial"/>
                <a:cs typeface="Arial"/>
              </a:defRPr>
            </a:lvl9pPr>
          </a:lstStyle>
          <a:p xmlns:a="http://schemas.openxmlformats.org/drawingml/2006/main">
            <a:pPr algn="l">
              <a:defRPr sz="2025" b="0">
                <a:solidFill>
                  <a:srgbClr val="286C60"/>
                </a:solidFill>
                <a:latin typeface="Arial"/>
                <a:ea typeface="Arial"/>
                <a:cs typeface="Arial"/>
              </a:defRPr>
            </a:pPr>
            <a:r>
              <a:rPr sz="2025" b="0">
                <a:solidFill>
                  <a:srgbClr val="286C60"/>
                </a:solidFill>
                <a:latin typeface="Arial"/>
                <a:ea typeface="Arial"/>
                <a:cs typeface="Arial"/>
              </a:rPr>
              <a:t>Same assumptions: p = 60%, L₀ = CNY 1,000, L₁ = CNY 100</a:t>
            </a:r>
          </a:p>
        </p:txBody>
      </p:sp>
      <p:graphicFrame>
        <p:nvGraphicFramePr>
          <p:cNvPr id="4" name="Chart">
            <a:extLst xmlns:a="http://schemas.openxmlformats.org/drawingml/2006/main">
              <a:ext uri="{FF2B5EF4-FFF2-40B4-BE49-F238E27FC236}">
                <a16:creationId xmlns:a16="http://schemas.microsoft.com/office/drawing/2014/main" id="{50453BA8-1158-442F-8916-9E83EDDC3D3B}"/>
              </a:ext>
            </a:extLst>
          </p:cNvPr>
          <p:cNvGraphicFramePr/>
          <p:nvPr/>
        </p:nvGraphicFramePr>
        <p:xfrm>
          <a:off xmlns:a="http://schemas.openxmlformats.org/drawingml/2006/main" x="581025" y="2133600"/>
          <a:ext xmlns:a="http://schemas.openxmlformats.org/drawingml/2006/main" cx="7572375" cy="3705225"/>
        </p:xfrm>
        <a:graphic xmlns:a="http://schemas.openxmlformats.org/drawingml/2006/main">
          <a:graphicData uri="http://schemas.openxmlformats.org/drawingml/2006/chart">
            <c:chart xmlns:r="http://schemas.openxmlformats.org/officeDocument/2006/relationships" xmlns:c="http://schemas.openxmlformats.org/drawingml/2006/chart" r:id="Rb036d33db32d4d74"/>
          </a:graphicData>
        </a:graphic>
      </p:graphicFrame>
      <p:sp>
        <p:nvSpPr>
          <p:cNvPr id="5" name="Cost 80">
            <a:extLst xmlns:a="http://schemas.openxmlformats.org/drawingml/2006/main">
              <a:ext uri="{FF2B5EF4-FFF2-40B4-BE49-F238E27FC236}">
                <a16:creationId xmlns:a16="http://schemas.microsoft.com/office/drawing/2014/main" id="{158859CE-E8B5-4105-85D8-26DD2D0C1348}"/>
              </a:ext>
            </a:extLst>
          </p:cNvPr>
          <p:cNvSpPr>
            <a:spLocks xmlns:a="http://schemas.openxmlformats.org/drawingml/2006/main" noGrp="1"/>
          </p:cNvSpPr>
          <p:nvPr/>
        </p:nvSpPr>
        <p:spPr>
          <a:xfrm xmlns:a="http://schemas.openxmlformats.org/drawingml/2006/main">
            <a:off x="8639175" y="22288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86C60"/>
                </a:solidFill>
                <a:latin typeface="Arial"/>
                <a:ea typeface="Arial"/>
                <a:cs typeface="Arial"/>
              </a:defRPr>
            </a:defPPr>
            <a:lvl1pPr algn="l">
              <a:defRPr sz="2100" b="1">
                <a:solidFill>
                  <a:srgbClr val="286C60"/>
                </a:solidFill>
                <a:latin typeface="Arial"/>
                <a:ea typeface="Arial"/>
                <a:cs typeface="Arial"/>
              </a:defRPr>
            </a:lvl1pPr>
            <a:lvl2pPr algn="l">
              <a:defRPr sz="2100" b="1">
                <a:solidFill>
                  <a:srgbClr val="286C60"/>
                </a:solidFill>
                <a:latin typeface="Arial"/>
                <a:ea typeface="Arial"/>
                <a:cs typeface="Arial"/>
              </a:defRPr>
            </a:lvl2pPr>
            <a:lvl3pPr algn="l">
              <a:defRPr sz="2100" b="1">
                <a:solidFill>
                  <a:srgbClr val="286C60"/>
                </a:solidFill>
                <a:latin typeface="Arial"/>
                <a:ea typeface="Arial"/>
                <a:cs typeface="Arial"/>
              </a:defRPr>
            </a:lvl3pPr>
            <a:lvl4pPr algn="l">
              <a:defRPr sz="2100" b="1">
                <a:solidFill>
                  <a:srgbClr val="286C60"/>
                </a:solidFill>
                <a:latin typeface="Arial"/>
                <a:ea typeface="Arial"/>
                <a:cs typeface="Arial"/>
              </a:defRPr>
            </a:lvl4pPr>
            <a:lvl5pPr algn="l">
              <a:defRPr sz="2100" b="1">
                <a:solidFill>
                  <a:srgbClr val="286C60"/>
                </a:solidFill>
                <a:latin typeface="Arial"/>
                <a:ea typeface="Arial"/>
                <a:cs typeface="Arial"/>
              </a:defRPr>
            </a:lvl5pPr>
            <a:lvl6pPr algn="l">
              <a:defRPr sz="2100" b="1">
                <a:solidFill>
                  <a:srgbClr val="286C60"/>
                </a:solidFill>
                <a:latin typeface="Arial"/>
                <a:ea typeface="Arial"/>
                <a:cs typeface="Arial"/>
              </a:defRPr>
            </a:lvl6pPr>
            <a:lvl7pPr algn="l">
              <a:defRPr sz="2100" b="1">
                <a:solidFill>
                  <a:srgbClr val="286C60"/>
                </a:solidFill>
                <a:latin typeface="Arial"/>
                <a:ea typeface="Arial"/>
                <a:cs typeface="Arial"/>
              </a:defRPr>
            </a:lvl7pPr>
            <a:lvl8pPr algn="l">
              <a:defRPr sz="2100" b="1">
                <a:solidFill>
                  <a:srgbClr val="286C60"/>
                </a:solidFill>
                <a:latin typeface="Arial"/>
                <a:ea typeface="Arial"/>
                <a:cs typeface="Arial"/>
              </a:defRPr>
            </a:lvl8pPr>
            <a:lvl9pPr algn="l">
              <a:defRPr sz="2100" b="1">
                <a:solidFill>
                  <a:srgbClr val="286C60"/>
                </a:solidFill>
                <a:latin typeface="Arial"/>
                <a:ea typeface="Arial"/>
                <a:cs typeface="Arial"/>
              </a:defRPr>
            </a:lvl9pPr>
          </a:lstStyle>
          <a:p xmlns:a="http://schemas.openxmlformats.org/drawingml/2006/main">
            <a:pPr algn="l">
              <a:defRPr sz="2100" b="1">
                <a:solidFill>
                  <a:srgbClr val="286C60"/>
                </a:solidFill>
                <a:latin typeface="Arial"/>
                <a:ea typeface="Arial"/>
                <a:cs typeface="Arial"/>
              </a:defRPr>
            </a:pPr>
            <a:r>
              <a:rPr sz="2100" b="1">
                <a:solidFill>
                  <a:srgbClr val="286C60"/>
                </a:solidFill>
                <a:latin typeface="Arial"/>
                <a:ea typeface="Arial"/>
                <a:cs typeface="Arial"/>
              </a:rPr>
              <a:t>C = CNY 80</a:t>
            </a:r>
          </a:p>
        </p:txBody>
      </p:sp>
      <p:sp>
        <p:nvSpPr>
          <p:cNvPr id="6" name="Cost 80 decision">
            <a:extLst xmlns:a="http://schemas.openxmlformats.org/drawingml/2006/main">
              <a:ext uri="{FF2B5EF4-FFF2-40B4-BE49-F238E27FC236}">
                <a16:creationId xmlns:a16="http://schemas.microsoft.com/office/drawing/2014/main" id="{A7B81B02-CCCD-468D-B19E-B915F3761429}"/>
              </a:ext>
            </a:extLst>
          </p:cNvPr>
          <p:cNvSpPr>
            <a:spLocks xmlns:a="http://schemas.openxmlformats.org/drawingml/2006/main" noGrp="1"/>
          </p:cNvSpPr>
          <p:nvPr/>
        </p:nvSpPr>
        <p:spPr>
          <a:xfrm xmlns:a="http://schemas.openxmlformats.org/drawingml/2006/main">
            <a:off x="8639175" y="2743200"/>
            <a:ext cx="2819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3E36"/>
                </a:solidFill>
                <a:latin typeface="Arial"/>
                <a:ea typeface="Arial"/>
                <a:cs typeface="Arial"/>
              </a:defRPr>
            </a:defPPr>
            <a:lvl1pPr algn="l">
              <a:defRPr sz="1800" b="0">
                <a:solidFill>
                  <a:srgbClr val="173E36"/>
                </a:solidFill>
                <a:latin typeface="Arial"/>
                <a:ea typeface="Arial"/>
                <a:cs typeface="Arial"/>
              </a:defRPr>
            </a:lvl1pPr>
            <a:lvl2pPr algn="l">
              <a:defRPr sz="1800" b="0">
                <a:solidFill>
                  <a:srgbClr val="173E36"/>
                </a:solidFill>
                <a:latin typeface="Arial"/>
                <a:ea typeface="Arial"/>
                <a:cs typeface="Arial"/>
              </a:defRPr>
            </a:lvl2pPr>
            <a:lvl3pPr algn="l">
              <a:defRPr sz="1800" b="0">
                <a:solidFill>
                  <a:srgbClr val="173E36"/>
                </a:solidFill>
                <a:latin typeface="Arial"/>
                <a:ea typeface="Arial"/>
                <a:cs typeface="Arial"/>
              </a:defRPr>
            </a:lvl3pPr>
            <a:lvl4pPr algn="l">
              <a:defRPr sz="1800" b="0">
                <a:solidFill>
                  <a:srgbClr val="173E36"/>
                </a:solidFill>
                <a:latin typeface="Arial"/>
                <a:ea typeface="Arial"/>
                <a:cs typeface="Arial"/>
              </a:defRPr>
            </a:lvl4pPr>
            <a:lvl5pPr algn="l">
              <a:defRPr sz="1800" b="0">
                <a:solidFill>
                  <a:srgbClr val="173E36"/>
                </a:solidFill>
                <a:latin typeface="Arial"/>
                <a:ea typeface="Arial"/>
                <a:cs typeface="Arial"/>
              </a:defRPr>
            </a:lvl5pPr>
            <a:lvl6pPr algn="l">
              <a:defRPr sz="1800" b="0">
                <a:solidFill>
                  <a:srgbClr val="173E36"/>
                </a:solidFill>
                <a:latin typeface="Arial"/>
                <a:ea typeface="Arial"/>
                <a:cs typeface="Arial"/>
              </a:defRPr>
            </a:lvl6pPr>
            <a:lvl7pPr algn="l">
              <a:defRPr sz="1800" b="0">
                <a:solidFill>
                  <a:srgbClr val="173E36"/>
                </a:solidFill>
                <a:latin typeface="Arial"/>
                <a:ea typeface="Arial"/>
                <a:cs typeface="Arial"/>
              </a:defRPr>
            </a:lvl7pPr>
            <a:lvl8pPr algn="l">
              <a:defRPr sz="1800" b="0">
                <a:solidFill>
                  <a:srgbClr val="173E36"/>
                </a:solidFill>
                <a:latin typeface="Arial"/>
                <a:ea typeface="Arial"/>
                <a:cs typeface="Arial"/>
              </a:defRPr>
            </a:lvl8pPr>
            <a:lvl9pPr algn="l">
              <a:defRPr sz="1800" b="0">
                <a:solidFill>
                  <a:srgbClr val="173E36"/>
                </a:solidFill>
                <a:latin typeface="Arial"/>
                <a:ea typeface="Arial"/>
                <a:cs typeface="Arial"/>
              </a:defRPr>
            </a:lvl9pPr>
          </a:lstStyle>
          <a:p xmlns:a="http://schemas.openxmlformats.org/drawingml/2006/main">
            <a:pPr algn="l">
              <a:defRPr sz="1800" b="0">
                <a:solidFill>
                  <a:srgbClr val="173E36"/>
                </a:solidFill>
                <a:latin typeface="Arial"/>
                <a:ea typeface="Arial"/>
                <a:cs typeface="Arial"/>
              </a:defRPr>
            </a:pPr>
            <a:r>
              <a:rPr sz="1800" b="0">
                <a:solidFill>
                  <a:srgbClr val="173E36"/>
                </a:solidFill>
                <a:latin typeface="Arial"/>
                <a:ea typeface="Arial"/>
                <a:cs typeface="Arial"/>
              </a:rPr>
              <a:t>Relocate: CNY 140</a:t>
            </a:r>
          </a:p>
          <a:p xmlns:a="http://schemas.openxmlformats.org/drawingml/2006/main">
            <a:pPr algn="l">
              <a:defRPr sz="1800" b="0">
                <a:solidFill>
                  <a:srgbClr val="173E36"/>
                </a:solidFill>
                <a:latin typeface="Arial"/>
                <a:ea typeface="Arial"/>
                <a:cs typeface="Arial"/>
              </a:defRPr>
            </a:pPr>
            <a:r>
              <a:rPr sz="1800" b="0">
                <a:solidFill>
                  <a:srgbClr val="173E36"/>
                </a:solidFill>
                <a:latin typeface="Arial"/>
                <a:ea typeface="Arial"/>
                <a:cs typeface="Arial"/>
              </a:rPr>
              <a:t>Keep: CNY 600</a:t>
            </a:r>
          </a:p>
        </p:txBody>
      </p:sp>
      <p:sp>
        <p:nvSpPr>
          <p:cNvPr id="7" name="Sensitivity divider">
            <a:extLst xmlns:a="http://schemas.openxmlformats.org/drawingml/2006/main">
              <a:ext uri="{FF2B5EF4-FFF2-40B4-BE49-F238E27FC236}">
                <a16:creationId xmlns:a16="http://schemas.microsoft.com/office/drawing/2014/main" id="{37C53461-2A2C-4B2D-8644-629BCC9B3FE6}"/>
              </a:ext>
            </a:extLst>
          </p:cNvPr>
          <p:cNvSpPr>
            <a:spLocks xmlns:a="http://schemas.openxmlformats.org/drawingml/2006/main" noGrp="1"/>
          </p:cNvSpPr>
          <p:nvPr/>
        </p:nvSpPr>
        <p:spPr>
          <a:xfrm xmlns:a="http://schemas.openxmlformats.org/drawingml/2006/main">
            <a:off x="8639175" y="3705225"/>
            <a:ext cx="2809875" cy="0"/>
          </a:xfrm>
          <a:prstGeom xmlns:a="http://schemas.openxmlformats.org/drawingml/2006/main" prst="line">
            <a:avLst/>
          </a:prstGeom>
          <a:noFill xmlns:a="http://schemas.openxmlformats.org/drawingml/2006/main"/>
          <a:ln xmlns:a="http://schemas.openxmlformats.org/drawingml/2006/main" w="9525">
            <a:solidFill>
              <a:srgbClr val="D6DFCF"/>
            </a:solidFill>
            <a:prstDash val="solid"/>
          </a:ln>
        </p:spPr>
      </p:sp>
      <p:sp>
        <p:nvSpPr>
          <p:cNvPr id="8" name="Cost 540 tie">
            <a:extLst xmlns:a="http://schemas.openxmlformats.org/drawingml/2006/main">
              <a:ext uri="{FF2B5EF4-FFF2-40B4-BE49-F238E27FC236}">
                <a16:creationId xmlns:a16="http://schemas.microsoft.com/office/drawing/2014/main" id="{6983B403-09CA-4A72-BB2B-794CC600D931}"/>
              </a:ext>
            </a:extLst>
          </p:cNvPr>
          <p:cNvSpPr>
            <a:spLocks xmlns:a="http://schemas.openxmlformats.org/drawingml/2006/main" noGrp="1"/>
          </p:cNvSpPr>
          <p:nvPr/>
        </p:nvSpPr>
        <p:spPr>
          <a:xfrm xmlns:a="http://schemas.openxmlformats.org/drawingml/2006/main">
            <a:off x="8639175" y="3924300"/>
            <a:ext cx="2819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E36"/>
                </a:solidFill>
                <a:latin typeface="Arial"/>
                <a:ea typeface="Arial"/>
                <a:cs typeface="Arial"/>
              </a:defRPr>
            </a:defPPr>
            <a:lvl1pPr algn="l">
              <a:defRPr sz="2025" b="1">
                <a:solidFill>
                  <a:srgbClr val="173E36"/>
                </a:solidFill>
                <a:latin typeface="Arial"/>
                <a:ea typeface="Arial"/>
                <a:cs typeface="Arial"/>
              </a:defRPr>
            </a:lvl1pPr>
            <a:lvl2pPr algn="l">
              <a:defRPr sz="2025" b="1">
                <a:solidFill>
                  <a:srgbClr val="173E36"/>
                </a:solidFill>
                <a:latin typeface="Arial"/>
                <a:ea typeface="Arial"/>
                <a:cs typeface="Arial"/>
              </a:defRPr>
            </a:lvl2pPr>
            <a:lvl3pPr algn="l">
              <a:defRPr sz="2025" b="1">
                <a:solidFill>
                  <a:srgbClr val="173E36"/>
                </a:solidFill>
                <a:latin typeface="Arial"/>
                <a:ea typeface="Arial"/>
                <a:cs typeface="Arial"/>
              </a:defRPr>
            </a:lvl3pPr>
            <a:lvl4pPr algn="l">
              <a:defRPr sz="2025" b="1">
                <a:solidFill>
                  <a:srgbClr val="173E36"/>
                </a:solidFill>
                <a:latin typeface="Arial"/>
                <a:ea typeface="Arial"/>
                <a:cs typeface="Arial"/>
              </a:defRPr>
            </a:lvl4pPr>
            <a:lvl5pPr algn="l">
              <a:defRPr sz="2025" b="1">
                <a:solidFill>
                  <a:srgbClr val="173E36"/>
                </a:solidFill>
                <a:latin typeface="Arial"/>
                <a:ea typeface="Arial"/>
                <a:cs typeface="Arial"/>
              </a:defRPr>
            </a:lvl5pPr>
            <a:lvl6pPr algn="l">
              <a:defRPr sz="2025" b="1">
                <a:solidFill>
                  <a:srgbClr val="173E36"/>
                </a:solidFill>
                <a:latin typeface="Arial"/>
                <a:ea typeface="Arial"/>
                <a:cs typeface="Arial"/>
              </a:defRPr>
            </a:lvl6pPr>
            <a:lvl7pPr algn="l">
              <a:defRPr sz="2025" b="1">
                <a:solidFill>
                  <a:srgbClr val="173E36"/>
                </a:solidFill>
                <a:latin typeface="Arial"/>
                <a:ea typeface="Arial"/>
                <a:cs typeface="Arial"/>
              </a:defRPr>
            </a:lvl7pPr>
            <a:lvl8pPr algn="l">
              <a:defRPr sz="2025" b="1">
                <a:solidFill>
                  <a:srgbClr val="173E36"/>
                </a:solidFill>
                <a:latin typeface="Arial"/>
                <a:ea typeface="Arial"/>
                <a:cs typeface="Arial"/>
              </a:defRPr>
            </a:lvl8pPr>
            <a:lvl9pPr algn="l">
              <a:defRPr sz="2025" b="1">
                <a:solidFill>
                  <a:srgbClr val="173E36"/>
                </a:solidFill>
                <a:latin typeface="Arial"/>
                <a:ea typeface="Arial"/>
                <a:cs typeface="Arial"/>
              </a:defRPr>
            </a:lvl9pPr>
          </a:lstStyle>
          <a:p xmlns:a="http://schemas.openxmlformats.org/drawingml/2006/main">
            <a:pPr algn="l">
              <a:defRPr sz="2025" b="1">
                <a:solidFill>
                  <a:srgbClr val="173E36"/>
                </a:solidFill>
                <a:latin typeface="Arial"/>
                <a:ea typeface="Arial"/>
                <a:cs typeface="Arial"/>
              </a:defRPr>
            </a:pPr>
            <a:r>
              <a:rPr sz="2025" b="1">
                <a:solidFill>
                  <a:srgbClr val="173E36"/>
                </a:solidFill>
                <a:latin typeface="Arial"/>
                <a:ea typeface="Arial"/>
                <a:cs typeface="Arial"/>
              </a:rPr>
              <a:t>C = CNY 540</a:t>
            </a:r>
          </a:p>
          <a:p xmlns:a="http://schemas.openxmlformats.org/drawingml/2006/main">
            <a:pPr algn="l">
              <a:defRPr sz="2025" b="1">
                <a:solidFill>
                  <a:srgbClr val="173E36"/>
                </a:solidFill>
                <a:latin typeface="Arial"/>
                <a:ea typeface="Arial"/>
                <a:cs typeface="Arial"/>
              </a:defRPr>
            </a:pPr>
            <a:r>
              <a:rPr sz="2025" b="1">
                <a:solidFill>
                  <a:srgbClr val="173E36"/>
                </a:solidFill>
                <a:latin typeface="Arial"/>
                <a:ea typeface="Arial"/>
                <a:cs typeface="Arial"/>
              </a:rPr>
              <a:t>Equal expected costs</a:t>
            </a:r>
          </a:p>
        </p:txBody>
      </p:sp>
      <p:sp>
        <p:nvSpPr>
          <p:cNvPr id="9" name="Cost 600 keep">
            <a:extLst xmlns:a="http://schemas.openxmlformats.org/drawingml/2006/main">
              <a:ext uri="{FF2B5EF4-FFF2-40B4-BE49-F238E27FC236}">
                <a16:creationId xmlns:a16="http://schemas.microsoft.com/office/drawing/2014/main" id="{14906EDA-404D-464C-ABCB-133BB27B6324}"/>
              </a:ext>
            </a:extLst>
          </p:cNvPr>
          <p:cNvSpPr>
            <a:spLocks xmlns:a="http://schemas.openxmlformats.org/drawingml/2006/main" noGrp="1"/>
          </p:cNvSpPr>
          <p:nvPr/>
        </p:nvSpPr>
        <p:spPr>
          <a:xfrm xmlns:a="http://schemas.openxmlformats.org/drawingml/2006/main">
            <a:off x="8639175" y="5048250"/>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06945"/>
                </a:solidFill>
                <a:latin typeface="Arial"/>
                <a:ea typeface="Arial"/>
                <a:cs typeface="Arial"/>
              </a:defRPr>
            </a:defPPr>
            <a:lvl1pPr algn="l">
              <a:defRPr sz="2025" b="1">
                <a:solidFill>
                  <a:srgbClr val="B06945"/>
                </a:solidFill>
                <a:latin typeface="Arial"/>
                <a:ea typeface="Arial"/>
                <a:cs typeface="Arial"/>
              </a:defRPr>
            </a:lvl1pPr>
            <a:lvl2pPr algn="l">
              <a:defRPr sz="2025" b="1">
                <a:solidFill>
                  <a:srgbClr val="B06945"/>
                </a:solidFill>
                <a:latin typeface="Arial"/>
                <a:ea typeface="Arial"/>
                <a:cs typeface="Arial"/>
              </a:defRPr>
            </a:lvl2pPr>
            <a:lvl3pPr algn="l">
              <a:defRPr sz="2025" b="1">
                <a:solidFill>
                  <a:srgbClr val="B06945"/>
                </a:solidFill>
                <a:latin typeface="Arial"/>
                <a:ea typeface="Arial"/>
                <a:cs typeface="Arial"/>
              </a:defRPr>
            </a:lvl3pPr>
            <a:lvl4pPr algn="l">
              <a:defRPr sz="2025" b="1">
                <a:solidFill>
                  <a:srgbClr val="B06945"/>
                </a:solidFill>
                <a:latin typeface="Arial"/>
                <a:ea typeface="Arial"/>
                <a:cs typeface="Arial"/>
              </a:defRPr>
            </a:lvl4pPr>
            <a:lvl5pPr algn="l">
              <a:defRPr sz="2025" b="1">
                <a:solidFill>
                  <a:srgbClr val="B06945"/>
                </a:solidFill>
                <a:latin typeface="Arial"/>
                <a:ea typeface="Arial"/>
                <a:cs typeface="Arial"/>
              </a:defRPr>
            </a:lvl5pPr>
            <a:lvl6pPr algn="l">
              <a:defRPr sz="2025" b="1">
                <a:solidFill>
                  <a:srgbClr val="B06945"/>
                </a:solidFill>
                <a:latin typeface="Arial"/>
                <a:ea typeface="Arial"/>
                <a:cs typeface="Arial"/>
              </a:defRPr>
            </a:lvl6pPr>
            <a:lvl7pPr algn="l">
              <a:defRPr sz="2025" b="1">
                <a:solidFill>
                  <a:srgbClr val="B06945"/>
                </a:solidFill>
                <a:latin typeface="Arial"/>
                <a:ea typeface="Arial"/>
                <a:cs typeface="Arial"/>
              </a:defRPr>
            </a:lvl7pPr>
            <a:lvl8pPr algn="l">
              <a:defRPr sz="2025" b="1">
                <a:solidFill>
                  <a:srgbClr val="B06945"/>
                </a:solidFill>
                <a:latin typeface="Arial"/>
                <a:ea typeface="Arial"/>
                <a:cs typeface="Arial"/>
              </a:defRPr>
            </a:lvl8pPr>
            <a:lvl9pPr algn="l">
              <a:defRPr sz="2025" b="1">
                <a:solidFill>
                  <a:srgbClr val="B06945"/>
                </a:solidFill>
                <a:latin typeface="Arial"/>
                <a:ea typeface="Arial"/>
                <a:cs typeface="Arial"/>
              </a:defRPr>
            </a:lvl9pPr>
          </a:lstStyle>
          <a:p xmlns:a="http://schemas.openxmlformats.org/drawingml/2006/main">
            <a:pPr algn="l">
              <a:defRPr sz="2025" b="1">
                <a:solidFill>
                  <a:srgbClr val="B06945"/>
                </a:solidFill>
                <a:latin typeface="Arial"/>
                <a:ea typeface="Arial"/>
                <a:cs typeface="Arial"/>
              </a:defRPr>
            </a:pPr>
            <a:r>
              <a:rPr sz="2025" b="1">
                <a:solidFill>
                  <a:srgbClr val="B06945"/>
                </a:solidFill>
                <a:latin typeface="Arial"/>
                <a:ea typeface="Arial"/>
                <a:cs typeface="Arial"/>
              </a:rPr>
              <a:t>C = CNY 600</a:t>
            </a:r>
          </a:p>
          <a:p xmlns:a="http://schemas.openxmlformats.org/drawingml/2006/main">
            <a:pPr algn="l">
              <a:defRPr sz="2025" b="1">
                <a:solidFill>
                  <a:srgbClr val="B06945"/>
                </a:solidFill>
                <a:latin typeface="Arial"/>
                <a:ea typeface="Arial"/>
                <a:cs typeface="Arial"/>
              </a:defRPr>
            </a:pPr>
            <a:r>
              <a:rPr sz="2025" b="1">
                <a:solidFill>
                  <a:srgbClr val="B06945"/>
                </a:solidFill>
                <a:latin typeface="Arial"/>
                <a:ea typeface="Arial"/>
                <a:cs typeface="Arial"/>
              </a:rPr>
              <a:t>Keep stock in place</a:t>
            </a:r>
          </a:p>
        </p:txBody>
      </p:sp>
      <p:sp>
        <p:nvSpPr>
          <p:cNvPr id="10" name="Break even equation">
            <a:extLst xmlns:a="http://schemas.openxmlformats.org/drawingml/2006/main">
              <a:ext uri="{FF2B5EF4-FFF2-40B4-BE49-F238E27FC236}">
                <a16:creationId xmlns:a16="http://schemas.microsoft.com/office/drawing/2014/main" id="{8B9644BC-3479-424B-B088-C059380C822E}"/>
              </a:ext>
            </a:extLst>
          </p:cNvPr>
          <p:cNvSpPr>
            <a:spLocks xmlns:a="http://schemas.openxmlformats.org/drawingml/2006/main" noGrp="1"/>
          </p:cNvSpPr>
          <p:nvPr/>
        </p:nvSpPr>
        <p:spPr>
          <a:xfrm xmlns:a="http://schemas.openxmlformats.org/drawingml/2006/main">
            <a:off x="733425" y="60864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7C6C"/>
                </a:solidFill>
                <a:latin typeface="Arial"/>
                <a:ea typeface="Arial"/>
                <a:cs typeface="Arial"/>
              </a:defRPr>
            </a:defPPr>
            <a:lvl1pPr algn="l">
              <a:defRPr sz="1725" b="0">
                <a:solidFill>
                  <a:srgbClr val="687C6C"/>
                </a:solidFill>
                <a:latin typeface="Arial"/>
                <a:ea typeface="Arial"/>
                <a:cs typeface="Arial"/>
              </a:defRPr>
            </a:lvl1pPr>
            <a:lvl2pPr algn="l">
              <a:defRPr sz="1725" b="0">
                <a:solidFill>
                  <a:srgbClr val="687C6C"/>
                </a:solidFill>
                <a:latin typeface="Arial"/>
                <a:ea typeface="Arial"/>
                <a:cs typeface="Arial"/>
              </a:defRPr>
            </a:lvl2pPr>
            <a:lvl3pPr algn="l">
              <a:defRPr sz="1725" b="0">
                <a:solidFill>
                  <a:srgbClr val="687C6C"/>
                </a:solidFill>
                <a:latin typeface="Arial"/>
                <a:ea typeface="Arial"/>
                <a:cs typeface="Arial"/>
              </a:defRPr>
            </a:lvl3pPr>
            <a:lvl4pPr algn="l">
              <a:defRPr sz="1725" b="0">
                <a:solidFill>
                  <a:srgbClr val="687C6C"/>
                </a:solidFill>
                <a:latin typeface="Arial"/>
                <a:ea typeface="Arial"/>
                <a:cs typeface="Arial"/>
              </a:defRPr>
            </a:lvl4pPr>
            <a:lvl5pPr algn="l">
              <a:defRPr sz="1725" b="0">
                <a:solidFill>
                  <a:srgbClr val="687C6C"/>
                </a:solidFill>
                <a:latin typeface="Arial"/>
                <a:ea typeface="Arial"/>
                <a:cs typeface="Arial"/>
              </a:defRPr>
            </a:lvl5pPr>
            <a:lvl6pPr algn="l">
              <a:defRPr sz="1725" b="0">
                <a:solidFill>
                  <a:srgbClr val="687C6C"/>
                </a:solidFill>
                <a:latin typeface="Arial"/>
                <a:ea typeface="Arial"/>
                <a:cs typeface="Arial"/>
              </a:defRPr>
            </a:lvl6pPr>
            <a:lvl7pPr algn="l">
              <a:defRPr sz="1725" b="0">
                <a:solidFill>
                  <a:srgbClr val="687C6C"/>
                </a:solidFill>
                <a:latin typeface="Arial"/>
                <a:ea typeface="Arial"/>
                <a:cs typeface="Arial"/>
              </a:defRPr>
            </a:lvl7pPr>
            <a:lvl8pPr algn="l">
              <a:defRPr sz="1725" b="0">
                <a:solidFill>
                  <a:srgbClr val="687C6C"/>
                </a:solidFill>
                <a:latin typeface="Arial"/>
                <a:ea typeface="Arial"/>
                <a:cs typeface="Arial"/>
              </a:defRPr>
            </a:lvl8pPr>
            <a:lvl9pPr algn="l">
              <a:defRPr sz="1725" b="0">
                <a:solidFill>
                  <a:srgbClr val="687C6C"/>
                </a:solidFill>
                <a:latin typeface="Arial"/>
                <a:ea typeface="Arial"/>
                <a:cs typeface="Arial"/>
              </a:defRPr>
            </a:lvl9pPr>
          </a:lstStyle>
          <a:p xmlns:a="http://schemas.openxmlformats.org/drawingml/2006/main">
            <a:pPr algn="l">
              <a:defRPr sz="1725" b="0">
                <a:solidFill>
                  <a:srgbClr val="687C6C"/>
                </a:solidFill>
                <a:latin typeface="Arial"/>
                <a:ea typeface="Arial"/>
                <a:cs typeface="Arial"/>
              </a:defRPr>
            </a:pPr>
            <a:r>
              <a:rPr sz="1725" b="0">
                <a:solidFill>
                  <a:srgbClr val="687C6C"/>
                </a:solidFill>
                <a:latin typeface="Arial"/>
                <a:ea typeface="Arial"/>
                <a:cs typeface="Arial"/>
              </a:rPr>
              <a:t>Break-even cost C* = p(L₀ − L₁) = CNY 540. Inputs determine the comparison.</a:t>
            </a:r>
          </a:p>
        </p:txBody>
      </p:sp>
    </p:spTree>
    <p:extLst>
      <p:ext uri="{BB962C8B-B14F-4D97-AF65-F5344CB8AC3E}">
        <p14:creationId xmlns:p14="http://schemas.microsoft.com/office/powerpoint/2010/main" val="254834889"/>
      </p:ext>
    </p:extLst>
  </p:cSld>
</p:sld>
</file>

<file path=ppt/slides/slide8.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11" name="Title 8">
            <a:extLst xmlns:a="http://schemas.openxmlformats.org/drawingml/2006/main">
              <a:ext uri="{FF2B5EF4-FFF2-40B4-BE49-F238E27FC236}">
                <a16:creationId xmlns:a16="http://schemas.microsoft.com/office/drawing/2014/main" id="{BD2210E8-6A12-4ECB-AC8D-E2FF502512D3}"/>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Evidence and limits</a:t>
            </a:r>
          </a:p>
        </p:txBody>
      </p:sp>
      <p:sp>
        <p:nvSpPr>
          <p:cNvPr id="2" name="Page 8">
            <a:extLst xmlns:a="http://schemas.openxmlformats.org/drawingml/2006/main">
              <a:ext uri="{FF2B5EF4-FFF2-40B4-BE49-F238E27FC236}">
                <a16:creationId xmlns:a16="http://schemas.microsoft.com/office/drawing/2014/main" id="{B07F9A39-7606-4E4D-B483-FAC2B5B882C3}"/>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08</a:t>
            </a:r>
          </a:p>
        </p:txBody>
      </p:sp>
      <p:sp>
        <p:nvSpPr>
          <p:cNvPr id="3" name="Test scope">
            <a:extLst xmlns:a="http://schemas.openxmlformats.org/drawingml/2006/main">
              <a:ext uri="{FF2B5EF4-FFF2-40B4-BE49-F238E27FC236}">
                <a16:creationId xmlns:a16="http://schemas.microsoft.com/office/drawing/2014/main" id="{9C33AA63-68C0-45DD-A4FF-DF9A0542E7D6}"/>
              </a:ext>
            </a:extLst>
          </p:cNvPr>
          <p:cNvSpPr>
            <a:spLocks xmlns:a="http://schemas.openxmlformats.org/drawingml/2006/main" noGrp="1"/>
          </p:cNvSpPr>
          <p:nvPr/>
        </p:nvSpPr>
        <p:spPr>
          <a:xfrm xmlns:a="http://schemas.openxmlformats.org/drawingml/2006/main">
            <a:off x="723900" y="1466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6C60"/>
                </a:solidFill>
                <a:latin typeface="Arial"/>
                <a:ea typeface="Arial"/>
                <a:cs typeface="Arial"/>
              </a:defRPr>
            </a:defPPr>
            <a:lvl1pPr algn="l">
              <a:defRPr sz="2025" b="0">
                <a:solidFill>
                  <a:srgbClr val="286C60"/>
                </a:solidFill>
                <a:latin typeface="Arial"/>
                <a:ea typeface="Arial"/>
                <a:cs typeface="Arial"/>
              </a:defRPr>
            </a:lvl1pPr>
            <a:lvl2pPr algn="l">
              <a:defRPr sz="2025" b="0">
                <a:solidFill>
                  <a:srgbClr val="286C60"/>
                </a:solidFill>
                <a:latin typeface="Arial"/>
                <a:ea typeface="Arial"/>
                <a:cs typeface="Arial"/>
              </a:defRPr>
            </a:lvl2pPr>
            <a:lvl3pPr algn="l">
              <a:defRPr sz="2025" b="0">
                <a:solidFill>
                  <a:srgbClr val="286C60"/>
                </a:solidFill>
                <a:latin typeface="Arial"/>
                <a:ea typeface="Arial"/>
                <a:cs typeface="Arial"/>
              </a:defRPr>
            </a:lvl3pPr>
            <a:lvl4pPr algn="l">
              <a:defRPr sz="2025" b="0">
                <a:solidFill>
                  <a:srgbClr val="286C60"/>
                </a:solidFill>
                <a:latin typeface="Arial"/>
                <a:ea typeface="Arial"/>
                <a:cs typeface="Arial"/>
              </a:defRPr>
            </a:lvl4pPr>
            <a:lvl5pPr algn="l">
              <a:defRPr sz="2025" b="0">
                <a:solidFill>
                  <a:srgbClr val="286C60"/>
                </a:solidFill>
                <a:latin typeface="Arial"/>
                <a:ea typeface="Arial"/>
                <a:cs typeface="Arial"/>
              </a:defRPr>
            </a:lvl5pPr>
            <a:lvl6pPr algn="l">
              <a:defRPr sz="2025" b="0">
                <a:solidFill>
                  <a:srgbClr val="286C60"/>
                </a:solidFill>
                <a:latin typeface="Arial"/>
                <a:ea typeface="Arial"/>
                <a:cs typeface="Arial"/>
              </a:defRPr>
            </a:lvl6pPr>
            <a:lvl7pPr algn="l">
              <a:defRPr sz="2025" b="0">
                <a:solidFill>
                  <a:srgbClr val="286C60"/>
                </a:solidFill>
                <a:latin typeface="Arial"/>
                <a:ea typeface="Arial"/>
                <a:cs typeface="Arial"/>
              </a:defRPr>
            </a:lvl7pPr>
            <a:lvl8pPr algn="l">
              <a:defRPr sz="2025" b="0">
                <a:solidFill>
                  <a:srgbClr val="286C60"/>
                </a:solidFill>
                <a:latin typeface="Arial"/>
                <a:ea typeface="Arial"/>
                <a:cs typeface="Arial"/>
              </a:defRPr>
            </a:lvl8pPr>
            <a:lvl9pPr algn="l">
              <a:defRPr sz="2025" b="0">
                <a:solidFill>
                  <a:srgbClr val="286C60"/>
                </a:solidFill>
                <a:latin typeface="Arial"/>
                <a:ea typeface="Arial"/>
                <a:cs typeface="Arial"/>
              </a:defRPr>
            </a:lvl9pPr>
          </a:lstStyle>
          <a:p xmlns:a="http://schemas.openxmlformats.org/drawingml/2006/main">
            <a:pPr algn="l">
              <a:defRPr sz="2025" b="0">
                <a:solidFill>
                  <a:srgbClr val="286C60"/>
                </a:solidFill>
                <a:latin typeface="Arial"/>
                <a:ea typeface="Arial"/>
                <a:cs typeface="Arial"/>
              </a:defRPr>
            </a:pPr>
            <a:r>
              <a:rPr sz="2025" b="0">
                <a:solidFill>
                  <a:srgbClr val="286C60"/>
                </a:solidFill>
                <a:latin typeface="Arial"/>
                <a:ea typeface="Arial"/>
                <a:cs typeface="Arial"/>
              </a:rPr>
              <a:t>Offline study: the same 240 test days with 18 reference events</a:t>
            </a:r>
          </a:p>
        </p:txBody>
      </p:sp>
      <p:sp>
        <p:nvSpPr>
          <p:cNvPr id="4" name="Chart heading">
            <a:extLst xmlns:a="http://schemas.openxmlformats.org/drawingml/2006/main">
              <a:ext uri="{FF2B5EF4-FFF2-40B4-BE49-F238E27FC236}">
                <a16:creationId xmlns:a16="http://schemas.microsoft.com/office/drawing/2014/main" id="{0ABF6C7A-59D9-476C-AB46-4A8B53449ACC}"/>
              </a:ext>
            </a:extLst>
          </p:cNvPr>
          <p:cNvSpPr>
            <a:spLocks xmlns:a="http://schemas.openxmlformats.org/drawingml/2006/main" noGrp="1"/>
          </p:cNvSpPr>
          <p:nvPr/>
        </p:nvSpPr>
        <p:spPr>
          <a:xfrm xmlns:a="http://schemas.openxmlformats.org/drawingml/2006/main">
            <a:off x="733425" y="215265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3E36"/>
                </a:solidFill>
                <a:latin typeface="Arial"/>
                <a:ea typeface="Arial"/>
                <a:cs typeface="Arial"/>
              </a:defRPr>
            </a:defPPr>
            <a:lvl1pPr algn="l">
              <a:defRPr sz="1950" b="1">
                <a:solidFill>
                  <a:srgbClr val="173E36"/>
                </a:solidFill>
                <a:latin typeface="Arial"/>
                <a:ea typeface="Arial"/>
                <a:cs typeface="Arial"/>
              </a:defRPr>
            </a:lvl1pPr>
            <a:lvl2pPr algn="l">
              <a:defRPr sz="1950" b="1">
                <a:solidFill>
                  <a:srgbClr val="173E36"/>
                </a:solidFill>
                <a:latin typeface="Arial"/>
                <a:ea typeface="Arial"/>
                <a:cs typeface="Arial"/>
              </a:defRPr>
            </a:lvl2pPr>
            <a:lvl3pPr algn="l">
              <a:defRPr sz="1950" b="1">
                <a:solidFill>
                  <a:srgbClr val="173E36"/>
                </a:solidFill>
                <a:latin typeface="Arial"/>
                <a:ea typeface="Arial"/>
                <a:cs typeface="Arial"/>
              </a:defRPr>
            </a:lvl3pPr>
            <a:lvl4pPr algn="l">
              <a:defRPr sz="1950" b="1">
                <a:solidFill>
                  <a:srgbClr val="173E36"/>
                </a:solidFill>
                <a:latin typeface="Arial"/>
                <a:ea typeface="Arial"/>
                <a:cs typeface="Arial"/>
              </a:defRPr>
            </a:lvl4pPr>
            <a:lvl5pPr algn="l">
              <a:defRPr sz="1950" b="1">
                <a:solidFill>
                  <a:srgbClr val="173E36"/>
                </a:solidFill>
                <a:latin typeface="Arial"/>
                <a:ea typeface="Arial"/>
                <a:cs typeface="Arial"/>
              </a:defRPr>
            </a:lvl5pPr>
            <a:lvl6pPr algn="l">
              <a:defRPr sz="1950" b="1">
                <a:solidFill>
                  <a:srgbClr val="173E36"/>
                </a:solidFill>
                <a:latin typeface="Arial"/>
                <a:ea typeface="Arial"/>
                <a:cs typeface="Arial"/>
              </a:defRPr>
            </a:lvl6pPr>
            <a:lvl7pPr algn="l">
              <a:defRPr sz="1950" b="1">
                <a:solidFill>
                  <a:srgbClr val="173E36"/>
                </a:solidFill>
                <a:latin typeface="Arial"/>
                <a:ea typeface="Arial"/>
                <a:cs typeface="Arial"/>
              </a:defRPr>
            </a:lvl7pPr>
            <a:lvl8pPr algn="l">
              <a:defRPr sz="1950" b="1">
                <a:solidFill>
                  <a:srgbClr val="173E36"/>
                </a:solidFill>
                <a:latin typeface="Arial"/>
                <a:ea typeface="Arial"/>
                <a:cs typeface="Arial"/>
              </a:defRPr>
            </a:lvl8pPr>
            <a:lvl9pPr algn="l">
              <a:defRPr sz="1950" b="1">
                <a:solidFill>
                  <a:srgbClr val="173E36"/>
                </a:solidFill>
                <a:latin typeface="Arial"/>
                <a:ea typeface="Arial"/>
                <a:cs typeface="Arial"/>
              </a:defRPr>
            </a:lvl9pPr>
          </a:lstStyle>
          <a:p xmlns:a="http://schemas.openxmlformats.org/drawingml/2006/main">
            <a:pPr algn="l">
              <a:defRPr sz="1950" b="1">
                <a:solidFill>
                  <a:srgbClr val="173E36"/>
                </a:solidFill>
                <a:latin typeface="Arial"/>
                <a:ea typeface="Arial"/>
                <a:cs typeface="Arial"/>
              </a:defRPr>
            </a:pPr>
            <a:r>
              <a:rPr sz="1950" b="1">
                <a:solidFill>
                  <a:srgbClr val="173E36"/>
                </a:solidFill>
                <a:latin typeface="Arial"/>
                <a:ea typeface="Arial"/>
                <a:cs typeface="Arial"/>
              </a:rPr>
              <a:t>Test Brier score (lower is better)</a:t>
            </a:r>
          </a:p>
        </p:txBody>
      </p:sp>
      <p:graphicFrame>
        <p:nvGraphicFramePr>
          <p:cNvPr id="5" name="Chart">
            <a:extLst xmlns:a="http://schemas.openxmlformats.org/drawingml/2006/main">
              <a:ext uri="{FF2B5EF4-FFF2-40B4-BE49-F238E27FC236}">
                <a16:creationId xmlns:a16="http://schemas.microsoft.com/office/drawing/2014/main" id="{9B57E8C8-4627-4190-8619-61E4D1320901}"/>
              </a:ext>
            </a:extLst>
          </p:cNvPr>
          <p:cNvGraphicFramePr/>
          <p:nvPr/>
        </p:nvGraphicFramePr>
        <p:xfrm>
          <a:off xmlns:a="http://schemas.openxmlformats.org/drawingml/2006/main" x="619125" y="2771775"/>
          <a:ext xmlns:a="http://schemas.openxmlformats.org/drawingml/2006/main" cx="6286500" cy="2600325"/>
        </p:xfrm>
        <a:graphic xmlns:a="http://schemas.openxmlformats.org/drawingml/2006/main">
          <a:graphicData uri="http://schemas.openxmlformats.org/drawingml/2006/chart">
            <c:chart xmlns:r="http://schemas.openxmlformats.org/officeDocument/2006/relationships" xmlns:c="http://schemas.openxmlformats.org/drawingml/2006/chart" r:id="R25d3a5a19d8a4561"/>
          </a:graphicData>
        </a:graphic>
      </p:graphicFrame>
      <p:sp>
        <p:nvSpPr>
          <p:cNvPr id="6" name="Baseline definition">
            <a:extLst xmlns:a="http://schemas.openxmlformats.org/drawingml/2006/main">
              <a:ext uri="{FF2B5EF4-FFF2-40B4-BE49-F238E27FC236}">
                <a16:creationId xmlns:a16="http://schemas.microsoft.com/office/drawing/2014/main" id="{7BE3A8F0-46DF-4242-A6E5-E4BA8068400F}"/>
              </a:ext>
            </a:extLst>
          </p:cNvPr>
          <p:cNvSpPr>
            <a:spLocks xmlns:a="http://schemas.openxmlformats.org/drawingml/2006/main" noGrp="1"/>
          </p:cNvSpPr>
          <p:nvPr/>
        </p:nvSpPr>
        <p:spPr>
          <a:xfrm xmlns:a="http://schemas.openxmlformats.org/drawingml/2006/main">
            <a:off x="733425" y="54673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7C6C"/>
                </a:solidFill>
                <a:latin typeface="Arial"/>
                <a:ea typeface="Arial"/>
                <a:cs typeface="Arial"/>
              </a:defRPr>
            </a:defPPr>
            <a:lvl1pPr algn="l">
              <a:defRPr sz="1650" b="0">
                <a:solidFill>
                  <a:srgbClr val="687C6C"/>
                </a:solidFill>
                <a:latin typeface="Arial"/>
                <a:ea typeface="Arial"/>
                <a:cs typeface="Arial"/>
              </a:defRPr>
            </a:lvl1pPr>
            <a:lvl2pPr algn="l">
              <a:defRPr sz="1650" b="0">
                <a:solidFill>
                  <a:srgbClr val="687C6C"/>
                </a:solidFill>
                <a:latin typeface="Arial"/>
                <a:ea typeface="Arial"/>
                <a:cs typeface="Arial"/>
              </a:defRPr>
            </a:lvl2pPr>
            <a:lvl3pPr algn="l">
              <a:defRPr sz="1650" b="0">
                <a:solidFill>
                  <a:srgbClr val="687C6C"/>
                </a:solidFill>
                <a:latin typeface="Arial"/>
                <a:ea typeface="Arial"/>
                <a:cs typeface="Arial"/>
              </a:defRPr>
            </a:lvl3pPr>
            <a:lvl4pPr algn="l">
              <a:defRPr sz="1650" b="0">
                <a:solidFill>
                  <a:srgbClr val="687C6C"/>
                </a:solidFill>
                <a:latin typeface="Arial"/>
                <a:ea typeface="Arial"/>
                <a:cs typeface="Arial"/>
              </a:defRPr>
            </a:lvl4pPr>
            <a:lvl5pPr algn="l">
              <a:defRPr sz="1650" b="0">
                <a:solidFill>
                  <a:srgbClr val="687C6C"/>
                </a:solidFill>
                <a:latin typeface="Arial"/>
                <a:ea typeface="Arial"/>
                <a:cs typeface="Arial"/>
              </a:defRPr>
            </a:lvl5pPr>
            <a:lvl6pPr algn="l">
              <a:defRPr sz="1650" b="0">
                <a:solidFill>
                  <a:srgbClr val="687C6C"/>
                </a:solidFill>
                <a:latin typeface="Arial"/>
                <a:ea typeface="Arial"/>
                <a:cs typeface="Arial"/>
              </a:defRPr>
            </a:lvl6pPr>
            <a:lvl7pPr algn="l">
              <a:defRPr sz="1650" b="0">
                <a:solidFill>
                  <a:srgbClr val="687C6C"/>
                </a:solidFill>
                <a:latin typeface="Arial"/>
                <a:ea typeface="Arial"/>
                <a:cs typeface="Arial"/>
              </a:defRPr>
            </a:lvl7pPr>
            <a:lvl8pPr algn="l">
              <a:defRPr sz="1650" b="0">
                <a:solidFill>
                  <a:srgbClr val="687C6C"/>
                </a:solidFill>
                <a:latin typeface="Arial"/>
                <a:ea typeface="Arial"/>
                <a:cs typeface="Arial"/>
              </a:defRPr>
            </a:lvl8pPr>
            <a:lvl9pPr algn="l">
              <a:defRPr sz="1650" b="0">
                <a:solidFill>
                  <a:srgbClr val="687C6C"/>
                </a:solidFill>
                <a:latin typeface="Arial"/>
                <a:ea typeface="Arial"/>
                <a:cs typeface="Arial"/>
              </a:defRPr>
            </a:lvl9pPr>
          </a:lstStyle>
          <a:p xmlns:a="http://schemas.openxmlformats.org/drawingml/2006/main">
            <a:pPr algn="l">
              <a:defRPr sz="1650" b="0">
                <a:solidFill>
                  <a:srgbClr val="687C6C"/>
                </a:solidFill>
                <a:latin typeface="Arial"/>
                <a:ea typeface="Arial"/>
                <a:cs typeface="Arial"/>
              </a:defRPr>
            </a:pPr>
            <a:r>
              <a:rPr sz="1650" b="0">
                <a:solidFill>
                  <a:srgbClr val="687C6C"/>
                </a:solidFill>
                <a:latin typeface="Arial"/>
                <a:ea typeface="Arial"/>
                <a:cs typeface="Arial"/>
              </a:rPr>
              <a:t>Climatology uses the training event rate.</a:t>
            </a:r>
          </a:p>
        </p:txBody>
      </p:sp>
      <p:sp>
        <p:nvSpPr>
          <p:cNvPr id="7" name="Test sample limit">
            <a:extLst xmlns:a="http://schemas.openxmlformats.org/drawingml/2006/main">
              <a:ext uri="{FF2B5EF4-FFF2-40B4-BE49-F238E27FC236}">
                <a16:creationId xmlns:a16="http://schemas.microsoft.com/office/drawing/2014/main" id="{04D49E2B-387D-4942-AD85-209A68EEC2CA}"/>
              </a:ext>
            </a:extLst>
          </p:cNvPr>
          <p:cNvSpPr>
            <a:spLocks xmlns:a="http://schemas.openxmlformats.org/drawingml/2006/main" noGrp="1"/>
          </p:cNvSpPr>
          <p:nvPr/>
        </p:nvSpPr>
        <p:spPr>
          <a:xfrm xmlns:a="http://schemas.openxmlformats.org/drawingml/2006/main">
            <a:off x="7524750" y="2190750"/>
            <a:ext cx="4000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36"/>
                </a:solidFill>
                <a:latin typeface="Arial"/>
                <a:ea typeface="Arial"/>
                <a:cs typeface="Arial"/>
              </a:defRPr>
            </a:defPPr>
            <a:lvl1pPr algn="l">
              <a:defRPr sz="2100" b="1">
                <a:solidFill>
                  <a:srgbClr val="173E36"/>
                </a:solidFill>
                <a:latin typeface="Arial"/>
                <a:ea typeface="Arial"/>
                <a:cs typeface="Arial"/>
              </a:defRPr>
            </a:lvl1pPr>
            <a:lvl2pPr algn="l">
              <a:defRPr sz="2100" b="1">
                <a:solidFill>
                  <a:srgbClr val="173E36"/>
                </a:solidFill>
                <a:latin typeface="Arial"/>
                <a:ea typeface="Arial"/>
                <a:cs typeface="Arial"/>
              </a:defRPr>
            </a:lvl2pPr>
            <a:lvl3pPr algn="l">
              <a:defRPr sz="2100" b="1">
                <a:solidFill>
                  <a:srgbClr val="173E36"/>
                </a:solidFill>
                <a:latin typeface="Arial"/>
                <a:ea typeface="Arial"/>
                <a:cs typeface="Arial"/>
              </a:defRPr>
            </a:lvl3pPr>
            <a:lvl4pPr algn="l">
              <a:defRPr sz="2100" b="1">
                <a:solidFill>
                  <a:srgbClr val="173E36"/>
                </a:solidFill>
                <a:latin typeface="Arial"/>
                <a:ea typeface="Arial"/>
                <a:cs typeface="Arial"/>
              </a:defRPr>
            </a:lvl4pPr>
            <a:lvl5pPr algn="l">
              <a:defRPr sz="2100" b="1">
                <a:solidFill>
                  <a:srgbClr val="173E36"/>
                </a:solidFill>
                <a:latin typeface="Arial"/>
                <a:ea typeface="Arial"/>
                <a:cs typeface="Arial"/>
              </a:defRPr>
            </a:lvl5pPr>
            <a:lvl6pPr algn="l">
              <a:defRPr sz="2100" b="1">
                <a:solidFill>
                  <a:srgbClr val="173E36"/>
                </a:solidFill>
                <a:latin typeface="Arial"/>
                <a:ea typeface="Arial"/>
                <a:cs typeface="Arial"/>
              </a:defRPr>
            </a:lvl6pPr>
            <a:lvl7pPr algn="l">
              <a:defRPr sz="2100" b="1">
                <a:solidFill>
                  <a:srgbClr val="173E36"/>
                </a:solidFill>
                <a:latin typeface="Arial"/>
                <a:ea typeface="Arial"/>
                <a:cs typeface="Arial"/>
              </a:defRPr>
            </a:lvl7pPr>
            <a:lvl8pPr algn="l">
              <a:defRPr sz="2100" b="1">
                <a:solidFill>
                  <a:srgbClr val="173E36"/>
                </a:solidFill>
                <a:latin typeface="Arial"/>
                <a:ea typeface="Arial"/>
                <a:cs typeface="Arial"/>
              </a:defRPr>
            </a:lvl8pPr>
            <a:lvl9pPr algn="l">
              <a:defRPr sz="2100" b="1">
                <a:solidFill>
                  <a:srgbClr val="173E36"/>
                </a:solidFill>
                <a:latin typeface="Arial"/>
                <a:ea typeface="Arial"/>
                <a:cs typeface="Arial"/>
              </a:defRPr>
            </a:lvl9pPr>
          </a:lstStyle>
          <a:p xmlns:a="http://schemas.openxmlformats.org/drawingml/2006/main">
            <a:pPr algn="l">
              <a:defRPr sz="2100" b="1">
                <a:solidFill>
                  <a:srgbClr val="173E36"/>
                </a:solidFill>
                <a:latin typeface="Arial"/>
                <a:ea typeface="Arial"/>
                <a:cs typeface="Arial"/>
              </a:defRPr>
            </a:pPr>
            <a:r>
              <a:rPr sz="2100" b="1">
                <a:solidFill>
                  <a:srgbClr val="173E36"/>
                </a:solidFill>
                <a:latin typeface="Arial"/>
                <a:ea typeface="Arial"/>
                <a:cs typeface="Arial"/>
              </a:rPr>
              <a:t>Only 18 test events</a:t>
            </a:r>
          </a:p>
          <a:p xmlns:a="http://schemas.openxmlformats.org/drawingml/2006/main">
            <a:pPr algn="l">
              <a:defRPr sz="2100" b="1">
                <a:solidFill>
                  <a:srgbClr val="173E36"/>
                </a:solidFill>
                <a:latin typeface="Arial"/>
                <a:ea typeface="Arial"/>
                <a:cs typeface="Arial"/>
              </a:defRPr>
            </a:pPr>
            <a:r>
              <a:rPr sz="2100" b="1">
                <a:solidFill>
                  <a:srgbClr val="173E36"/>
                </a:solidFill>
                <a:latin typeface="Arial"/>
                <a:ea typeface="Arial"/>
                <a:cs typeface="Arial"/>
              </a:rPr>
              <a:t>Reference labels have limits</a:t>
            </a:r>
          </a:p>
        </p:txBody>
      </p:sp>
      <p:sp>
        <p:nvSpPr>
          <p:cNvPr id="8" name="Calibration limit">
            <a:extLst xmlns:a="http://schemas.openxmlformats.org/drawingml/2006/main">
              <a:ext uri="{FF2B5EF4-FFF2-40B4-BE49-F238E27FC236}">
                <a16:creationId xmlns:a16="http://schemas.microsoft.com/office/drawing/2014/main" id="{7E63B651-F719-4F2A-A82F-A5FBDBA7CA84}"/>
              </a:ext>
            </a:extLst>
          </p:cNvPr>
          <p:cNvSpPr>
            <a:spLocks xmlns:a="http://schemas.openxmlformats.org/drawingml/2006/main" noGrp="1"/>
          </p:cNvSpPr>
          <p:nvPr/>
        </p:nvSpPr>
        <p:spPr>
          <a:xfrm xmlns:a="http://schemas.openxmlformats.org/drawingml/2006/main">
            <a:off x="7524750" y="3343275"/>
            <a:ext cx="400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36"/>
                </a:solidFill>
                <a:latin typeface="Arial"/>
                <a:ea typeface="Arial"/>
                <a:cs typeface="Arial"/>
              </a:defRPr>
            </a:defPPr>
            <a:lvl1pPr algn="l">
              <a:defRPr sz="2100" b="1">
                <a:solidFill>
                  <a:srgbClr val="173E36"/>
                </a:solidFill>
                <a:latin typeface="Arial"/>
                <a:ea typeface="Arial"/>
                <a:cs typeface="Arial"/>
              </a:defRPr>
            </a:lvl1pPr>
            <a:lvl2pPr algn="l">
              <a:defRPr sz="2100" b="1">
                <a:solidFill>
                  <a:srgbClr val="173E36"/>
                </a:solidFill>
                <a:latin typeface="Arial"/>
                <a:ea typeface="Arial"/>
                <a:cs typeface="Arial"/>
              </a:defRPr>
            </a:lvl2pPr>
            <a:lvl3pPr algn="l">
              <a:defRPr sz="2100" b="1">
                <a:solidFill>
                  <a:srgbClr val="173E36"/>
                </a:solidFill>
                <a:latin typeface="Arial"/>
                <a:ea typeface="Arial"/>
                <a:cs typeface="Arial"/>
              </a:defRPr>
            </a:lvl3pPr>
            <a:lvl4pPr algn="l">
              <a:defRPr sz="2100" b="1">
                <a:solidFill>
                  <a:srgbClr val="173E36"/>
                </a:solidFill>
                <a:latin typeface="Arial"/>
                <a:ea typeface="Arial"/>
                <a:cs typeface="Arial"/>
              </a:defRPr>
            </a:lvl4pPr>
            <a:lvl5pPr algn="l">
              <a:defRPr sz="2100" b="1">
                <a:solidFill>
                  <a:srgbClr val="173E36"/>
                </a:solidFill>
                <a:latin typeface="Arial"/>
                <a:ea typeface="Arial"/>
                <a:cs typeface="Arial"/>
              </a:defRPr>
            </a:lvl5pPr>
            <a:lvl6pPr algn="l">
              <a:defRPr sz="2100" b="1">
                <a:solidFill>
                  <a:srgbClr val="173E36"/>
                </a:solidFill>
                <a:latin typeface="Arial"/>
                <a:ea typeface="Arial"/>
                <a:cs typeface="Arial"/>
              </a:defRPr>
            </a:lvl6pPr>
            <a:lvl7pPr algn="l">
              <a:defRPr sz="2100" b="1">
                <a:solidFill>
                  <a:srgbClr val="173E36"/>
                </a:solidFill>
                <a:latin typeface="Arial"/>
                <a:ea typeface="Arial"/>
                <a:cs typeface="Arial"/>
              </a:defRPr>
            </a:lvl7pPr>
            <a:lvl8pPr algn="l">
              <a:defRPr sz="2100" b="1">
                <a:solidFill>
                  <a:srgbClr val="173E36"/>
                </a:solidFill>
                <a:latin typeface="Arial"/>
                <a:ea typeface="Arial"/>
                <a:cs typeface="Arial"/>
              </a:defRPr>
            </a:lvl8pPr>
            <a:lvl9pPr algn="l">
              <a:defRPr sz="2100" b="1">
                <a:solidFill>
                  <a:srgbClr val="173E36"/>
                </a:solidFill>
                <a:latin typeface="Arial"/>
                <a:ea typeface="Arial"/>
                <a:cs typeface="Arial"/>
              </a:defRPr>
            </a:lvl9pPr>
          </a:lstStyle>
          <a:p xmlns:a="http://schemas.openxmlformats.org/drawingml/2006/main">
            <a:pPr algn="l">
              <a:defRPr sz="2100" b="1">
                <a:solidFill>
                  <a:srgbClr val="173E36"/>
                </a:solidFill>
                <a:latin typeface="Arial"/>
                <a:ea typeface="Arial"/>
                <a:cs typeface="Arial"/>
              </a:defRPr>
            </a:pPr>
            <a:r>
              <a:rPr sz="2100" b="1">
                <a:solidFill>
                  <a:srgbClr val="173E36"/>
                </a:solidFill>
                <a:latin typeface="Arial"/>
                <a:ea typeface="Arial"/>
                <a:cs typeface="Arial"/>
              </a:rPr>
              <a:t>Online fraction still needs</a:t>
            </a:r>
          </a:p>
          <a:p xmlns:a="http://schemas.openxmlformats.org/drawingml/2006/main">
            <a:pPr algn="l">
              <a:defRPr sz="2100" b="1">
                <a:solidFill>
                  <a:srgbClr val="173E36"/>
                </a:solidFill>
                <a:latin typeface="Arial"/>
                <a:ea typeface="Arial"/>
                <a:cs typeface="Arial"/>
              </a:defRPr>
            </a:pPr>
            <a:r>
              <a:rPr sz="2100" b="1">
                <a:solidFill>
                  <a:srgbClr val="173E36"/>
                </a:solidFill>
                <a:latin typeface="Arial"/>
                <a:ea typeface="Arial"/>
                <a:cs typeface="Arial"/>
              </a:rPr>
              <a:t>local calibration</a:t>
            </a:r>
          </a:p>
        </p:txBody>
      </p:sp>
      <p:sp>
        <p:nvSpPr>
          <p:cNvPr id="9" name="Outcome evidence limit">
            <a:extLst xmlns:a="http://schemas.openxmlformats.org/drawingml/2006/main">
              <a:ext uri="{FF2B5EF4-FFF2-40B4-BE49-F238E27FC236}">
                <a16:creationId xmlns:a16="http://schemas.microsoft.com/office/drawing/2014/main" id="{AF6FB695-6870-44CD-8C95-539BC8FCE1F4}"/>
              </a:ext>
            </a:extLst>
          </p:cNvPr>
          <p:cNvSpPr>
            <a:spLocks xmlns:a="http://schemas.openxmlformats.org/drawingml/2006/main" noGrp="1"/>
          </p:cNvSpPr>
          <p:nvPr/>
        </p:nvSpPr>
        <p:spPr>
          <a:xfrm xmlns:a="http://schemas.openxmlformats.org/drawingml/2006/main">
            <a:off x="7524750" y="4495800"/>
            <a:ext cx="4000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36"/>
                </a:solidFill>
                <a:latin typeface="Arial"/>
                <a:ea typeface="Arial"/>
                <a:cs typeface="Arial"/>
              </a:defRPr>
            </a:defPPr>
            <a:lvl1pPr algn="l">
              <a:defRPr sz="2100" b="1">
                <a:solidFill>
                  <a:srgbClr val="173E36"/>
                </a:solidFill>
                <a:latin typeface="Arial"/>
                <a:ea typeface="Arial"/>
                <a:cs typeface="Arial"/>
              </a:defRPr>
            </a:lvl1pPr>
            <a:lvl2pPr algn="l">
              <a:defRPr sz="2100" b="1">
                <a:solidFill>
                  <a:srgbClr val="173E36"/>
                </a:solidFill>
                <a:latin typeface="Arial"/>
                <a:ea typeface="Arial"/>
                <a:cs typeface="Arial"/>
              </a:defRPr>
            </a:lvl2pPr>
            <a:lvl3pPr algn="l">
              <a:defRPr sz="2100" b="1">
                <a:solidFill>
                  <a:srgbClr val="173E36"/>
                </a:solidFill>
                <a:latin typeface="Arial"/>
                <a:ea typeface="Arial"/>
                <a:cs typeface="Arial"/>
              </a:defRPr>
            </a:lvl3pPr>
            <a:lvl4pPr algn="l">
              <a:defRPr sz="2100" b="1">
                <a:solidFill>
                  <a:srgbClr val="173E36"/>
                </a:solidFill>
                <a:latin typeface="Arial"/>
                <a:ea typeface="Arial"/>
                <a:cs typeface="Arial"/>
              </a:defRPr>
            </a:lvl4pPr>
            <a:lvl5pPr algn="l">
              <a:defRPr sz="2100" b="1">
                <a:solidFill>
                  <a:srgbClr val="173E36"/>
                </a:solidFill>
                <a:latin typeface="Arial"/>
                <a:ea typeface="Arial"/>
                <a:cs typeface="Arial"/>
              </a:defRPr>
            </a:lvl5pPr>
            <a:lvl6pPr algn="l">
              <a:defRPr sz="2100" b="1">
                <a:solidFill>
                  <a:srgbClr val="173E36"/>
                </a:solidFill>
                <a:latin typeface="Arial"/>
                <a:ea typeface="Arial"/>
                <a:cs typeface="Arial"/>
              </a:defRPr>
            </a:lvl6pPr>
            <a:lvl7pPr algn="l">
              <a:defRPr sz="2100" b="1">
                <a:solidFill>
                  <a:srgbClr val="173E36"/>
                </a:solidFill>
                <a:latin typeface="Arial"/>
                <a:ea typeface="Arial"/>
                <a:cs typeface="Arial"/>
              </a:defRPr>
            </a:lvl7pPr>
            <a:lvl8pPr algn="l">
              <a:defRPr sz="2100" b="1">
                <a:solidFill>
                  <a:srgbClr val="173E36"/>
                </a:solidFill>
                <a:latin typeface="Arial"/>
                <a:ea typeface="Arial"/>
                <a:cs typeface="Arial"/>
              </a:defRPr>
            </a:lvl8pPr>
            <a:lvl9pPr algn="l">
              <a:defRPr sz="2100" b="1">
                <a:solidFill>
                  <a:srgbClr val="173E36"/>
                </a:solidFill>
                <a:latin typeface="Arial"/>
                <a:ea typeface="Arial"/>
                <a:cs typeface="Arial"/>
              </a:defRPr>
            </a:lvl9pPr>
          </a:lstStyle>
          <a:p xmlns:a="http://schemas.openxmlformats.org/drawingml/2006/main">
            <a:pPr algn="l">
              <a:defRPr sz="2100" b="1">
                <a:solidFill>
                  <a:srgbClr val="173E36"/>
                </a:solidFill>
                <a:latin typeface="Arial"/>
                <a:ea typeface="Arial"/>
                <a:cs typeface="Arial"/>
              </a:defRPr>
            </a:pPr>
            <a:r>
              <a:rPr sz="2100" b="1">
                <a:solidFill>
                  <a:srgbClr val="173E36"/>
                </a:solidFill>
                <a:latin typeface="Arial"/>
                <a:ea typeface="Arial"/>
                <a:cs typeface="Arial"/>
              </a:rPr>
              <a:t>Merchant loss reduction and</a:t>
            </a:r>
          </a:p>
          <a:p xmlns:a="http://schemas.openxmlformats.org/drawingml/2006/main">
            <a:pPr algn="l">
              <a:defRPr sz="2100" b="1">
                <a:solidFill>
                  <a:srgbClr val="173E36"/>
                </a:solidFill>
                <a:latin typeface="Arial"/>
                <a:ea typeface="Arial"/>
                <a:cs typeface="Arial"/>
              </a:defRPr>
            </a:pPr>
            <a:r>
              <a:rPr sz="2100" b="1">
                <a:solidFill>
                  <a:srgbClr val="173E36"/>
                </a:solidFill>
                <a:latin typeface="Arial"/>
                <a:ea typeface="Arial"/>
                <a:cs typeface="Arial"/>
              </a:rPr>
              <a:t>carbon benefits are unverified</a:t>
            </a:r>
          </a:p>
        </p:txBody>
      </p:sp>
      <p:sp>
        <p:nvSpPr>
          <p:cNvPr id="10" name="Threshold errors">
            <a:extLst xmlns:a="http://schemas.openxmlformats.org/drawingml/2006/main">
              <a:ext uri="{FF2B5EF4-FFF2-40B4-BE49-F238E27FC236}">
                <a16:creationId xmlns:a16="http://schemas.microsoft.com/office/drawing/2014/main" id="{39D349C9-205E-4A44-98E4-D21B4349CAEF}"/>
              </a:ext>
            </a:extLst>
          </p:cNvPr>
          <p:cNvSpPr>
            <a:spLocks xmlns:a="http://schemas.openxmlformats.org/drawingml/2006/main" noGrp="1"/>
          </p:cNvSpPr>
          <p:nvPr/>
        </p:nvSpPr>
        <p:spPr>
          <a:xfrm xmlns:a="http://schemas.openxmlformats.org/drawingml/2006/main">
            <a:off x="733425" y="593407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06945"/>
                </a:solidFill>
                <a:latin typeface="Arial"/>
                <a:ea typeface="Arial"/>
                <a:cs typeface="Arial"/>
              </a:defRPr>
            </a:defPPr>
            <a:lvl1pPr algn="l">
              <a:defRPr sz="1725" b="0">
                <a:solidFill>
                  <a:srgbClr val="B06945"/>
                </a:solidFill>
                <a:latin typeface="Arial"/>
                <a:ea typeface="Arial"/>
                <a:cs typeface="Arial"/>
              </a:defRPr>
            </a:lvl1pPr>
            <a:lvl2pPr algn="l">
              <a:defRPr sz="1725" b="0">
                <a:solidFill>
                  <a:srgbClr val="B06945"/>
                </a:solidFill>
                <a:latin typeface="Arial"/>
                <a:ea typeface="Arial"/>
                <a:cs typeface="Arial"/>
              </a:defRPr>
            </a:lvl2pPr>
            <a:lvl3pPr algn="l">
              <a:defRPr sz="1725" b="0">
                <a:solidFill>
                  <a:srgbClr val="B06945"/>
                </a:solidFill>
                <a:latin typeface="Arial"/>
                <a:ea typeface="Arial"/>
                <a:cs typeface="Arial"/>
              </a:defRPr>
            </a:lvl3pPr>
            <a:lvl4pPr algn="l">
              <a:defRPr sz="1725" b="0">
                <a:solidFill>
                  <a:srgbClr val="B06945"/>
                </a:solidFill>
                <a:latin typeface="Arial"/>
                <a:ea typeface="Arial"/>
                <a:cs typeface="Arial"/>
              </a:defRPr>
            </a:lvl4pPr>
            <a:lvl5pPr algn="l">
              <a:defRPr sz="1725" b="0">
                <a:solidFill>
                  <a:srgbClr val="B06945"/>
                </a:solidFill>
                <a:latin typeface="Arial"/>
                <a:ea typeface="Arial"/>
                <a:cs typeface="Arial"/>
              </a:defRPr>
            </a:lvl5pPr>
            <a:lvl6pPr algn="l">
              <a:defRPr sz="1725" b="0">
                <a:solidFill>
                  <a:srgbClr val="B06945"/>
                </a:solidFill>
                <a:latin typeface="Arial"/>
                <a:ea typeface="Arial"/>
                <a:cs typeface="Arial"/>
              </a:defRPr>
            </a:lvl6pPr>
            <a:lvl7pPr algn="l">
              <a:defRPr sz="1725" b="0">
                <a:solidFill>
                  <a:srgbClr val="B06945"/>
                </a:solidFill>
                <a:latin typeface="Arial"/>
                <a:ea typeface="Arial"/>
                <a:cs typeface="Arial"/>
              </a:defRPr>
            </a:lvl7pPr>
            <a:lvl8pPr algn="l">
              <a:defRPr sz="1725" b="0">
                <a:solidFill>
                  <a:srgbClr val="B06945"/>
                </a:solidFill>
                <a:latin typeface="Arial"/>
                <a:ea typeface="Arial"/>
                <a:cs typeface="Arial"/>
              </a:defRPr>
            </a:lvl8pPr>
            <a:lvl9pPr algn="l">
              <a:defRPr sz="1725" b="0">
                <a:solidFill>
                  <a:srgbClr val="B06945"/>
                </a:solidFill>
                <a:latin typeface="Arial"/>
                <a:ea typeface="Arial"/>
                <a:cs typeface="Arial"/>
              </a:defRPr>
            </a:lvl9pPr>
          </a:lstStyle>
          <a:p xmlns:a="http://schemas.openxmlformats.org/drawingml/2006/main">
            <a:pPr algn="l">
              <a:defRPr sz="1725" b="0">
                <a:solidFill>
                  <a:srgbClr val="B06945"/>
                </a:solidFill>
                <a:latin typeface="Arial"/>
                <a:ea typeface="Arial"/>
                <a:cs typeface="Arial"/>
              </a:defRPr>
            </a:pPr>
            <a:r>
              <a:rPr sz="1725" b="0">
                <a:solidFill>
                  <a:srgbClr val="B06945"/>
                </a:solidFill>
                <a:latin typeface="Arial"/>
                <a:ea typeface="Arial"/>
                <a:cs typeface="Arial"/>
              </a:rPr>
              <a:t>At a fixed 10% scenario threshold: 6 missed events and 9 false alarms.</a:t>
            </a:r>
          </a:p>
          <a:p xmlns:a="http://schemas.openxmlformats.org/drawingml/2006/main">
            <a:pPr algn="l">
              <a:defRPr sz="1725" b="0">
                <a:solidFill>
                  <a:srgbClr val="B06945"/>
                </a:solidFill>
                <a:latin typeface="Arial"/>
                <a:ea typeface="Arial"/>
                <a:cs typeface="Arial"/>
              </a:defRPr>
            </a:pPr>
            <a:r>
              <a:rPr sz="1725" b="0">
                <a:solidFill>
                  <a:srgbClr val="B06945"/>
                </a:solidFill>
                <a:latin typeface="Arial"/>
                <a:ea typeface="Arial"/>
                <a:cs typeface="Arial"/>
              </a:rPr>
              <a:t>Low probability still carries risk.</a:t>
            </a:r>
          </a:p>
        </p:txBody>
      </p:sp>
    </p:spTree>
    <p:extLst>
      <p:ext uri="{BB962C8B-B14F-4D97-AF65-F5344CB8AC3E}">
        <p14:creationId xmlns:p14="http://schemas.microsoft.com/office/powerpoint/2010/main" val="388690388"/>
      </p:ext>
    </p:extLst>
  </p:cSld>
</p:sld>
</file>

<file path=ppt/slides/slide9.xml><?xml version="1.0" encoding="utf-8"?>
<p:sld xmlns:p="http://schemas.openxmlformats.org/presentationml/2006/main">
  <p:cSld>
    <p:bg>
      <p:bgPr>
        <a:solidFill xmlns:a="http://schemas.openxmlformats.org/drawingml/2006/main">
          <a:srgbClr val="F3F2E9"/>
        </a:solidFill>
      </p:bgPr>
    </p:bg>
    <p:spTree>
      <p:nvGrpSpPr>
        <p:cNvPr id="1" name=""/>
        <p:cNvGrpSpPr/>
        <p:nvPr/>
      </p:nvGrpSpPr>
      <p:grpSpPr>
        <a:xfrm xmlns:a="http://schemas.openxmlformats.org/drawingml/2006/main"/>
      </p:grpSpPr>
      <p:sp>
        <p:nvSpPr>
          <p:cNvPr id="25" name="Title 9">
            <a:extLst xmlns:a="http://schemas.openxmlformats.org/drawingml/2006/main">
              <a:ext uri="{FF2B5EF4-FFF2-40B4-BE49-F238E27FC236}">
                <a16:creationId xmlns:a16="http://schemas.microsoft.com/office/drawing/2014/main" id="{350808F4-8560-48D7-A45A-0752C5762978}"/>
              </a:ext>
            </a:extLst>
          </p:cNvPr>
          <p:cNvSpPr>
            <a:spLocks xmlns:a="http://schemas.openxmlformats.org/drawingml/2006/main" noGrp="1"/>
          </p:cNvSpPr>
          <p:nvPr>
            <p:ph type="title"/>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36"/>
                </a:solidFill>
                <a:latin typeface="Arial"/>
                <a:ea typeface="Arial"/>
                <a:cs typeface="Arial"/>
              </a:defRPr>
            </a:defPPr>
            <a:lvl1pPr algn="l">
              <a:defRPr sz="3300" b="1">
                <a:solidFill>
                  <a:srgbClr val="173E36"/>
                </a:solidFill>
                <a:latin typeface="Arial"/>
                <a:ea typeface="Arial"/>
                <a:cs typeface="Arial"/>
              </a:defRPr>
            </a:lvl1pPr>
            <a:lvl2pPr algn="l">
              <a:defRPr sz="3300" b="1">
                <a:solidFill>
                  <a:srgbClr val="173E36"/>
                </a:solidFill>
                <a:latin typeface="Arial"/>
                <a:ea typeface="Arial"/>
                <a:cs typeface="Arial"/>
              </a:defRPr>
            </a:lvl2pPr>
            <a:lvl3pPr algn="l">
              <a:defRPr sz="3300" b="1">
                <a:solidFill>
                  <a:srgbClr val="173E36"/>
                </a:solidFill>
                <a:latin typeface="Arial"/>
                <a:ea typeface="Arial"/>
                <a:cs typeface="Arial"/>
              </a:defRPr>
            </a:lvl3pPr>
            <a:lvl4pPr algn="l">
              <a:defRPr sz="3300" b="1">
                <a:solidFill>
                  <a:srgbClr val="173E36"/>
                </a:solidFill>
                <a:latin typeface="Arial"/>
                <a:ea typeface="Arial"/>
                <a:cs typeface="Arial"/>
              </a:defRPr>
            </a:lvl4pPr>
            <a:lvl5pPr algn="l">
              <a:defRPr sz="3300" b="1">
                <a:solidFill>
                  <a:srgbClr val="173E36"/>
                </a:solidFill>
                <a:latin typeface="Arial"/>
                <a:ea typeface="Arial"/>
                <a:cs typeface="Arial"/>
              </a:defRPr>
            </a:lvl5pPr>
            <a:lvl6pPr algn="l">
              <a:defRPr sz="3300" b="1">
                <a:solidFill>
                  <a:srgbClr val="173E36"/>
                </a:solidFill>
                <a:latin typeface="Arial"/>
                <a:ea typeface="Arial"/>
                <a:cs typeface="Arial"/>
              </a:defRPr>
            </a:lvl6pPr>
            <a:lvl7pPr algn="l">
              <a:defRPr sz="3300" b="1">
                <a:solidFill>
                  <a:srgbClr val="173E36"/>
                </a:solidFill>
                <a:latin typeface="Arial"/>
                <a:ea typeface="Arial"/>
                <a:cs typeface="Arial"/>
              </a:defRPr>
            </a:lvl7pPr>
            <a:lvl8pPr algn="l">
              <a:defRPr sz="3300" b="1">
                <a:solidFill>
                  <a:srgbClr val="173E36"/>
                </a:solidFill>
                <a:latin typeface="Arial"/>
                <a:ea typeface="Arial"/>
                <a:cs typeface="Arial"/>
              </a:defRPr>
            </a:lvl8pPr>
            <a:lvl9pPr algn="l">
              <a:defRPr sz="3300" b="1">
                <a:solidFill>
                  <a:srgbClr val="173E36"/>
                </a:solidFill>
                <a:latin typeface="Arial"/>
                <a:ea typeface="Arial"/>
                <a:cs typeface="Arial"/>
              </a:defRPr>
            </a:lvl9pPr>
          </a:lstStyle>
          <a:p xmlns:a="http://schemas.openxmlformats.org/drawingml/2006/main">
            <a:pPr algn="l">
              <a:defRPr sz="3300" b="1">
                <a:solidFill>
                  <a:srgbClr val="173E36"/>
                </a:solidFill>
                <a:latin typeface="Arial"/>
                <a:ea typeface="Arial"/>
                <a:cs typeface="Arial"/>
              </a:defRPr>
            </a:pPr>
            <a:r>
              <a:rPr sz="3300" b="1">
                <a:solidFill>
                  <a:srgbClr val="173E36"/>
                </a:solidFill>
                <a:latin typeface="Arial"/>
                <a:ea typeface="Arial"/>
                <a:cs typeface="Arial"/>
              </a:rPr>
              <a:t>A 90-day validation plan</a:t>
            </a:r>
          </a:p>
        </p:txBody>
      </p:sp>
      <p:sp>
        <p:nvSpPr>
          <p:cNvPr id="2" name="Page 9">
            <a:extLst xmlns:a="http://schemas.openxmlformats.org/drawingml/2006/main">
              <a:ext uri="{FF2B5EF4-FFF2-40B4-BE49-F238E27FC236}">
                <a16:creationId xmlns:a16="http://schemas.microsoft.com/office/drawing/2014/main" id="{551A6BA4-2A98-4018-9DCA-77BEE7283542}"/>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87C6C"/>
                </a:solidFill>
                <a:latin typeface="Arial"/>
                <a:ea typeface="Arial"/>
                <a:cs typeface="Arial"/>
              </a:defRPr>
            </a:defPPr>
            <a:lvl1pPr algn="r">
              <a:defRPr sz="1350" b="0">
                <a:solidFill>
                  <a:srgbClr val="687C6C"/>
                </a:solidFill>
                <a:latin typeface="Arial"/>
                <a:ea typeface="Arial"/>
                <a:cs typeface="Arial"/>
              </a:defRPr>
            </a:lvl1pPr>
            <a:lvl2pPr algn="r">
              <a:defRPr sz="1350" b="0">
                <a:solidFill>
                  <a:srgbClr val="687C6C"/>
                </a:solidFill>
                <a:latin typeface="Arial"/>
                <a:ea typeface="Arial"/>
                <a:cs typeface="Arial"/>
              </a:defRPr>
            </a:lvl2pPr>
            <a:lvl3pPr algn="r">
              <a:defRPr sz="1350" b="0">
                <a:solidFill>
                  <a:srgbClr val="687C6C"/>
                </a:solidFill>
                <a:latin typeface="Arial"/>
                <a:ea typeface="Arial"/>
                <a:cs typeface="Arial"/>
              </a:defRPr>
            </a:lvl3pPr>
            <a:lvl4pPr algn="r">
              <a:defRPr sz="1350" b="0">
                <a:solidFill>
                  <a:srgbClr val="687C6C"/>
                </a:solidFill>
                <a:latin typeface="Arial"/>
                <a:ea typeface="Arial"/>
                <a:cs typeface="Arial"/>
              </a:defRPr>
            </a:lvl4pPr>
            <a:lvl5pPr algn="r">
              <a:defRPr sz="1350" b="0">
                <a:solidFill>
                  <a:srgbClr val="687C6C"/>
                </a:solidFill>
                <a:latin typeface="Arial"/>
                <a:ea typeface="Arial"/>
                <a:cs typeface="Arial"/>
              </a:defRPr>
            </a:lvl5pPr>
            <a:lvl6pPr algn="r">
              <a:defRPr sz="1350" b="0">
                <a:solidFill>
                  <a:srgbClr val="687C6C"/>
                </a:solidFill>
                <a:latin typeface="Arial"/>
                <a:ea typeface="Arial"/>
                <a:cs typeface="Arial"/>
              </a:defRPr>
            </a:lvl6pPr>
            <a:lvl7pPr algn="r">
              <a:defRPr sz="1350" b="0">
                <a:solidFill>
                  <a:srgbClr val="687C6C"/>
                </a:solidFill>
                <a:latin typeface="Arial"/>
                <a:ea typeface="Arial"/>
                <a:cs typeface="Arial"/>
              </a:defRPr>
            </a:lvl7pPr>
            <a:lvl8pPr algn="r">
              <a:defRPr sz="1350" b="0">
                <a:solidFill>
                  <a:srgbClr val="687C6C"/>
                </a:solidFill>
                <a:latin typeface="Arial"/>
                <a:ea typeface="Arial"/>
                <a:cs typeface="Arial"/>
              </a:defRPr>
            </a:lvl8pPr>
            <a:lvl9pPr algn="r">
              <a:defRPr sz="1350" b="0">
                <a:solidFill>
                  <a:srgbClr val="687C6C"/>
                </a:solidFill>
                <a:latin typeface="Arial"/>
                <a:ea typeface="Arial"/>
                <a:cs typeface="Arial"/>
              </a:defRPr>
            </a:lvl9pPr>
          </a:lstStyle>
          <a:p xmlns:a="http://schemas.openxmlformats.org/drawingml/2006/main">
            <a:pPr algn="r">
              <a:defRPr sz="1350" b="0">
                <a:solidFill>
                  <a:srgbClr val="687C6C"/>
                </a:solidFill>
                <a:latin typeface="Arial"/>
                <a:ea typeface="Arial"/>
                <a:cs typeface="Arial"/>
              </a:defRPr>
            </a:pPr>
            <a:r>
              <a:rPr sz="1350" b="0">
                <a:solidFill>
                  <a:srgbClr val="687C6C"/>
                </a:solidFill>
                <a:latin typeface="Arial"/>
                <a:ea typeface="Arial"/>
                <a:cs typeface="Arial"/>
              </a:rPr>
              <a:t>09</a:t>
            </a:r>
          </a:p>
        </p:txBody>
      </p:sp>
      <p:sp>
        <p:nvSpPr>
          <p:cNvPr id="3" name="Plan status">
            <a:extLst xmlns:a="http://schemas.openxmlformats.org/drawingml/2006/main">
              <a:ext uri="{FF2B5EF4-FFF2-40B4-BE49-F238E27FC236}">
                <a16:creationId xmlns:a16="http://schemas.microsoft.com/office/drawing/2014/main" id="{26DB4B5E-7A92-4CF8-BEC4-4C908CB5C892}"/>
              </a:ext>
            </a:extLst>
          </p:cNvPr>
          <p:cNvSpPr>
            <a:spLocks xmlns:a="http://schemas.openxmlformats.org/drawingml/2006/main" noGrp="1"/>
          </p:cNvSpPr>
          <p:nvPr/>
        </p:nvSpPr>
        <p:spPr>
          <a:xfrm xmlns:a="http://schemas.openxmlformats.org/drawingml/2006/main">
            <a:off x="723900" y="1466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6C60"/>
                </a:solidFill>
                <a:latin typeface="Arial"/>
                <a:ea typeface="Arial"/>
                <a:cs typeface="Arial"/>
              </a:defRPr>
            </a:defPPr>
            <a:lvl1pPr algn="l">
              <a:defRPr sz="2100" b="0">
                <a:solidFill>
                  <a:srgbClr val="286C60"/>
                </a:solidFill>
                <a:latin typeface="Arial"/>
                <a:ea typeface="Arial"/>
                <a:cs typeface="Arial"/>
              </a:defRPr>
            </a:lvl1pPr>
            <a:lvl2pPr algn="l">
              <a:defRPr sz="2100" b="0">
                <a:solidFill>
                  <a:srgbClr val="286C60"/>
                </a:solidFill>
                <a:latin typeface="Arial"/>
                <a:ea typeface="Arial"/>
                <a:cs typeface="Arial"/>
              </a:defRPr>
            </a:lvl2pPr>
            <a:lvl3pPr algn="l">
              <a:defRPr sz="2100" b="0">
                <a:solidFill>
                  <a:srgbClr val="286C60"/>
                </a:solidFill>
                <a:latin typeface="Arial"/>
                <a:ea typeface="Arial"/>
                <a:cs typeface="Arial"/>
              </a:defRPr>
            </a:lvl3pPr>
            <a:lvl4pPr algn="l">
              <a:defRPr sz="2100" b="0">
                <a:solidFill>
                  <a:srgbClr val="286C60"/>
                </a:solidFill>
                <a:latin typeface="Arial"/>
                <a:ea typeface="Arial"/>
                <a:cs typeface="Arial"/>
              </a:defRPr>
            </a:lvl4pPr>
            <a:lvl5pPr algn="l">
              <a:defRPr sz="2100" b="0">
                <a:solidFill>
                  <a:srgbClr val="286C60"/>
                </a:solidFill>
                <a:latin typeface="Arial"/>
                <a:ea typeface="Arial"/>
                <a:cs typeface="Arial"/>
              </a:defRPr>
            </a:lvl5pPr>
            <a:lvl6pPr algn="l">
              <a:defRPr sz="2100" b="0">
                <a:solidFill>
                  <a:srgbClr val="286C60"/>
                </a:solidFill>
                <a:latin typeface="Arial"/>
                <a:ea typeface="Arial"/>
                <a:cs typeface="Arial"/>
              </a:defRPr>
            </a:lvl6pPr>
            <a:lvl7pPr algn="l">
              <a:defRPr sz="2100" b="0">
                <a:solidFill>
                  <a:srgbClr val="286C60"/>
                </a:solidFill>
                <a:latin typeface="Arial"/>
                <a:ea typeface="Arial"/>
                <a:cs typeface="Arial"/>
              </a:defRPr>
            </a:lvl7pPr>
            <a:lvl8pPr algn="l">
              <a:defRPr sz="2100" b="0">
                <a:solidFill>
                  <a:srgbClr val="286C60"/>
                </a:solidFill>
                <a:latin typeface="Arial"/>
                <a:ea typeface="Arial"/>
                <a:cs typeface="Arial"/>
              </a:defRPr>
            </a:lvl8pPr>
            <a:lvl9pPr algn="l">
              <a:defRPr sz="2100" b="0">
                <a:solidFill>
                  <a:srgbClr val="286C60"/>
                </a:solidFill>
                <a:latin typeface="Arial"/>
                <a:ea typeface="Arial"/>
                <a:cs typeface="Arial"/>
              </a:defRPr>
            </a:lvl9pPr>
          </a:lstStyle>
          <a:p xmlns:a="http://schemas.openxmlformats.org/drawingml/2006/main">
            <a:pPr algn="l">
              <a:defRPr sz="2100" b="0">
                <a:solidFill>
                  <a:srgbClr val="286C60"/>
                </a:solidFill>
                <a:latin typeface="Arial"/>
                <a:ea typeface="Arial"/>
                <a:cs typeface="Arial"/>
              </a:defRPr>
            </a:pPr>
            <a:r>
              <a:rPr sz="2100" b="0">
                <a:solidFill>
                  <a:srgbClr val="286C60"/>
                </a:solidFill>
                <a:latin typeface="Arial"/>
                <a:ea typeface="Arial"/>
                <a:cs typeface="Arial"/>
              </a:rPr>
              <a:t>Pending plan by two students. Recruitment has not started.</a:t>
            </a:r>
          </a:p>
        </p:txBody>
      </p:sp>
      <p:sp>
        <p:nvSpPr>
          <p:cNvPr id="4" name="Plan period 1">
            <a:extLst xmlns:a="http://schemas.openxmlformats.org/drawingml/2006/main">
              <a:ext uri="{FF2B5EF4-FFF2-40B4-BE49-F238E27FC236}">
                <a16:creationId xmlns:a16="http://schemas.microsoft.com/office/drawing/2014/main" id="{0913C39D-4E11-41AC-BB03-297693F3D880}"/>
              </a:ext>
            </a:extLst>
          </p:cNvPr>
          <p:cNvSpPr>
            <a:spLocks xmlns:a="http://schemas.openxmlformats.org/drawingml/2006/main" noGrp="1"/>
          </p:cNvSpPr>
          <p:nvPr/>
        </p:nvSpPr>
        <p:spPr>
          <a:xfrm xmlns:a="http://schemas.openxmlformats.org/drawingml/2006/main">
            <a:off x="733425" y="241935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C60"/>
                </a:solidFill>
                <a:latin typeface="Arial"/>
                <a:ea typeface="Arial"/>
                <a:cs typeface="Arial"/>
              </a:defRPr>
            </a:defPPr>
            <a:lvl1pPr algn="l">
              <a:defRPr sz="1875" b="1">
                <a:solidFill>
                  <a:srgbClr val="286C60"/>
                </a:solidFill>
                <a:latin typeface="Arial"/>
                <a:ea typeface="Arial"/>
                <a:cs typeface="Arial"/>
              </a:defRPr>
            </a:lvl1pPr>
            <a:lvl2pPr algn="l">
              <a:defRPr sz="1875" b="1">
                <a:solidFill>
                  <a:srgbClr val="286C60"/>
                </a:solidFill>
                <a:latin typeface="Arial"/>
                <a:ea typeface="Arial"/>
                <a:cs typeface="Arial"/>
              </a:defRPr>
            </a:lvl2pPr>
            <a:lvl3pPr algn="l">
              <a:defRPr sz="1875" b="1">
                <a:solidFill>
                  <a:srgbClr val="286C60"/>
                </a:solidFill>
                <a:latin typeface="Arial"/>
                <a:ea typeface="Arial"/>
                <a:cs typeface="Arial"/>
              </a:defRPr>
            </a:lvl3pPr>
            <a:lvl4pPr algn="l">
              <a:defRPr sz="1875" b="1">
                <a:solidFill>
                  <a:srgbClr val="286C60"/>
                </a:solidFill>
                <a:latin typeface="Arial"/>
                <a:ea typeface="Arial"/>
                <a:cs typeface="Arial"/>
              </a:defRPr>
            </a:lvl4pPr>
            <a:lvl5pPr algn="l">
              <a:defRPr sz="1875" b="1">
                <a:solidFill>
                  <a:srgbClr val="286C60"/>
                </a:solidFill>
                <a:latin typeface="Arial"/>
                <a:ea typeface="Arial"/>
                <a:cs typeface="Arial"/>
              </a:defRPr>
            </a:lvl5pPr>
            <a:lvl6pPr algn="l">
              <a:defRPr sz="1875" b="1">
                <a:solidFill>
                  <a:srgbClr val="286C60"/>
                </a:solidFill>
                <a:latin typeface="Arial"/>
                <a:ea typeface="Arial"/>
                <a:cs typeface="Arial"/>
              </a:defRPr>
            </a:lvl6pPr>
            <a:lvl7pPr algn="l">
              <a:defRPr sz="1875" b="1">
                <a:solidFill>
                  <a:srgbClr val="286C60"/>
                </a:solidFill>
                <a:latin typeface="Arial"/>
                <a:ea typeface="Arial"/>
                <a:cs typeface="Arial"/>
              </a:defRPr>
            </a:lvl7pPr>
            <a:lvl8pPr algn="l">
              <a:defRPr sz="1875" b="1">
                <a:solidFill>
                  <a:srgbClr val="286C60"/>
                </a:solidFill>
                <a:latin typeface="Arial"/>
                <a:ea typeface="Arial"/>
                <a:cs typeface="Arial"/>
              </a:defRPr>
            </a:lvl8pPr>
            <a:lvl9pPr algn="l">
              <a:defRPr sz="1875" b="1">
                <a:solidFill>
                  <a:srgbClr val="286C60"/>
                </a:solidFill>
                <a:latin typeface="Arial"/>
                <a:ea typeface="Arial"/>
                <a:cs typeface="Arial"/>
              </a:defRPr>
            </a:lvl9pPr>
          </a:lstStyle>
          <a:p xmlns:a="http://schemas.openxmlformats.org/drawingml/2006/main">
            <a:pPr algn="l">
              <a:defRPr sz="1875" b="1">
                <a:solidFill>
                  <a:srgbClr val="286C60"/>
                </a:solidFill>
                <a:latin typeface="Arial"/>
                <a:ea typeface="Arial"/>
                <a:cs typeface="Arial"/>
              </a:defRPr>
            </a:pPr>
            <a:r>
              <a:rPr sz="1875" b="1">
                <a:solidFill>
                  <a:srgbClr val="286C60"/>
                </a:solidFill>
                <a:latin typeface="Arial"/>
                <a:ea typeface="Arial"/>
                <a:cs typeface="Arial"/>
              </a:rPr>
              <a:t>Weeks 1 to 2</a:t>
            </a:r>
          </a:p>
        </p:txBody>
      </p:sp>
      <p:sp>
        <p:nvSpPr>
          <p:cNvPr id="5" name="Plan heading 1">
            <a:extLst xmlns:a="http://schemas.openxmlformats.org/drawingml/2006/main">
              <a:ext uri="{FF2B5EF4-FFF2-40B4-BE49-F238E27FC236}">
                <a16:creationId xmlns:a16="http://schemas.microsoft.com/office/drawing/2014/main" id="{B21A8218-727A-48B6-AE00-C879A5A6848C}"/>
              </a:ext>
            </a:extLst>
          </p:cNvPr>
          <p:cNvSpPr>
            <a:spLocks xmlns:a="http://schemas.openxmlformats.org/drawingml/2006/main" noGrp="1"/>
          </p:cNvSpPr>
          <p:nvPr/>
        </p:nvSpPr>
        <p:spPr>
          <a:xfrm xmlns:a="http://schemas.openxmlformats.org/drawingml/2006/main">
            <a:off x="733425" y="3133725"/>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36"/>
                </a:solidFill>
                <a:latin typeface="Arial"/>
                <a:ea typeface="Arial"/>
                <a:cs typeface="Arial"/>
              </a:defRPr>
            </a:defPPr>
            <a:lvl1pPr algn="l">
              <a:defRPr sz="2325" b="1">
                <a:solidFill>
                  <a:srgbClr val="173E36"/>
                </a:solidFill>
                <a:latin typeface="Arial"/>
                <a:ea typeface="Arial"/>
                <a:cs typeface="Arial"/>
              </a:defRPr>
            </a:lvl1pPr>
            <a:lvl2pPr algn="l">
              <a:defRPr sz="2325" b="1">
                <a:solidFill>
                  <a:srgbClr val="173E36"/>
                </a:solidFill>
                <a:latin typeface="Arial"/>
                <a:ea typeface="Arial"/>
                <a:cs typeface="Arial"/>
              </a:defRPr>
            </a:lvl2pPr>
            <a:lvl3pPr algn="l">
              <a:defRPr sz="2325" b="1">
                <a:solidFill>
                  <a:srgbClr val="173E36"/>
                </a:solidFill>
                <a:latin typeface="Arial"/>
                <a:ea typeface="Arial"/>
                <a:cs typeface="Arial"/>
              </a:defRPr>
            </a:lvl3pPr>
            <a:lvl4pPr algn="l">
              <a:defRPr sz="2325" b="1">
                <a:solidFill>
                  <a:srgbClr val="173E36"/>
                </a:solidFill>
                <a:latin typeface="Arial"/>
                <a:ea typeface="Arial"/>
                <a:cs typeface="Arial"/>
              </a:defRPr>
            </a:lvl4pPr>
            <a:lvl5pPr algn="l">
              <a:defRPr sz="2325" b="1">
                <a:solidFill>
                  <a:srgbClr val="173E36"/>
                </a:solidFill>
                <a:latin typeface="Arial"/>
                <a:ea typeface="Arial"/>
                <a:cs typeface="Arial"/>
              </a:defRPr>
            </a:lvl5pPr>
            <a:lvl6pPr algn="l">
              <a:defRPr sz="2325" b="1">
                <a:solidFill>
                  <a:srgbClr val="173E36"/>
                </a:solidFill>
                <a:latin typeface="Arial"/>
                <a:ea typeface="Arial"/>
                <a:cs typeface="Arial"/>
              </a:defRPr>
            </a:lvl6pPr>
            <a:lvl7pPr algn="l">
              <a:defRPr sz="2325" b="1">
                <a:solidFill>
                  <a:srgbClr val="173E36"/>
                </a:solidFill>
                <a:latin typeface="Arial"/>
                <a:ea typeface="Arial"/>
                <a:cs typeface="Arial"/>
              </a:defRPr>
            </a:lvl7pPr>
            <a:lvl8pPr algn="l">
              <a:defRPr sz="2325" b="1">
                <a:solidFill>
                  <a:srgbClr val="173E36"/>
                </a:solidFill>
                <a:latin typeface="Arial"/>
                <a:ea typeface="Arial"/>
                <a:cs typeface="Arial"/>
              </a:defRPr>
            </a:lvl8pPr>
            <a:lvl9pPr algn="l">
              <a:defRPr sz="2325" b="1">
                <a:solidFill>
                  <a:srgbClr val="173E36"/>
                </a:solidFill>
                <a:latin typeface="Arial"/>
                <a:ea typeface="Arial"/>
                <a:cs typeface="Arial"/>
              </a:defRPr>
            </a:lvl9pPr>
          </a:lstStyle>
          <a:p xmlns:a="http://schemas.openxmlformats.org/drawingml/2006/main">
            <a:pPr algn="l">
              <a:defRPr sz="2325" b="1">
                <a:solidFill>
                  <a:srgbClr val="173E36"/>
                </a:solidFill>
                <a:latin typeface="Arial"/>
                <a:ea typeface="Arial"/>
                <a:cs typeface="Arial"/>
              </a:defRPr>
            </a:pPr>
            <a:r>
              <a:rPr sz="2325" b="1">
                <a:solidFill>
                  <a:srgbClr val="173E36"/>
                </a:solidFill>
                <a:latin typeface="Arial"/>
                <a:ea typeface="Arial"/>
                <a:cs typeface="Arial"/>
              </a:rPr>
              <a:t>Needs check</a:t>
            </a:r>
          </a:p>
        </p:txBody>
      </p:sp>
      <p:sp>
        <p:nvSpPr>
          <p:cNvPr id="6" name="Plan rule 1">
            <a:extLst xmlns:a="http://schemas.openxmlformats.org/drawingml/2006/main">
              <a:ext uri="{FF2B5EF4-FFF2-40B4-BE49-F238E27FC236}">
                <a16:creationId xmlns:a16="http://schemas.microsoft.com/office/drawing/2014/main" id="{122F6C90-D6D4-41AF-87B1-7C98840C0B03}"/>
              </a:ext>
            </a:extLst>
          </p:cNvPr>
          <p:cNvSpPr>
            <a:spLocks xmlns:a="http://schemas.openxmlformats.org/drawingml/2006/main" noGrp="1"/>
          </p:cNvSpPr>
          <p:nvPr/>
        </p:nvSpPr>
        <p:spPr>
          <a:xfrm xmlns:a="http://schemas.openxmlformats.org/drawingml/2006/main">
            <a:off x="733425" y="3810000"/>
            <a:ext cx="2333625"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7" name="Plan detail 1">
            <a:extLst xmlns:a="http://schemas.openxmlformats.org/drawingml/2006/main">
              <a:ext uri="{FF2B5EF4-FFF2-40B4-BE49-F238E27FC236}">
                <a16:creationId xmlns:a16="http://schemas.microsoft.com/office/drawing/2014/main" id="{576A9F90-47FF-4B25-B028-47F1552EAA4F}"/>
              </a:ext>
            </a:extLst>
          </p:cNvPr>
          <p:cNvSpPr>
            <a:spLocks xmlns:a="http://schemas.openxmlformats.org/drawingml/2006/main" noGrp="1"/>
          </p:cNvSpPr>
          <p:nvPr/>
        </p:nvSpPr>
        <p:spPr>
          <a:xfrm xmlns:a="http://schemas.openxmlformats.org/drawingml/2006/main">
            <a:off x="733425" y="4114800"/>
            <a:ext cx="2333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173E36"/>
                </a:solidFill>
                <a:latin typeface="Arial"/>
                <a:ea typeface="Arial"/>
                <a:cs typeface="Arial"/>
              </a:defRPr>
            </a:defPPr>
            <a:lvl1pPr algn="l">
              <a:defRPr sz="1688" b="0">
                <a:solidFill>
                  <a:srgbClr val="173E36"/>
                </a:solidFill>
                <a:latin typeface="Arial"/>
                <a:ea typeface="Arial"/>
                <a:cs typeface="Arial"/>
              </a:defRPr>
            </a:lvl1pPr>
            <a:lvl2pPr algn="l">
              <a:defRPr sz="1688" b="0">
                <a:solidFill>
                  <a:srgbClr val="173E36"/>
                </a:solidFill>
                <a:latin typeface="Arial"/>
                <a:ea typeface="Arial"/>
                <a:cs typeface="Arial"/>
              </a:defRPr>
            </a:lvl2pPr>
            <a:lvl3pPr algn="l">
              <a:defRPr sz="1688" b="0">
                <a:solidFill>
                  <a:srgbClr val="173E36"/>
                </a:solidFill>
                <a:latin typeface="Arial"/>
                <a:ea typeface="Arial"/>
                <a:cs typeface="Arial"/>
              </a:defRPr>
            </a:lvl3pPr>
            <a:lvl4pPr algn="l">
              <a:defRPr sz="1688" b="0">
                <a:solidFill>
                  <a:srgbClr val="173E36"/>
                </a:solidFill>
                <a:latin typeface="Arial"/>
                <a:ea typeface="Arial"/>
                <a:cs typeface="Arial"/>
              </a:defRPr>
            </a:lvl4pPr>
            <a:lvl5pPr algn="l">
              <a:defRPr sz="1688" b="0">
                <a:solidFill>
                  <a:srgbClr val="173E36"/>
                </a:solidFill>
                <a:latin typeface="Arial"/>
                <a:ea typeface="Arial"/>
                <a:cs typeface="Arial"/>
              </a:defRPr>
            </a:lvl5pPr>
            <a:lvl6pPr algn="l">
              <a:defRPr sz="1688" b="0">
                <a:solidFill>
                  <a:srgbClr val="173E36"/>
                </a:solidFill>
                <a:latin typeface="Arial"/>
                <a:ea typeface="Arial"/>
                <a:cs typeface="Arial"/>
              </a:defRPr>
            </a:lvl6pPr>
            <a:lvl7pPr algn="l">
              <a:defRPr sz="1688" b="0">
                <a:solidFill>
                  <a:srgbClr val="173E36"/>
                </a:solidFill>
                <a:latin typeface="Arial"/>
                <a:ea typeface="Arial"/>
                <a:cs typeface="Arial"/>
              </a:defRPr>
            </a:lvl7pPr>
            <a:lvl8pPr algn="l">
              <a:defRPr sz="1688" b="0">
                <a:solidFill>
                  <a:srgbClr val="173E36"/>
                </a:solidFill>
                <a:latin typeface="Arial"/>
                <a:ea typeface="Arial"/>
                <a:cs typeface="Arial"/>
              </a:defRPr>
            </a:lvl8pPr>
            <a:lvl9pPr algn="l">
              <a:defRPr sz="1688" b="0">
                <a:solidFill>
                  <a:srgbClr val="173E36"/>
                </a:solidFill>
                <a:latin typeface="Arial"/>
                <a:ea typeface="Arial"/>
                <a:cs typeface="Arial"/>
              </a:defRPr>
            </a:lvl9pPr>
          </a:lstStyle>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Recruit 5 to 8</a:t>
            </a:r>
          </a:p>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willing participants</a:t>
            </a:r>
          </a:p>
        </p:txBody>
      </p:sp>
      <p:sp>
        <p:nvSpPr>
          <p:cNvPr id="8" name="Plan period 2">
            <a:extLst xmlns:a="http://schemas.openxmlformats.org/drawingml/2006/main">
              <a:ext uri="{FF2B5EF4-FFF2-40B4-BE49-F238E27FC236}">
                <a16:creationId xmlns:a16="http://schemas.microsoft.com/office/drawing/2014/main" id="{8C120E06-3006-424B-B2A5-9C7B356510A9}"/>
              </a:ext>
            </a:extLst>
          </p:cNvPr>
          <p:cNvSpPr>
            <a:spLocks xmlns:a="http://schemas.openxmlformats.org/drawingml/2006/main" noGrp="1"/>
          </p:cNvSpPr>
          <p:nvPr/>
        </p:nvSpPr>
        <p:spPr>
          <a:xfrm xmlns:a="http://schemas.openxmlformats.org/drawingml/2006/main">
            <a:off x="3524250" y="241935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C60"/>
                </a:solidFill>
                <a:latin typeface="Arial"/>
                <a:ea typeface="Arial"/>
                <a:cs typeface="Arial"/>
              </a:defRPr>
            </a:defPPr>
            <a:lvl1pPr algn="l">
              <a:defRPr sz="1875" b="1">
                <a:solidFill>
                  <a:srgbClr val="286C60"/>
                </a:solidFill>
                <a:latin typeface="Arial"/>
                <a:ea typeface="Arial"/>
                <a:cs typeface="Arial"/>
              </a:defRPr>
            </a:lvl1pPr>
            <a:lvl2pPr algn="l">
              <a:defRPr sz="1875" b="1">
                <a:solidFill>
                  <a:srgbClr val="286C60"/>
                </a:solidFill>
                <a:latin typeface="Arial"/>
                <a:ea typeface="Arial"/>
                <a:cs typeface="Arial"/>
              </a:defRPr>
            </a:lvl2pPr>
            <a:lvl3pPr algn="l">
              <a:defRPr sz="1875" b="1">
                <a:solidFill>
                  <a:srgbClr val="286C60"/>
                </a:solidFill>
                <a:latin typeface="Arial"/>
                <a:ea typeface="Arial"/>
                <a:cs typeface="Arial"/>
              </a:defRPr>
            </a:lvl3pPr>
            <a:lvl4pPr algn="l">
              <a:defRPr sz="1875" b="1">
                <a:solidFill>
                  <a:srgbClr val="286C60"/>
                </a:solidFill>
                <a:latin typeface="Arial"/>
                <a:ea typeface="Arial"/>
                <a:cs typeface="Arial"/>
              </a:defRPr>
            </a:lvl4pPr>
            <a:lvl5pPr algn="l">
              <a:defRPr sz="1875" b="1">
                <a:solidFill>
                  <a:srgbClr val="286C60"/>
                </a:solidFill>
                <a:latin typeface="Arial"/>
                <a:ea typeface="Arial"/>
                <a:cs typeface="Arial"/>
              </a:defRPr>
            </a:lvl5pPr>
            <a:lvl6pPr algn="l">
              <a:defRPr sz="1875" b="1">
                <a:solidFill>
                  <a:srgbClr val="286C60"/>
                </a:solidFill>
                <a:latin typeface="Arial"/>
                <a:ea typeface="Arial"/>
                <a:cs typeface="Arial"/>
              </a:defRPr>
            </a:lvl6pPr>
            <a:lvl7pPr algn="l">
              <a:defRPr sz="1875" b="1">
                <a:solidFill>
                  <a:srgbClr val="286C60"/>
                </a:solidFill>
                <a:latin typeface="Arial"/>
                <a:ea typeface="Arial"/>
                <a:cs typeface="Arial"/>
              </a:defRPr>
            </a:lvl7pPr>
            <a:lvl8pPr algn="l">
              <a:defRPr sz="1875" b="1">
                <a:solidFill>
                  <a:srgbClr val="286C60"/>
                </a:solidFill>
                <a:latin typeface="Arial"/>
                <a:ea typeface="Arial"/>
                <a:cs typeface="Arial"/>
              </a:defRPr>
            </a:lvl8pPr>
            <a:lvl9pPr algn="l">
              <a:defRPr sz="1875" b="1">
                <a:solidFill>
                  <a:srgbClr val="286C60"/>
                </a:solidFill>
                <a:latin typeface="Arial"/>
                <a:ea typeface="Arial"/>
                <a:cs typeface="Arial"/>
              </a:defRPr>
            </a:lvl9pPr>
          </a:lstStyle>
          <a:p xmlns:a="http://schemas.openxmlformats.org/drawingml/2006/main">
            <a:pPr algn="l">
              <a:defRPr sz="1875" b="1">
                <a:solidFill>
                  <a:srgbClr val="286C60"/>
                </a:solidFill>
                <a:latin typeface="Arial"/>
                <a:ea typeface="Arial"/>
                <a:cs typeface="Arial"/>
              </a:defRPr>
            </a:pPr>
            <a:r>
              <a:rPr sz="1875" b="1">
                <a:solidFill>
                  <a:srgbClr val="286C60"/>
                </a:solidFill>
                <a:latin typeface="Arial"/>
                <a:ea typeface="Arial"/>
                <a:cs typeface="Arial"/>
              </a:rPr>
              <a:t>Weeks 3 to 4</a:t>
            </a:r>
          </a:p>
        </p:txBody>
      </p:sp>
      <p:sp>
        <p:nvSpPr>
          <p:cNvPr id="9" name="Plan heading 2">
            <a:extLst xmlns:a="http://schemas.openxmlformats.org/drawingml/2006/main">
              <a:ext uri="{FF2B5EF4-FFF2-40B4-BE49-F238E27FC236}">
                <a16:creationId xmlns:a16="http://schemas.microsoft.com/office/drawing/2014/main" id="{359B0CCD-4AE5-46A1-8F5F-EC6A8B63C3A9}"/>
              </a:ext>
            </a:extLst>
          </p:cNvPr>
          <p:cNvSpPr>
            <a:spLocks xmlns:a="http://schemas.openxmlformats.org/drawingml/2006/main" noGrp="1"/>
          </p:cNvSpPr>
          <p:nvPr/>
        </p:nvSpPr>
        <p:spPr>
          <a:xfrm xmlns:a="http://schemas.openxmlformats.org/drawingml/2006/main">
            <a:off x="3524250" y="3133725"/>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36"/>
                </a:solidFill>
                <a:latin typeface="Arial"/>
                <a:ea typeface="Arial"/>
                <a:cs typeface="Arial"/>
              </a:defRPr>
            </a:defPPr>
            <a:lvl1pPr algn="l">
              <a:defRPr sz="2175" b="1">
                <a:solidFill>
                  <a:srgbClr val="173E36"/>
                </a:solidFill>
                <a:latin typeface="Arial"/>
                <a:ea typeface="Arial"/>
                <a:cs typeface="Arial"/>
              </a:defRPr>
            </a:lvl1pPr>
            <a:lvl2pPr algn="l">
              <a:defRPr sz="2175" b="1">
                <a:solidFill>
                  <a:srgbClr val="173E36"/>
                </a:solidFill>
                <a:latin typeface="Arial"/>
                <a:ea typeface="Arial"/>
                <a:cs typeface="Arial"/>
              </a:defRPr>
            </a:lvl2pPr>
            <a:lvl3pPr algn="l">
              <a:defRPr sz="2175" b="1">
                <a:solidFill>
                  <a:srgbClr val="173E36"/>
                </a:solidFill>
                <a:latin typeface="Arial"/>
                <a:ea typeface="Arial"/>
                <a:cs typeface="Arial"/>
              </a:defRPr>
            </a:lvl3pPr>
            <a:lvl4pPr algn="l">
              <a:defRPr sz="2175" b="1">
                <a:solidFill>
                  <a:srgbClr val="173E36"/>
                </a:solidFill>
                <a:latin typeface="Arial"/>
                <a:ea typeface="Arial"/>
                <a:cs typeface="Arial"/>
              </a:defRPr>
            </a:lvl4pPr>
            <a:lvl5pPr algn="l">
              <a:defRPr sz="2175" b="1">
                <a:solidFill>
                  <a:srgbClr val="173E36"/>
                </a:solidFill>
                <a:latin typeface="Arial"/>
                <a:ea typeface="Arial"/>
                <a:cs typeface="Arial"/>
              </a:defRPr>
            </a:lvl5pPr>
            <a:lvl6pPr algn="l">
              <a:defRPr sz="2175" b="1">
                <a:solidFill>
                  <a:srgbClr val="173E36"/>
                </a:solidFill>
                <a:latin typeface="Arial"/>
                <a:ea typeface="Arial"/>
                <a:cs typeface="Arial"/>
              </a:defRPr>
            </a:lvl6pPr>
            <a:lvl7pPr algn="l">
              <a:defRPr sz="2175" b="1">
                <a:solidFill>
                  <a:srgbClr val="173E36"/>
                </a:solidFill>
                <a:latin typeface="Arial"/>
                <a:ea typeface="Arial"/>
                <a:cs typeface="Arial"/>
              </a:defRPr>
            </a:lvl7pPr>
            <a:lvl8pPr algn="l">
              <a:defRPr sz="2175" b="1">
                <a:solidFill>
                  <a:srgbClr val="173E36"/>
                </a:solidFill>
                <a:latin typeface="Arial"/>
                <a:ea typeface="Arial"/>
                <a:cs typeface="Arial"/>
              </a:defRPr>
            </a:lvl8pPr>
            <a:lvl9pPr algn="l">
              <a:defRPr sz="2175" b="1">
                <a:solidFill>
                  <a:srgbClr val="173E36"/>
                </a:solidFill>
                <a:latin typeface="Arial"/>
                <a:ea typeface="Arial"/>
                <a:cs typeface="Arial"/>
              </a:defRPr>
            </a:lvl9pPr>
          </a:lstStyle>
          <a:p xmlns:a="http://schemas.openxmlformats.org/drawingml/2006/main">
            <a:pPr algn="l">
              <a:defRPr sz="2175" b="1">
                <a:solidFill>
                  <a:srgbClr val="173E36"/>
                </a:solidFill>
                <a:latin typeface="Arial"/>
                <a:ea typeface="Arial"/>
                <a:cs typeface="Arial"/>
              </a:defRPr>
            </a:pPr>
            <a:r>
              <a:rPr sz="2175" b="1">
                <a:solidFill>
                  <a:srgbClr val="173E36"/>
                </a:solidFill>
                <a:latin typeface="Arial"/>
                <a:ea typeface="Arial"/>
                <a:cs typeface="Arial"/>
              </a:rPr>
              <a:t>Understanding</a:t>
            </a:r>
          </a:p>
        </p:txBody>
      </p:sp>
      <p:sp>
        <p:nvSpPr>
          <p:cNvPr id="10" name="Plan rule 2">
            <a:extLst xmlns:a="http://schemas.openxmlformats.org/drawingml/2006/main">
              <a:ext uri="{FF2B5EF4-FFF2-40B4-BE49-F238E27FC236}">
                <a16:creationId xmlns:a16="http://schemas.microsoft.com/office/drawing/2014/main" id="{ED2FE57C-A264-4E71-A52B-ECAFDFC028D9}"/>
              </a:ext>
            </a:extLst>
          </p:cNvPr>
          <p:cNvSpPr>
            <a:spLocks xmlns:a="http://schemas.openxmlformats.org/drawingml/2006/main" noGrp="1"/>
          </p:cNvSpPr>
          <p:nvPr/>
        </p:nvSpPr>
        <p:spPr>
          <a:xfrm xmlns:a="http://schemas.openxmlformats.org/drawingml/2006/main">
            <a:off x="3524250" y="3810000"/>
            <a:ext cx="2333625"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11" name="Plan detail 2">
            <a:extLst xmlns:a="http://schemas.openxmlformats.org/drawingml/2006/main">
              <a:ext uri="{FF2B5EF4-FFF2-40B4-BE49-F238E27FC236}">
                <a16:creationId xmlns:a16="http://schemas.microsoft.com/office/drawing/2014/main" id="{8D354FB4-E0B2-4C67-9B34-5FD6F1ADFBFE}"/>
              </a:ext>
            </a:extLst>
          </p:cNvPr>
          <p:cNvSpPr>
            <a:spLocks xmlns:a="http://schemas.openxmlformats.org/drawingml/2006/main" noGrp="1"/>
          </p:cNvSpPr>
          <p:nvPr/>
        </p:nvSpPr>
        <p:spPr>
          <a:xfrm xmlns:a="http://schemas.openxmlformats.org/drawingml/2006/main">
            <a:off x="3524250" y="4114800"/>
            <a:ext cx="2333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173E36"/>
                </a:solidFill>
                <a:latin typeface="Arial"/>
                <a:ea typeface="Arial"/>
                <a:cs typeface="Arial"/>
              </a:defRPr>
            </a:defPPr>
            <a:lvl1pPr algn="l">
              <a:defRPr sz="1688" b="0">
                <a:solidFill>
                  <a:srgbClr val="173E36"/>
                </a:solidFill>
                <a:latin typeface="Arial"/>
                <a:ea typeface="Arial"/>
                <a:cs typeface="Arial"/>
              </a:defRPr>
            </a:lvl1pPr>
            <a:lvl2pPr algn="l">
              <a:defRPr sz="1688" b="0">
                <a:solidFill>
                  <a:srgbClr val="173E36"/>
                </a:solidFill>
                <a:latin typeface="Arial"/>
                <a:ea typeface="Arial"/>
                <a:cs typeface="Arial"/>
              </a:defRPr>
            </a:lvl2pPr>
            <a:lvl3pPr algn="l">
              <a:defRPr sz="1688" b="0">
                <a:solidFill>
                  <a:srgbClr val="173E36"/>
                </a:solidFill>
                <a:latin typeface="Arial"/>
                <a:ea typeface="Arial"/>
                <a:cs typeface="Arial"/>
              </a:defRPr>
            </a:lvl3pPr>
            <a:lvl4pPr algn="l">
              <a:defRPr sz="1688" b="0">
                <a:solidFill>
                  <a:srgbClr val="173E36"/>
                </a:solidFill>
                <a:latin typeface="Arial"/>
                <a:ea typeface="Arial"/>
                <a:cs typeface="Arial"/>
              </a:defRPr>
            </a:lvl4pPr>
            <a:lvl5pPr algn="l">
              <a:defRPr sz="1688" b="0">
                <a:solidFill>
                  <a:srgbClr val="173E36"/>
                </a:solidFill>
                <a:latin typeface="Arial"/>
                <a:ea typeface="Arial"/>
                <a:cs typeface="Arial"/>
              </a:defRPr>
            </a:lvl5pPr>
            <a:lvl6pPr algn="l">
              <a:defRPr sz="1688" b="0">
                <a:solidFill>
                  <a:srgbClr val="173E36"/>
                </a:solidFill>
                <a:latin typeface="Arial"/>
                <a:ea typeface="Arial"/>
                <a:cs typeface="Arial"/>
              </a:defRPr>
            </a:lvl6pPr>
            <a:lvl7pPr algn="l">
              <a:defRPr sz="1688" b="0">
                <a:solidFill>
                  <a:srgbClr val="173E36"/>
                </a:solidFill>
                <a:latin typeface="Arial"/>
                <a:ea typeface="Arial"/>
                <a:cs typeface="Arial"/>
              </a:defRPr>
            </a:lvl7pPr>
            <a:lvl8pPr algn="l">
              <a:defRPr sz="1688" b="0">
                <a:solidFill>
                  <a:srgbClr val="173E36"/>
                </a:solidFill>
                <a:latin typeface="Arial"/>
                <a:ea typeface="Arial"/>
                <a:cs typeface="Arial"/>
              </a:defRPr>
            </a:lvl8pPr>
            <a:lvl9pPr algn="l">
              <a:defRPr sz="1688" b="0">
                <a:solidFill>
                  <a:srgbClr val="173E36"/>
                </a:solidFill>
                <a:latin typeface="Arial"/>
                <a:ea typeface="Arial"/>
                <a:cs typeface="Arial"/>
              </a:defRPr>
            </a:lvl9pPr>
          </a:lstStyle>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Fixed historical cases</a:t>
            </a:r>
          </a:p>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Log misconceptions</a:t>
            </a:r>
          </a:p>
        </p:txBody>
      </p:sp>
      <p:sp>
        <p:nvSpPr>
          <p:cNvPr id="12" name="Plan period 3">
            <a:extLst xmlns:a="http://schemas.openxmlformats.org/drawingml/2006/main">
              <a:ext uri="{FF2B5EF4-FFF2-40B4-BE49-F238E27FC236}">
                <a16:creationId xmlns:a16="http://schemas.microsoft.com/office/drawing/2014/main" id="{42829BE6-4139-4675-BCC2-4D992ED2593F}"/>
              </a:ext>
            </a:extLst>
          </p:cNvPr>
          <p:cNvSpPr>
            <a:spLocks xmlns:a="http://schemas.openxmlformats.org/drawingml/2006/main" noGrp="1"/>
          </p:cNvSpPr>
          <p:nvPr/>
        </p:nvSpPr>
        <p:spPr>
          <a:xfrm xmlns:a="http://schemas.openxmlformats.org/drawingml/2006/main">
            <a:off x="6324600" y="241935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C60"/>
                </a:solidFill>
                <a:latin typeface="Arial"/>
                <a:ea typeface="Arial"/>
                <a:cs typeface="Arial"/>
              </a:defRPr>
            </a:defPPr>
            <a:lvl1pPr algn="l">
              <a:defRPr sz="1875" b="1">
                <a:solidFill>
                  <a:srgbClr val="286C60"/>
                </a:solidFill>
                <a:latin typeface="Arial"/>
                <a:ea typeface="Arial"/>
                <a:cs typeface="Arial"/>
              </a:defRPr>
            </a:lvl1pPr>
            <a:lvl2pPr algn="l">
              <a:defRPr sz="1875" b="1">
                <a:solidFill>
                  <a:srgbClr val="286C60"/>
                </a:solidFill>
                <a:latin typeface="Arial"/>
                <a:ea typeface="Arial"/>
                <a:cs typeface="Arial"/>
              </a:defRPr>
            </a:lvl2pPr>
            <a:lvl3pPr algn="l">
              <a:defRPr sz="1875" b="1">
                <a:solidFill>
                  <a:srgbClr val="286C60"/>
                </a:solidFill>
                <a:latin typeface="Arial"/>
                <a:ea typeface="Arial"/>
                <a:cs typeface="Arial"/>
              </a:defRPr>
            </a:lvl3pPr>
            <a:lvl4pPr algn="l">
              <a:defRPr sz="1875" b="1">
                <a:solidFill>
                  <a:srgbClr val="286C60"/>
                </a:solidFill>
                <a:latin typeface="Arial"/>
                <a:ea typeface="Arial"/>
                <a:cs typeface="Arial"/>
              </a:defRPr>
            </a:lvl4pPr>
            <a:lvl5pPr algn="l">
              <a:defRPr sz="1875" b="1">
                <a:solidFill>
                  <a:srgbClr val="286C60"/>
                </a:solidFill>
                <a:latin typeface="Arial"/>
                <a:ea typeface="Arial"/>
                <a:cs typeface="Arial"/>
              </a:defRPr>
            </a:lvl5pPr>
            <a:lvl6pPr algn="l">
              <a:defRPr sz="1875" b="1">
                <a:solidFill>
                  <a:srgbClr val="286C60"/>
                </a:solidFill>
                <a:latin typeface="Arial"/>
                <a:ea typeface="Arial"/>
                <a:cs typeface="Arial"/>
              </a:defRPr>
            </a:lvl6pPr>
            <a:lvl7pPr algn="l">
              <a:defRPr sz="1875" b="1">
                <a:solidFill>
                  <a:srgbClr val="286C60"/>
                </a:solidFill>
                <a:latin typeface="Arial"/>
                <a:ea typeface="Arial"/>
                <a:cs typeface="Arial"/>
              </a:defRPr>
            </a:lvl7pPr>
            <a:lvl8pPr algn="l">
              <a:defRPr sz="1875" b="1">
                <a:solidFill>
                  <a:srgbClr val="286C60"/>
                </a:solidFill>
                <a:latin typeface="Arial"/>
                <a:ea typeface="Arial"/>
                <a:cs typeface="Arial"/>
              </a:defRPr>
            </a:lvl8pPr>
            <a:lvl9pPr algn="l">
              <a:defRPr sz="1875" b="1">
                <a:solidFill>
                  <a:srgbClr val="286C60"/>
                </a:solidFill>
                <a:latin typeface="Arial"/>
                <a:ea typeface="Arial"/>
                <a:cs typeface="Arial"/>
              </a:defRPr>
            </a:lvl9pPr>
          </a:lstStyle>
          <a:p xmlns:a="http://schemas.openxmlformats.org/drawingml/2006/main">
            <a:pPr algn="l">
              <a:defRPr sz="1875" b="1">
                <a:solidFill>
                  <a:srgbClr val="286C60"/>
                </a:solidFill>
                <a:latin typeface="Arial"/>
                <a:ea typeface="Arial"/>
                <a:cs typeface="Arial"/>
              </a:defRPr>
            </a:pPr>
            <a:r>
              <a:rPr sz="1875" b="1">
                <a:solidFill>
                  <a:srgbClr val="286C60"/>
                </a:solidFill>
                <a:latin typeface="Arial"/>
                <a:ea typeface="Arial"/>
                <a:cs typeface="Arial"/>
              </a:rPr>
              <a:t>Weeks 5 to 8</a:t>
            </a:r>
          </a:p>
        </p:txBody>
      </p:sp>
      <p:sp>
        <p:nvSpPr>
          <p:cNvPr id="13" name="Plan heading 3">
            <a:extLst xmlns:a="http://schemas.openxmlformats.org/drawingml/2006/main">
              <a:ext uri="{FF2B5EF4-FFF2-40B4-BE49-F238E27FC236}">
                <a16:creationId xmlns:a16="http://schemas.microsoft.com/office/drawing/2014/main" id="{936D39DE-ECA2-46F7-A5E3-4FBB7E0FDEF3}"/>
              </a:ext>
            </a:extLst>
          </p:cNvPr>
          <p:cNvSpPr>
            <a:spLocks xmlns:a="http://schemas.openxmlformats.org/drawingml/2006/main" noGrp="1"/>
          </p:cNvSpPr>
          <p:nvPr/>
        </p:nvSpPr>
        <p:spPr>
          <a:xfrm xmlns:a="http://schemas.openxmlformats.org/drawingml/2006/main">
            <a:off x="6324600" y="3133725"/>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36"/>
                </a:solidFill>
                <a:latin typeface="Arial"/>
                <a:ea typeface="Arial"/>
                <a:cs typeface="Arial"/>
              </a:defRPr>
            </a:defPPr>
            <a:lvl1pPr algn="l">
              <a:defRPr sz="2325" b="1">
                <a:solidFill>
                  <a:srgbClr val="173E36"/>
                </a:solidFill>
                <a:latin typeface="Arial"/>
                <a:ea typeface="Arial"/>
                <a:cs typeface="Arial"/>
              </a:defRPr>
            </a:lvl1pPr>
            <a:lvl2pPr algn="l">
              <a:defRPr sz="2325" b="1">
                <a:solidFill>
                  <a:srgbClr val="173E36"/>
                </a:solidFill>
                <a:latin typeface="Arial"/>
                <a:ea typeface="Arial"/>
                <a:cs typeface="Arial"/>
              </a:defRPr>
            </a:lvl2pPr>
            <a:lvl3pPr algn="l">
              <a:defRPr sz="2325" b="1">
                <a:solidFill>
                  <a:srgbClr val="173E36"/>
                </a:solidFill>
                <a:latin typeface="Arial"/>
                <a:ea typeface="Arial"/>
                <a:cs typeface="Arial"/>
              </a:defRPr>
            </a:lvl3pPr>
            <a:lvl4pPr algn="l">
              <a:defRPr sz="2325" b="1">
                <a:solidFill>
                  <a:srgbClr val="173E36"/>
                </a:solidFill>
                <a:latin typeface="Arial"/>
                <a:ea typeface="Arial"/>
                <a:cs typeface="Arial"/>
              </a:defRPr>
            </a:lvl4pPr>
            <a:lvl5pPr algn="l">
              <a:defRPr sz="2325" b="1">
                <a:solidFill>
                  <a:srgbClr val="173E36"/>
                </a:solidFill>
                <a:latin typeface="Arial"/>
                <a:ea typeface="Arial"/>
                <a:cs typeface="Arial"/>
              </a:defRPr>
            </a:lvl5pPr>
            <a:lvl6pPr algn="l">
              <a:defRPr sz="2325" b="1">
                <a:solidFill>
                  <a:srgbClr val="173E36"/>
                </a:solidFill>
                <a:latin typeface="Arial"/>
                <a:ea typeface="Arial"/>
                <a:cs typeface="Arial"/>
              </a:defRPr>
            </a:lvl6pPr>
            <a:lvl7pPr algn="l">
              <a:defRPr sz="2325" b="1">
                <a:solidFill>
                  <a:srgbClr val="173E36"/>
                </a:solidFill>
                <a:latin typeface="Arial"/>
                <a:ea typeface="Arial"/>
                <a:cs typeface="Arial"/>
              </a:defRPr>
            </a:lvl7pPr>
            <a:lvl8pPr algn="l">
              <a:defRPr sz="2325" b="1">
                <a:solidFill>
                  <a:srgbClr val="173E36"/>
                </a:solidFill>
                <a:latin typeface="Arial"/>
                <a:ea typeface="Arial"/>
                <a:cs typeface="Arial"/>
              </a:defRPr>
            </a:lvl8pPr>
            <a:lvl9pPr algn="l">
              <a:defRPr sz="2325" b="1">
                <a:solidFill>
                  <a:srgbClr val="173E36"/>
                </a:solidFill>
                <a:latin typeface="Arial"/>
                <a:ea typeface="Arial"/>
                <a:cs typeface="Arial"/>
              </a:defRPr>
            </a:lvl9pPr>
          </a:lstStyle>
          <a:p xmlns:a="http://schemas.openxmlformats.org/drawingml/2006/main">
            <a:pPr algn="l">
              <a:defRPr sz="2325" b="1">
                <a:solidFill>
                  <a:srgbClr val="173E36"/>
                </a:solidFill>
                <a:latin typeface="Arial"/>
                <a:ea typeface="Arial"/>
                <a:cs typeface="Arial"/>
              </a:defRPr>
            </a:pPr>
            <a:r>
              <a:rPr sz="2325" b="1">
                <a:solidFill>
                  <a:srgbClr val="173E36"/>
                </a:solidFill>
                <a:latin typeface="Arial"/>
                <a:ea typeface="Arial"/>
                <a:cs typeface="Arial"/>
              </a:rPr>
              <a:t>Shadow run</a:t>
            </a:r>
          </a:p>
        </p:txBody>
      </p:sp>
      <p:sp>
        <p:nvSpPr>
          <p:cNvPr id="14" name="Plan rule 3">
            <a:extLst xmlns:a="http://schemas.openxmlformats.org/drawingml/2006/main">
              <a:ext uri="{FF2B5EF4-FFF2-40B4-BE49-F238E27FC236}">
                <a16:creationId xmlns:a16="http://schemas.microsoft.com/office/drawing/2014/main" id="{570FC6D9-F7BE-48C5-A495-E5E319E5A9E6}"/>
              </a:ext>
            </a:extLst>
          </p:cNvPr>
          <p:cNvSpPr>
            <a:spLocks xmlns:a="http://schemas.openxmlformats.org/drawingml/2006/main" noGrp="1"/>
          </p:cNvSpPr>
          <p:nvPr/>
        </p:nvSpPr>
        <p:spPr>
          <a:xfrm xmlns:a="http://schemas.openxmlformats.org/drawingml/2006/main">
            <a:off x="6324600" y="3810000"/>
            <a:ext cx="2333625"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15" name="Plan detail 3">
            <a:extLst xmlns:a="http://schemas.openxmlformats.org/drawingml/2006/main">
              <a:ext uri="{FF2B5EF4-FFF2-40B4-BE49-F238E27FC236}">
                <a16:creationId xmlns:a16="http://schemas.microsoft.com/office/drawing/2014/main" id="{87D0C28C-8ECB-42F8-9057-6997AD35D2AC}"/>
              </a:ext>
            </a:extLst>
          </p:cNvPr>
          <p:cNvSpPr>
            <a:spLocks xmlns:a="http://schemas.openxmlformats.org/drawingml/2006/main" noGrp="1"/>
          </p:cNvSpPr>
          <p:nvPr/>
        </p:nvSpPr>
        <p:spPr>
          <a:xfrm xmlns:a="http://schemas.openxmlformats.org/drawingml/2006/main">
            <a:off x="6324600" y="4114800"/>
            <a:ext cx="2333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173E36"/>
                </a:solidFill>
                <a:latin typeface="Arial"/>
                <a:ea typeface="Arial"/>
                <a:cs typeface="Arial"/>
              </a:defRPr>
            </a:defPPr>
            <a:lvl1pPr algn="l">
              <a:defRPr sz="1688" b="0">
                <a:solidFill>
                  <a:srgbClr val="173E36"/>
                </a:solidFill>
                <a:latin typeface="Arial"/>
                <a:ea typeface="Arial"/>
                <a:cs typeface="Arial"/>
              </a:defRPr>
            </a:lvl1pPr>
            <a:lvl2pPr algn="l">
              <a:defRPr sz="1688" b="0">
                <a:solidFill>
                  <a:srgbClr val="173E36"/>
                </a:solidFill>
                <a:latin typeface="Arial"/>
                <a:ea typeface="Arial"/>
                <a:cs typeface="Arial"/>
              </a:defRPr>
            </a:lvl2pPr>
            <a:lvl3pPr algn="l">
              <a:defRPr sz="1688" b="0">
                <a:solidFill>
                  <a:srgbClr val="173E36"/>
                </a:solidFill>
                <a:latin typeface="Arial"/>
                <a:ea typeface="Arial"/>
                <a:cs typeface="Arial"/>
              </a:defRPr>
            </a:lvl3pPr>
            <a:lvl4pPr algn="l">
              <a:defRPr sz="1688" b="0">
                <a:solidFill>
                  <a:srgbClr val="173E36"/>
                </a:solidFill>
                <a:latin typeface="Arial"/>
                <a:ea typeface="Arial"/>
                <a:cs typeface="Arial"/>
              </a:defRPr>
            </a:lvl4pPr>
            <a:lvl5pPr algn="l">
              <a:defRPr sz="1688" b="0">
                <a:solidFill>
                  <a:srgbClr val="173E36"/>
                </a:solidFill>
                <a:latin typeface="Arial"/>
                <a:ea typeface="Arial"/>
                <a:cs typeface="Arial"/>
              </a:defRPr>
            </a:lvl5pPr>
            <a:lvl6pPr algn="l">
              <a:defRPr sz="1688" b="0">
                <a:solidFill>
                  <a:srgbClr val="173E36"/>
                </a:solidFill>
                <a:latin typeface="Arial"/>
                <a:ea typeface="Arial"/>
                <a:cs typeface="Arial"/>
              </a:defRPr>
            </a:lvl6pPr>
            <a:lvl7pPr algn="l">
              <a:defRPr sz="1688" b="0">
                <a:solidFill>
                  <a:srgbClr val="173E36"/>
                </a:solidFill>
                <a:latin typeface="Arial"/>
                <a:ea typeface="Arial"/>
                <a:cs typeface="Arial"/>
              </a:defRPr>
            </a:lvl7pPr>
            <a:lvl8pPr algn="l">
              <a:defRPr sz="1688" b="0">
                <a:solidFill>
                  <a:srgbClr val="173E36"/>
                </a:solidFill>
                <a:latin typeface="Arial"/>
                <a:ea typeface="Arial"/>
                <a:cs typeface="Arial"/>
              </a:defRPr>
            </a:lvl8pPr>
            <a:lvl9pPr algn="l">
              <a:defRPr sz="1688" b="0">
                <a:solidFill>
                  <a:srgbClr val="173E36"/>
                </a:solidFill>
                <a:latin typeface="Arial"/>
                <a:ea typeface="Arial"/>
                <a:cs typeface="Arial"/>
              </a:defRPr>
            </a:lvl9pPr>
          </a:lstStyle>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Check forecast access</a:t>
            </a:r>
          </a:p>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Log failures and gaps</a:t>
            </a:r>
          </a:p>
        </p:txBody>
      </p:sp>
      <p:sp>
        <p:nvSpPr>
          <p:cNvPr id="16" name="Plan period 4">
            <a:extLst xmlns:a="http://schemas.openxmlformats.org/drawingml/2006/main">
              <a:ext uri="{FF2B5EF4-FFF2-40B4-BE49-F238E27FC236}">
                <a16:creationId xmlns:a16="http://schemas.microsoft.com/office/drawing/2014/main" id="{212A9124-A986-46CC-B171-07D348D586E6}"/>
              </a:ext>
            </a:extLst>
          </p:cNvPr>
          <p:cNvSpPr>
            <a:spLocks xmlns:a="http://schemas.openxmlformats.org/drawingml/2006/main" noGrp="1"/>
          </p:cNvSpPr>
          <p:nvPr/>
        </p:nvSpPr>
        <p:spPr>
          <a:xfrm xmlns:a="http://schemas.openxmlformats.org/drawingml/2006/main">
            <a:off x="9124950" y="241935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C60"/>
                </a:solidFill>
                <a:latin typeface="Arial"/>
                <a:ea typeface="Arial"/>
                <a:cs typeface="Arial"/>
              </a:defRPr>
            </a:defPPr>
            <a:lvl1pPr algn="l">
              <a:defRPr sz="1875" b="1">
                <a:solidFill>
                  <a:srgbClr val="286C60"/>
                </a:solidFill>
                <a:latin typeface="Arial"/>
                <a:ea typeface="Arial"/>
                <a:cs typeface="Arial"/>
              </a:defRPr>
            </a:lvl1pPr>
            <a:lvl2pPr algn="l">
              <a:defRPr sz="1875" b="1">
                <a:solidFill>
                  <a:srgbClr val="286C60"/>
                </a:solidFill>
                <a:latin typeface="Arial"/>
                <a:ea typeface="Arial"/>
                <a:cs typeface="Arial"/>
              </a:defRPr>
            </a:lvl2pPr>
            <a:lvl3pPr algn="l">
              <a:defRPr sz="1875" b="1">
                <a:solidFill>
                  <a:srgbClr val="286C60"/>
                </a:solidFill>
                <a:latin typeface="Arial"/>
                <a:ea typeface="Arial"/>
                <a:cs typeface="Arial"/>
              </a:defRPr>
            </a:lvl3pPr>
            <a:lvl4pPr algn="l">
              <a:defRPr sz="1875" b="1">
                <a:solidFill>
                  <a:srgbClr val="286C60"/>
                </a:solidFill>
                <a:latin typeface="Arial"/>
                <a:ea typeface="Arial"/>
                <a:cs typeface="Arial"/>
              </a:defRPr>
            </a:lvl4pPr>
            <a:lvl5pPr algn="l">
              <a:defRPr sz="1875" b="1">
                <a:solidFill>
                  <a:srgbClr val="286C60"/>
                </a:solidFill>
                <a:latin typeface="Arial"/>
                <a:ea typeface="Arial"/>
                <a:cs typeface="Arial"/>
              </a:defRPr>
            </a:lvl5pPr>
            <a:lvl6pPr algn="l">
              <a:defRPr sz="1875" b="1">
                <a:solidFill>
                  <a:srgbClr val="286C60"/>
                </a:solidFill>
                <a:latin typeface="Arial"/>
                <a:ea typeface="Arial"/>
                <a:cs typeface="Arial"/>
              </a:defRPr>
            </a:lvl6pPr>
            <a:lvl7pPr algn="l">
              <a:defRPr sz="1875" b="1">
                <a:solidFill>
                  <a:srgbClr val="286C60"/>
                </a:solidFill>
                <a:latin typeface="Arial"/>
                <a:ea typeface="Arial"/>
                <a:cs typeface="Arial"/>
              </a:defRPr>
            </a:lvl7pPr>
            <a:lvl8pPr algn="l">
              <a:defRPr sz="1875" b="1">
                <a:solidFill>
                  <a:srgbClr val="286C60"/>
                </a:solidFill>
                <a:latin typeface="Arial"/>
                <a:ea typeface="Arial"/>
                <a:cs typeface="Arial"/>
              </a:defRPr>
            </a:lvl8pPr>
            <a:lvl9pPr algn="l">
              <a:defRPr sz="1875" b="1">
                <a:solidFill>
                  <a:srgbClr val="286C60"/>
                </a:solidFill>
                <a:latin typeface="Arial"/>
                <a:ea typeface="Arial"/>
                <a:cs typeface="Arial"/>
              </a:defRPr>
            </a:lvl9pPr>
          </a:lstStyle>
          <a:p xmlns:a="http://schemas.openxmlformats.org/drawingml/2006/main">
            <a:pPr algn="l">
              <a:defRPr sz="1875" b="1">
                <a:solidFill>
                  <a:srgbClr val="286C60"/>
                </a:solidFill>
                <a:latin typeface="Arial"/>
                <a:ea typeface="Arial"/>
                <a:cs typeface="Arial"/>
              </a:defRPr>
            </a:pPr>
            <a:r>
              <a:rPr sz="1875" b="1">
                <a:solidFill>
                  <a:srgbClr val="286C60"/>
                </a:solidFill>
                <a:latin typeface="Arial"/>
                <a:ea typeface="Arial"/>
                <a:cs typeface="Arial"/>
              </a:rPr>
              <a:t>Weeks 9 to 12</a:t>
            </a:r>
          </a:p>
        </p:txBody>
      </p:sp>
      <p:sp>
        <p:nvSpPr>
          <p:cNvPr id="17" name="Plan heading 4">
            <a:extLst xmlns:a="http://schemas.openxmlformats.org/drawingml/2006/main">
              <a:ext uri="{FF2B5EF4-FFF2-40B4-BE49-F238E27FC236}">
                <a16:creationId xmlns:a16="http://schemas.microsoft.com/office/drawing/2014/main" id="{3BBC4D90-7BFE-4C1C-9F49-85A5A1E061BD}"/>
              </a:ext>
            </a:extLst>
          </p:cNvPr>
          <p:cNvSpPr>
            <a:spLocks xmlns:a="http://schemas.openxmlformats.org/drawingml/2006/main" noGrp="1"/>
          </p:cNvSpPr>
          <p:nvPr/>
        </p:nvSpPr>
        <p:spPr>
          <a:xfrm xmlns:a="http://schemas.openxmlformats.org/drawingml/2006/main">
            <a:off x="9124950" y="3133725"/>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36"/>
                </a:solidFill>
                <a:latin typeface="Arial"/>
                <a:ea typeface="Arial"/>
                <a:cs typeface="Arial"/>
              </a:defRPr>
            </a:defPPr>
            <a:lvl1pPr algn="l">
              <a:defRPr sz="2325" b="1">
                <a:solidFill>
                  <a:srgbClr val="173E36"/>
                </a:solidFill>
                <a:latin typeface="Arial"/>
                <a:ea typeface="Arial"/>
                <a:cs typeface="Arial"/>
              </a:defRPr>
            </a:lvl1pPr>
            <a:lvl2pPr algn="l">
              <a:defRPr sz="2325" b="1">
                <a:solidFill>
                  <a:srgbClr val="173E36"/>
                </a:solidFill>
                <a:latin typeface="Arial"/>
                <a:ea typeface="Arial"/>
                <a:cs typeface="Arial"/>
              </a:defRPr>
            </a:lvl2pPr>
            <a:lvl3pPr algn="l">
              <a:defRPr sz="2325" b="1">
                <a:solidFill>
                  <a:srgbClr val="173E36"/>
                </a:solidFill>
                <a:latin typeface="Arial"/>
                <a:ea typeface="Arial"/>
                <a:cs typeface="Arial"/>
              </a:defRPr>
            </a:lvl3pPr>
            <a:lvl4pPr algn="l">
              <a:defRPr sz="2325" b="1">
                <a:solidFill>
                  <a:srgbClr val="173E36"/>
                </a:solidFill>
                <a:latin typeface="Arial"/>
                <a:ea typeface="Arial"/>
                <a:cs typeface="Arial"/>
              </a:defRPr>
            </a:lvl4pPr>
            <a:lvl5pPr algn="l">
              <a:defRPr sz="2325" b="1">
                <a:solidFill>
                  <a:srgbClr val="173E36"/>
                </a:solidFill>
                <a:latin typeface="Arial"/>
                <a:ea typeface="Arial"/>
                <a:cs typeface="Arial"/>
              </a:defRPr>
            </a:lvl5pPr>
            <a:lvl6pPr algn="l">
              <a:defRPr sz="2325" b="1">
                <a:solidFill>
                  <a:srgbClr val="173E36"/>
                </a:solidFill>
                <a:latin typeface="Arial"/>
                <a:ea typeface="Arial"/>
                <a:cs typeface="Arial"/>
              </a:defRPr>
            </a:lvl6pPr>
            <a:lvl7pPr algn="l">
              <a:defRPr sz="2325" b="1">
                <a:solidFill>
                  <a:srgbClr val="173E36"/>
                </a:solidFill>
                <a:latin typeface="Arial"/>
                <a:ea typeface="Arial"/>
                <a:cs typeface="Arial"/>
              </a:defRPr>
            </a:lvl7pPr>
            <a:lvl8pPr algn="l">
              <a:defRPr sz="2325" b="1">
                <a:solidFill>
                  <a:srgbClr val="173E36"/>
                </a:solidFill>
                <a:latin typeface="Arial"/>
                <a:ea typeface="Arial"/>
                <a:cs typeface="Arial"/>
              </a:defRPr>
            </a:lvl8pPr>
            <a:lvl9pPr algn="l">
              <a:defRPr sz="2325" b="1">
                <a:solidFill>
                  <a:srgbClr val="173E36"/>
                </a:solidFill>
                <a:latin typeface="Arial"/>
                <a:ea typeface="Arial"/>
                <a:cs typeface="Arial"/>
              </a:defRPr>
            </a:lvl9pPr>
          </a:lstStyle>
          <a:p xmlns:a="http://schemas.openxmlformats.org/drawingml/2006/main">
            <a:pPr algn="l">
              <a:defRPr sz="2325" b="1">
                <a:solidFill>
                  <a:srgbClr val="173E36"/>
                </a:solidFill>
                <a:latin typeface="Arial"/>
                <a:ea typeface="Arial"/>
                <a:cs typeface="Arial"/>
              </a:defRPr>
            </a:pPr>
            <a:r>
              <a:rPr sz="2325" b="1">
                <a:solidFill>
                  <a:srgbClr val="173E36"/>
                </a:solidFill>
                <a:latin typeface="Arial"/>
                <a:ea typeface="Arial"/>
                <a:cs typeface="Arial"/>
              </a:rPr>
              <a:t>Review</a:t>
            </a:r>
          </a:p>
        </p:txBody>
      </p:sp>
      <p:sp>
        <p:nvSpPr>
          <p:cNvPr id="18" name="Plan rule 4">
            <a:extLst xmlns:a="http://schemas.openxmlformats.org/drawingml/2006/main">
              <a:ext uri="{FF2B5EF4-FFF2-40B4-BE49-F238E27FC236}">
                <a16:creationId xmlns:a16="http://schemas.microsoft.com/office/drawing/2014/main" id="{B3116289-6CDE-45A0-9A7B-CA09CCC5DA5B}"/>
              </a:ext>
            </a:extLst>
          </p:cNvPr>
          <p:cNvSpPr>
            <a:spLocks xmlns:a="http://schemas.openxmlformats.org/drawingml/2006/main" noGrp="1"/>
          </p:cNvSpPr>
          <p:nvPr/>
        </p:nvSpPr>
        <p:spPr>
          <a:xfrm xmlns:a="http://schemas.openxmlformats.org/drawingml/2006/main">
            <a:off x="9124950" y="3810000"/>
            <a:ext cx="2333625" cy="0"/>
          </a:xfrm>
          <a:prstGeom xmlns:a="http://schemas.openxmlformats.org/drawingml/2006/main" prst="line">
            <a:avLst/>
          </a:prstGeom>
          <a:noFill xmlns:a="http://schemas.openxmlformats.org/drawingml/2006/main"/>
          <a:ln xmlns:a="http://schemas.openxmlformats.org/drawingml/2006/main" w="19050">
            <a:solidFill>
              <a:srgbClr val="D6DFCF"/>
            </a:solidFill>
            <a:prstDash val="solid"/>
          </a:ln>
        </p:spPr>
      </p:sp>
      <p:sp>
        <p:nvSpPr>
          <p:cNvPr id="19" name="Plan detail 4">
            <a:extLst xmlns:a="http://schemas.openxmlformats.org/drawingml/2006/main">
              <a:ext uri="{FF2B5EF4-FFF2-40B4-BE49-F238E27FC236}">
                <a16:creationId xmlns:a16="http://schemas.microsoft.com/office/drawing/2014/main" id="{57AF4947-165B-4B67-9031-A69458E14FB5}"/>
              </a:ext>
            </a:extLst>
          </p:cNvPr>
          <p:cNvSpPr>
            <a:spLocks xmlns:a="http://schemas.openxmlformats.org/drawingml/2006/main" noGrp="1"/>
          </p:cNvSpPr>
          <p:nvPr/>
        </p:nvSpPr>
        <p:spPr>
          <a:xfrm xmlns:a="http://schemas.openxmlformats.org/drawingml/2006/main">
            <a:off x="9124950" y="4114800"/>
            <a:ext cx="2333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173E36"/>
                </a:solidFill>
                <a:latin typeface="Arial"/>
                <a:ea typeface="Arial"/>
                <a:cs typeface="Arial"/>
              </a:defRPr>
            </a:defPPr>
            <a:lvl1pPr algn="l">
              <a:defRPr sz="1688" b="0">
                <a:solidFill>
                  <a:srgbClr val="173E36"/>
                </a:solidFill>
                <a:latin typeface="Arial"/>
                <a:ea typeface="Arial"/>
                <a:cs typeface="Arial"/>
              </a:defRPr>
            </a:lvl1pPr>
            <a:lvl2pPr algn="l">
              <a:defRPr sz="1688" b="0">
                <a:solidFill>
                  <a:srgbClr val="173E36"/>
                </a:solidFill>
                <a:latin typeface="Arial"/>
                <a:ea typeface="Arial"/>
                <a:cs typeface="Arial"/>
              </a:defRPr>
            </a:lvl2pPr>
            <a:lvl3pPr algn="l">
              <a:defRPr sz="1688" b="0">
                <a:solidFill>
                  <a:srgbClr val="173E36"/>
                </a:solidFill>
                <a:latin typeface="Arial"/>
                <a:ea typeface="Arial"/>
                <a:cs typeface="Arial"/>
              </a:defRPr>
            </a:lvl3pPr>
            <a:lvl4pPr algn="l">
              <a:defRPr sz="1688" b="0">
                <a:solidFill>
                  <a:srgbClr val="173E36"/>
                </a:solidFill>
                <a:latin typeface="Arial"/>
                <a:ea typeface="Arial"/>
                <a:cs typeface="Arial"/>
              </a:defRPr>
            </a:lvl4pPr>
            <a:lvl5pPr algn="l">
              <a:defRPr sz="1688" b="0">
                <a:solidFill>
                  <a:srgbClr val="173E36"/>
                </a:solidFill>
                <a:latin typeface="Arial"/>
                <a:ea typeface="Arial"/>
                <a:cs typeface="Arial"/>
              </a:defRPr>
            </a:lvl5pPr>
            <a:lvl6pPr algn="l">
              <a:defRPr sz="1688" b="0">
                <a:solidFill>
                  <a:srgbClr val="173E36"/>
                </a:solidFill>
                <a:latin typeface="Arial"/>
                <a:ea typeface="Arial"/>
                <a:cs typeface="Arial"/>
              </a:defRPr>
            </a:lvl6pPr>
            <a:lvl7pPr algn="l">
              <a:defRPr sz="1688" b="0">
                <a:solidFill>
                  <a:srgbClr val="173E36"/>
                </a:solidFill>
                <a:latin typeface="Arial"/>
                <a:ea typeface="Arial"/>
                <a:cs typeface="Arial"/>
              </a:defRPr>
            </a:lvl7pPr>
            <a:lvl8pPr algn="l">
              <a:defRPr sz="1688" b="0">
                <a:solidFill>
                  <a:srgbClr val="173E36"/>
                </a:solidFill>
                <a:latin typeface="Arial"/>
                <a:ea typeface="Arial"/>
                <a:cs typeface="Arial"/>
              </a:defRPr>
            </a:lvl8pPr>
            <a:lvl9pPr algn="l">
              <a:defRPr sz="1688" b="0">
                <a:solidFill>
                  <a:srgbClr val="173E36"/>
                </a:solidFill>
                <a:latin typeface="Arial"/>
                <a:ea typeface="Arial"/>
                <a:cs typeface="Arial"/>
              </a:defRPr>
            </a:lvl9pPr>
          </a:lstStyle>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Review tasks and failures</a:t>
            </a:r>
          </a:p>
          <a:p xmlns:a="http://schemas.openxmlformats.org/drawingml/2006/main">
            <a:pPr algn="l">
              <a:defRPr sz="1688" b="0">
                <a:solidFill>
                  <a:srgbClr val="173E36"/>
                </a:solidFill>
                <a:latin typeface="Arial"/>
                <a:ea typeface="Arial"/>
                <a:cs typeface="Arial"/>
              </a:defRPr>
            </a:pPr>
            <a:r>
              <a:rPr sz="1688" b="0">
                <a:solidFill>
                  <a:srgbClr val="173E36"/>
                </a:solidFill>
                <a:latin typeface="Arial"/>
                <a:ea typeface="Arial"/>
                <a:cs typeface="Arial"/>
              </a:rPr>
              <a:t>Continue, revise or stop</a:t>
            </a:r>
          </a:p>
        </p:txBody>
      </p:sp>
      <p:cxnSp>
        <p:nvCxnSpPr>
          <p:cNvPr id="20" name="Plan connector 1">
            <a:extLst xmlns:a="http://schemas.openxmlformats.org/drawingml/2006/main">
              <a:ext uri="{FF2B5EF4-FFF2-40B4-BE49-F238E27FC236}">
                <a16:creationId xmlns:a16="http://schemas.microsoft.com/office/drawing/2014/main" id="{888050C7-FF1E-4D89-83DF-54D052D710D1}"/>
              </a:ext>
            </a:extLst>
          </p:cNvPr>
          <p:cNvCxnSpPr/>
          <p:nvPr/>
        </p:nvCxnSpPr>
        <p:spPr>
          <a:xfrm xmlns:a="http://schemas.openxmlformats.org/drawingml/2006/main">
            <a:off x="3181350" y="3381375"/>
            <a:ext cx="228600" cy="0"/>
          </a:xfrm>
          <a:prstGeom xmlns:a="http://schemas.openxmlformats.org/drawingml/2006/main" prst="straightConnector1">
            <a:avLst/>
          </a:prstGeom>
          <a:ln xmlns:a="http://schemas.openxmlformats.org/drawingml/2006/main" w="19050">
            <a:solidFill>
              <a:srgbClr val="286C60"/>
            </a:solidFill>
            <a:tailEnd type="triangle" w="sm" len="sm"/>
          </a:ln>
        </p:spPr>
      </p:cxnSp>
      <p:cxnSp>
        <p:nvCxnSpPr>
          <p:cNvPr id="21" name="Plan connector 2">
            <a:extLst xmlns:a="http://schemas.openxmlformats.org/drawingml/2006/main">
              <a:ext uri="{FF2B5EF4-FFF2-40B4-BE49-F238E27FC236}">
                <a16:creationId xmlns:a16="http://schemas.microsoft.com/office/drawing/2014/main" id="{C3C37415-5C9B-4447-8B24-E9DE79D64B17}"/>
              </a:ext>
            </a:extLst>
          </p:cNvPr>
          <p:cNvCxnSpPr/>
          <p:nvPr/>
        </p:nvCxnSpPr>
        <p:spPr>
          <a:xfrm xmlns:a="http://schemas.openxmlformats.org/drawingml/2006/main">
            <a:off x="5972175" y="3381375"/>
            <a:ext cx="238125" cy="0"/>
          </a:xfrm>
          <a:prstGeom xmlns:a="http://schemas.openxmlformats.org/drawingml/2006/main" prst="straightConnector1">
            <a:avLst/>
          </a:prstGeom>
          <a:ln xmlns:a="http://schemas.openxmlformats.org/drawingml/2006/main" w="19050">
            <a:solidFill>
              <a:srgbClr val="286C60"/>
            </a:solidFill>
            <a:tailEnd type="triangle" w="sm" len="sm"/>
          </a:ln>
        </p:spPr>
      </p:cxnSp>
      <p:cxnSp>
        <p:nvCxnSpPr>
          <p:cNvPr id="22" name="Plan connector 3">
            <a:extLst xmlns:a="http://schemas.openxmlformats.org/drawingml/2006/main">
              <a:ext uri="{FF2B5EF4-FFF2-40B4-BE49-F238E27FC236}">
                <a16:creationId xmlns:a16="http://schemas.microsoft.com/office/drawing/2014/main" id="{94FE49F0-898C-4A93-B12D-65BA57FF4BFC}"/>
              </a:ext>
            </a:extLst>
          </p:cNvPr>
          <p:cNvCxnSpPr/>
          <p:nvPr/>
        </p:nvCxnSpPr>
        <p:spPr>
          <a:xfrm xmlns:a="http://schemas.openxmlformats.org/drawingml/2006/main">
            <a:off x="8772525" y="3381375"/>
            <a:ext cx="238125" cy="0"/>
          </a:xfrm>
          <a:prstGeom xmlns:a="http://schemas.openxmlformats.org/drawingml/2006/main" prst="straightConnector1">
            <a:avLst/>
          </a:prstGeom>
          <a:ln xmlns:a="http://schemas.openxmlformats.org/drawingml/2006/main" w="19050">
            <a:solidFill>
              <a:srgbClr val="286C60"/>
            </a:solidFill>
            <a:tailEnd type="triangle" w="sm" len="sm"/>
          </a:ln>
        </p:spPr>
      </p:cxnSp>
      <p:sp>
        <p:nvSpPr>
          <p:cNvPr id="23" name="Planned target">
            <a:extLst xmlns:a="http://schemas.openxmlformats.org/drawingml/2006/main">
              <a:ext uri="{FF2B5EF4-FFF2-40B4-BE49-F238E27FC236}">
                <a16:creationId xmlns:a16="http://schemas.microsoft.com/office/drawing/2014/main" id="{7F6EA743-0F0A-40A6-9032-257A84F3B210}"/>
              </a:ext>
            </a:extLst>
          </p:cNvPr>
          <p:cNvSpPr>
            <a:spLocks xmlns:a="http://schemas.openxmlformats.org/drawingml/2006/main" noGrp="1"/>
          </p:cNvSpPr>
          <p:nvPr/>
        </p:nvSpPr>
        <p:spPr>
          <a:xfrm xmlns:a="http://schemas.openxmlformats.org/drawingml/2006/main">
            <a:off x="733425" y="5381625"/>
            <a:ext cx="1071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3E36"/>
                </a:solidFill>
                <a:latin typeface="Arial"/>
                <a:ea typeface="Arial"/>
                <a:cs typeface="Arial"/>
              </a:defRPr>
            </a:defPPr>
            <a:lvl1pPr algn="l">
              <a:defRPr sz="1800" b="0">
                <a:solidFill>
                  <a:srgbClr val="173E36"/>
                </a:solidFill>
                <a:latin typeface="Arial"/>
                <a:ea typeface="Arial"/>
                <a:cs typeface="Arial"/>
              </a:defRPr>
            </a:lvl1pPr>
            <a:lvl2pPr algn="l">
              <a:defRPr sz="1800" b="0">
                <a:solidFill>
                  <a:srgbClr val="173E36"/>
                </a:solidFill>
                <a:latin typeface="Arial"/>
                <a:ea typeface="Arial"/>
                <a:cs typeface="Arial"/>
              </a:defRPr>
            </a:lvl2pPr>
            <a:lvl3pPr algn="l">
              <a:defRPr sz="1800" b="0">
                <a:solidFill>
                  <a:srgbClr val="173E36"/>
                </a:solidFill>
                <a:latin typeface="Arial"/>
                <a:ea typeface="Arial"/>
                <a:cs typeface="Arial"/>
              </a:defRPr>
            </a:lvl3pPr>
            <a:lvl4pPr algn="l">
              <a:defRPr sz="1800" b="0">
                <a:solidFill>
                  <a:srgbClr val="173E36"/>
                </a:solidFill>
                <a:latin typeface="Arial"/>
                <a:ea typeface="Arial"/>
                <a:cs typeface="Arial"/>
              </a:defRPr>
            </a:lvl4pPr>
            <a:lvl5pPr algn="l">
              <a:defRPr sz="1800" b="0">
                <a:solidFill>
                  <a:srgbClr val="173E36"/>
                </a:solidFill>
                <a:latin typeface="Arial"/>
                <a:ea typeface="Arial"/>
                <a:cs typeface="Arial"/>
              </a:defRPr>
            </a:lvl5pPr>
            <a:lvl6pPr algn="l">
              <a:defRPr sz="1800" b="0">
                <a:solidFill>
                  <a:srgbClr val="173E36"/>
                </a:solidFill>
                <a:latin typeface="Arial"/>
                <a:ea typeface="Arial"/>
                <a:cs typeface="Arial"/>
              </a:defRPr>
            </a:lvl6pPr>
            <a:lvl7pPr algn="l">
              <a:defRPr sz="1800" b="0">
                <a:solidFill>
                  <a:srgbClr val="173E36"/>
                </a:solidFill>
                <a:latin typeface="Arial"/>
                <a:ea typeface="Arial"/>
                <a:cs typeface="Arial"/>
              </a:defRPr>
            </a:lvl7pPr>
            <a:lvl8pPr algn="l">
              <a:defRPr sz="1800" b="0">
                <a:solidFill>
                  <a:srgbClr val="173E36"/>
                </a:solidFill>
                <a:latin typeface="Arial"/>
                <a:ea typeface="Arial"/>
                <a:cs typeface="Arial"/>
              </a:defRPr>
            </a:lvl8pPr>
            <a:lvl9pPr algn="l">
              <a:defRPr sz="1800" b="0">
                <a:solidFill>
                  <a:srgbClr val="173E36"/>
                </a:solidFill>
                <a:latin typeface="Arial"/>
                <a:ea typeface="Arial"/>
                <a:cs typeface="Arial"/>
              </a:defRPr>
            </a:lvl9pPr>
          </a:lstStyle>
          <a:p xmlns:a="http://schemas.openxmlformats.org/drawingml/2006/main">
            <a:pPr algn="l">
              <a:defRPr sz="1800" b="0">
                <a:solidFill>
                  <a:srgbClr val="173E36"/>
                </a:solidFill>
                <a:latin typeface="Arial"/>
                <a:ea typeface="Arial"/>
                <a:cs typeface="Arial"/>
              </a:defRPr>
            </a:pPr>
            <a:r>
              <a:rPr sz="1800" b="0">
                <a:solidFill>
                  <a:srgbClr val="173E36"/>
                </a:solidFill>
                <a:latin typeface="Arial"/>
                <a:ea typeface="Arial"/>
                <a:cs typeface="Arial"/>
              </a:rPr>
              <a:t>Planned target: at least 80% complete the task within 3 minutes</a:t>
            </a:r>
          </a:p>
          <a:p xmlns:a="http://schemas.openxmlformats.org/drawingml/2006/main">
            <a:pPr algn="l">
              <a:defRPr sz="1800" b="0">
                <a:solidFill>
                  <a:srgbClr val="173E36"/>
                </a:solidFill>
                <a:latin typeface="Arial"/>
                <a:ea typeface="Arial"/>
                <a:cs typeface="Arial"/>
              </a:defRPr>
            </a:pPr>
            <a:r>
              <a:rPr sz="1800" b="0">
                <a:solidFill>
                  <a:srgbClr val="173E36"/>
                </a:solidFill>
                <a:latin typeface="Arial"/>
                <a:ea typeface="Arial"/>
                <a:cs typeface="Arial"/>
              </a:rPr>
              <a:t>and explain the key limits correctly.</a:t>
            </a:r>
          </a:p>
        </p:txBody>
      </p:sp>
      <p:sp>
        <p:nvSpPr>
          <p:cNvPr id="24" name="Plan limitation">
            <a:extLst xmlns:a="http://schemas.openxmlformats.org/drawingml/2006/main">
              <a:ext uri="{FF2B5EF4-FFF2-40B4-BE49-F238E27FC236}">
                <a16:creationId xmlns:a16="http://schemas.microsoft.com/office/drawing/2014/main" id="{9DCC93DD-D517-4934-8E67-B2948697ACDC}"/>
              </a:ext>
            </a:extLst>
          </p:cNvPr>
          <p:cNvSpPr>
            <a:spLocks xmlns:a="http://schemas.openxmlformats.org/drawingml/2006/main" noGrp="1"/>
          </p:cNvSpPr>
          <p:nvPr/>
        </p:nvSpPr>
        <p:spPr>
          <a:xfrm xmlns:a="http://schemas.openxmlformats.org/drawingml/2006/main">
            <a:off x="733425" y="61055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06945"/>
                </a:solidFill>
                <a:latin typeface="Arial"/>
                <a:ea typeface="Arial"/>
                <a:cs typeface="Arial"/>
              </a:defRPr>
            </a:defPPr>
            <a:lvl1pPr algn="l">
              <a:defRPr sz="1650" b="0">
                <a:solidFill>
                  <a:srgbClr val="B06945"/>
                </a:solidFill>
                <a:latin typeface="Arial"/>
                <a:ea typeface="Arial"/>
                <a:cs typeface="Arial"/>
              </a:defRPr>
            </a:lvl1pPr>
            <a:lvl2pPr algn="l">
              <a:defRPr sz="1650" b="0">
                <a:solidFill>
                  <a:srgbClr val="B06945"/>
                </a:solidFill>
                <a:latin typeface="Arial"/>
                <a:ea typeface="Arial"/>
                <a:cs typeface="Arial"/>
              </a:defRPr>
            </a:lvl2pPr>
            <a:lvl3pPr algn="l">
              <a:defRPr sz="1650" b="0">
                <a:solidFill>
                  <a:srgbClr val="B06945"/>
                </a:solidFill>
                <a:latin typeface="Arial"/>
                <a:ea typeface="Arial"/>
                <a:cs typeface="Arial"/>
              </a:defRPr>
            </a:lvl3pPr>
            <a:lvl4pPr algn="l">
              <a:defRPr sz="1650" b="0">
                <a:solidFill>
                  <a:srgbClr val="B06945"/>
                </a:solidFill>
                <a:latin typeface="Arial"/>
                <a:ea typeface="Arial"/>
                <a:cs typeface="Arial"/>
              </a:defRPr>
            </a:lvl4pPr>
            <a:lvl5pPr algn="l">
              <a:defRPr sz="1650" b="0">
                <a:solidFill>
                  <a:srgbClr val="B06945"/>
                </a:solidFill>
                <a:latin typeface="Arial"/>
                <a:ea typeface="Arial"/>
                <a:cs typeface="Arial"/>
              </a:defRPr>
            </a:lvl5pPr>
            <a:lvl6pPr algn="l">
              <a:defRPr sz="1650" b="0">
                <a:solidFill>
                  <a:srgbClr val="B06945"/>
                </a:solidFill>
                <a:latin typeface="Arial"/>
                <a:ea typeface="Arial"/>
                <a:cs typeface="Arial"/>
              </a:defRPr>
            </a:lvl6pPr>
            <a:lvl7pPr algn="l">
              <a:defRPr sz="1650" b="0">
                <a:solidFill>
                  <a:srgbClr val="B06945"/>
                </a:solidFill>
                <a:latin typeface="Arial"/>
                <a:ea typeface="Arial"/>
                <a:cs typeface="Arial"/>
              </a:defRPr>
            </a:lvl7pPr>
            <a:lvl8pPr algn="l">
              <a:defRPr sz="1650" b="0">
                <a:solidFill>
                  <a:srgbClr val="B06945"/>
                </a:solidFill>
                <a:latin typeface="Arial"/>
                <a:ea typeface="Arial"/>
                <a:cs typeface="Arial"/>
              </a:defRPr>
            </a:lvl8pPr>
            <a:lvl9pPr algn="l">
              <a:defRPr sz="1650" b="0">
                <a:solidFill>
                  <a:srgbClr val="B06945"/>
                </a:solidFill>
                <a:latin typeface="Arial"/>
                <a:ea typeface="Arial"/>
                <a:cs typeface="Arial"/>
              </a:defRPr>
            </a:lvl9pPr>
          </a:lstStyle>
          <a:p xmlns:a="http://schemas.openxmlformats.org/drawingml/2006/main">
            <a:pPr algn="l">
              <a:defRPr sz="1650" b="0">
                <a:solidFill>
                  <a:srgbClr val="B06945"/>
                </a:solidFill>
                <a:latin typeface="Arial"/>
                <a:ea typeface="Arial"/>
                <a:cs typeface="Arial"/>
              </a:defRPr>
            </a:pPr>
            <a:r>
              <a:rPr sz="1650" b="0">
                <a:solidFill>
                  <a:srgbClr val="B06945"/>
                </a:solidFill>
                <a:latin typeface="Arial"/>
                <a:ea typeface="Arial"/>
                <a:cs typeface="Arial"/>
              </a:rPr>
              <a:t>Small-sample usability study. This 90-day period does not cover the next full Meiyu season.</a:t>
            </a:r>
          </a:p>
        </p:txBody>
      </p:sp>
    </p:spTree>
    <p:extLst>
      <p:ext uri="{BB962C8B-B14F-4D97-AF65-F5344CB8AC3E}">
        <p14:creationId xmlns:p14="http://schemas.microsoft.com/office/powerpoint/2010/main" val="1281710504"/>
      </p:ext>
    </p:extLst>
  </p:cSld>
</p:sld>
</file>

<file path=ppt/slides/slide10.xml><?xml version="1.0" encoding="utf-8"?>
<p:sld xmlns:p="http://schemas.openxmlformats.org/presentationml/2006/main">
  <p:cSld>
    <p:bg>
      <p:bgPr>
        <a:solidFill xmlns:a="http://schemas.openxmlformats.org/drawingml/2006/main">
          <a:srgbClr val="102E2A"/>
        </a:solidFill>
      </p:bgPr>
    </p:bg>
    <p:spTree>
      <p:nvGrpSpPr>
        <p:cNvPr id="1" name=""/>
        <p:cNvGrpSpPr/>
        <p:nvPr/>
      </p:nvGrpSpPr>
      <p:grpSpPr>
        <a:xfrm xmlns:a="http://schemas.openxmlformats.org/drawingml/2006/main"/>
      </p:grpSpPr>
      <p:sp>
        <p:nvSpPr>
          <p:cNvPr id="11" name="Page 10">
            <a:extLst xmlns:a="http://schemas.openxmlformats.org/drawingml/2006/main">
              <a:ext uri="{FF2B5EF4-FFF2-40B4-BE49-F238E27FC236}">
                <a16:creationId xmlns:a16="http://schemas.microsoft.com/office/drawing/2014/main" id="{DB6995AB-E369-4BEE-8F90-B78E5CC4CEEA}"/>
              </a:ext>
            </a:extLst>
          </p:cNvPr>
          <p:cNvSpPr>
            <a:spLocks xmlns:a="http://schemas.openxmlformats.org/drawingml/2006/main" noGrp="1"/>
          </p:cNvSpPr>
          <p:nvPr/>
        </p:nvSpPr>
        <p:spPr>
          <a:xfrm xmlns:a="http://schemas.openxmlformats.org/drawingml/2006/main">
            <a:off x="11106150" y="63436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9C5A9"/>
                </a:solidFill>
                <a:latin typeface="Arial"/>
                <a:ea typeface="Arial"/>
                <a:cs typeface="Arial"/>
              </a:defRPr>
            </a:defPPr>
            <a:lvl1pPr algn="r">
              <a:defRPr sz="1350" b="0">
                <a:solidFill>
                  <a:srgbClr val="A9C5A9"/>
                </a:solidFill>
                <a:latin typeface="Arial"/>
                <a:ea typeface="Arial"/>
                <a:cs typeface="Arial"/>
              </a:defRPr>
            </a:lvl1pPr>
            <a:lvl2pPr algn="r">
              <a:defRPr sz="1350" b="0">
                <a:solidFill>
                  <a:srgbClr val="A9C5A9"/>
                </a:solidFill>
                <a:latin typeface="Arial"/>
                <a:ea typeface="Arial"/>
                <a:cs typeface="Arial"/>
              </a:defRPr>
            </a:lvl2pPr>
            <a:lvl3pPr algn="r">
              <a:defRPr sz="1350" b="0">
                <a:solidFill>
                  <a:srgbClr val="A9C5A9"/>
                </a:solidFill>
                <a:latin typeface="Arial"/>
                <a:ea typeface="Arial"/>
                <a:cs typeface="Arial"/>
              </a:defRPr>
            </a:lvl3pPr>
            <a:lvl4pPr algn="r">
              <a:defRPr sz="1350" b="0">
                <a:solidFill>
                  <a:srgbClr val="A9C5A9"/>
                </a:solidFill>
                <a:latin typeface="Arial"/>
                <a:ea typeface="Arial"/>
                <a:cs typeface="Arial"/>
              </a:defRPr>
            </a:lvl4pPr>
            <a:lvl5pPr algn="r">
              <a:defRPr sz="1350" b="0">
                <a:solidFill>
                  <a:srgbClr val="A9C5A9"/>
                </a:solidFill>
                <a:latin typeface="Arial"/>
                <a:ea typeface="Arial"/>
                <a:cs typeface="Arial"/>
              </a:defRPr>
            </a:lvl5pPr>
            <a:lvl6pPr algn="r">
              <a:defRPr sz="1350" b="0">
                <a:solidFill>
                  <a:srgbClr val="A9C5A9"/>
                </a:solidFill>
                <a:latin typeface="Arial"/>
                <a:ea typeface="Arial"/>
                <a:cs typeface="Arial"/>
              </a:defRPr>
            </a:lvl6pPr>
            <a:lvl7pPr algn="r">
              <a:defRPr sz="1350" b="0">
                <a:solidFill>
                  <a:srgbClr val="A9C5A9"/>
                </a:solidFill>
                <a:latin typeface="Arial"/>
                <a:ea typeface="Arial"/>
                <a:cs typeface="Arial"/>
              </a:defRPr>
            </a:lvl7pPr>
            <a:lvl8pPr algn="r">
              <a:defRPr sz="1350" b="0">
                <a:solidFill>
                  <a:srgbClr val="A9C5A9"/>
                </a:solidFill>
                <a:latin typeface="Arial"/>
                <a:ea typeface="Arial"/>
                <a:cs typeface="Arial"/>
              </a:defRPr>
            </a:lvl8pPr>
            <a:lvl9pPr algn="r">
              <a:defRPr sz="1350" b="0">
                <a:solidFill>
                  <a:srgbClr val="A9C5A9"/>
                </a:solidFill>
                <a:latin typeface="Arial"/>
                <a:ea typeface="Arial"/>
                <a:cs typeface="Arial"/>
              </a:defRPr>
            </a:lvl9pPr>
          </a:lstStyle>
          <a:p xmlns:a="http://schemas.openxmlformats.org/drawingml/2006/main">
            <a:pPr algn="r">
              <a:defRPr sz="1350" b="0">
                <a:solidFill>
                  <a:srgbClr val="A9C5A9"/>
                </a:solidFill>
                <a:latin typeface="Arial"/>
                <a:ea typeface="Arial"/>
                <a:cs typeface="Arial"/>
              </a:defRPr>
            </a:pPr>
            <a:r>
              <a:rPr sz="1350" b="0">
                <a:solidFill>
                  <a:srgbClr val="A9C5A9"/>
                </a:solidFill>
                <a:latin typeface="Arial"/>
                <a:ea typeface="Arial"/>
                <a:cs typeface="Arial"/>
              </a:rPr>
              <a:t>10</a:t>
            </a:r>
          </a:p>
        </p:txBody>
      </p:sp>
      <p:sp>
        <p:nvSpPr>
          <p:cNvPr id="2" name="Closing brand">
            <a:extLst xmlns:a="http://schemas.openxmlformats.org/drawingml/2006/main">
              <a:ext uri="{FF2B5EF4-FFF2-40B4-BE49-F238E27FC236}">
                <a16:creationId xmlns:a16="http://schemas.microsoft.com/office/drawing/2014/main" id="{C2656278-3B1C-4709-B920-79D29669B530}"/>
              </a:ext>
            </a:extLst>
          </p:cNvPr>
          <p:cNvSpPr>
            <a:spLocks xmlns:a="http://schemas.openxmlformats.org/drawingml/2006/main" noGrp="1"/>
          </p:cNvSpPr>
          <p:nvPr/>
        </p:nvSpPr>
        <p:spPr>
          <a:xfrm xmlns:a="http://schemas.openxmlformats.org/drawingml/2006/main">
            <a:off x="695325" y="7239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0EFD7"/>
                </a:solidFill>
                <a:latin typeface="Arial"/>
                <a:ea typeface="Arial"/>
                <a:cs typeface="Arial"/>
              </a:defRPr>
            </a:defPPr>
            <a:lvl1pPr algn="l">
              <a:defRPr sz="5700" b="1">
                <a:solidFill>
                  <a:srgbClr val="F0EFD7"/>
                </a:solidFill>
                <a:latin typeface="Arial"/>
                <a:ea typeface="Arial"/>
                <a:cs typeface="Arial"/>
              </a:defRPr>
            </a:lvl1pPr>
            <a:lvl2pPr algn="l">
              <a:defRPr sz="5700" b="1">
                <a:solidFill>
                  <a:srgbClr val="F0EFD7"/>
                </a:solidFill>
                <a:latin typeface="Arial"/>
                <a:ea typeface="Arial"/>
                <a:cs typeface="Arial"/>
              </a:defRPr>
            </a:lvl2pPr>
            <a:lvl3pPr algn="l">
              <a:defRPr sz="5700" b="1">
                <a:solidFill>
                  <a:srgbClr val="F0EFD7"/>
                </a:solidFill>
                <a:latin typeface="Arial"/>
                <a:ea typeface="Arial"/>
                <a:cs typeface="Arial"/>
              </a:defRPr>
            </a:lvl3pPr>
            <a:lvl4pPr algn="l">
              <a:defRPr sz="5700" b="1">
                <a:solidFill>
                  <a:srgbClr val="F0EFD7"/>
                </a:solidFill>
                <a:latin typeface="Arial"/>
                <a:ea typeface="Arial"/>
                <a:cs typeface="Arial"/>
              </a:defRPr>
            </a:lvl4pPr>
            <a:lvl5pPr algn="l">
              <a:defRPr sz="5700" b="1">
                <a:solidFill>
                  <a:srgbClr val="F0EFD7"/>
                </a:solidFill>
                <a:latin typeface="Arial"/>
                <a:ea typeface="Arial"/>
                <a:cs typeface="Arial"/>
              </a:defRPr>
            </a:lvl5pPr>
            <a:lvl6pPr algn="l">
              <a:defRPr sz="5700" b="1">
                <a:solidFill>
                  <a:srgbClr val="F0EFD7"/>
                </a:solidFill>
                <a:latin typeface="Arial"/>
                <a:ea typeface="Arial"/>
                <a:cs typeface="Arial"/>
              </a:defRPr>
            </a:lvl6pPr>
            <a:lvl7pPr algn="l">
              <a:defRPr sz="5700" b="1">
                <a:solidFill>
                  <a:srgbClr val="F0EFD7"/>
                </a:solidFill>
                <a:latin typeface="Arial"/>
                <a:ea typeface="Arial"/>
                <a:cs typeface="Arial"/>
              </a:defRPr>
            </a:lvl7pPr>
            <a:lvl8pPr algn="l">
              <a:defRPr sz="5700" b="1">
                <a:solidFill>
                  <a:srgbClr val="F0EFD7"/>
                </a:solidFill>
                <a:latin typeface="Arial"/>
                <a:ea typeface="Arial"/>
                <a:cs typeface="Arial"/>
              </a:defRPr>
            </a:lvl8pPr>
            <a:lvl9pPr algn="l">
              <a:defRPr sz="5700" b="1">
                <a:solidFill>
                  <a:srgbClr val="F0EFD7"/>
                </a:solidFill>
                <a:latin typeface="Arial"/>
                <a:ea typeface="Arial"/>
                <a:cs typeface="Arial"/>
              </a:defRPr>
            </a:lvl9pPr>
          </a:lstStyle>
          <a:p xmlns:a="http://schemas.openxmlformats.org/drawingml/2006/main">
            <a:pPr algn="l">
              <a:defRPr sz="5700" b="1">
                <a:solidFill>
                  <a:srgbClr val="F0EFD7"/>
                </a:solidFill>
                <a:latin typeface="Arial"/>
                <a:ea typeface="Arial"/>
                <a:cs typeface="Arial"/>
              </a:defRPr>
            </a:pPr>
            <a:r>
              <a:rPr sz="5700" b="1">
                <a:solidFill>
                  <a:srgbClr val="F0EFD7"/>
                </a:solidFill>
                <a:latin typeface="Arial"/>
                <a:ea typeface="Arial"/>
                <a:cs typeface="Arial"/>
              </a:rPr>
              <a:t>Meiyu Prepare</a:t>
            </a:r>
          </a:p>
        </p:txBody>
      </p:sp>
      <p:sp>
        <p:nvSpPr>
          <p:cNvPr id="3" name="Next evidence">
            <a:extLst xmlns:a="http://schemas.openxmlformats.org/drawingml/2006/main">
              <a:ext uri="{FF2B5EF4-FFF2-40B4-BE49-F238E27FC236}">
                <a16:creationId xmlns:a16="http://schemas.microsoft.com/office/drawing/2014/main" id="{E8DA9B6C-9A78-4283-A26A-6B7A19DC18FF}"/>
              </a:ext>
            </a:extLst>
          </p:cNvPr>
          <p:cNvSpPr>
            <a:spLocks xmlns:a="http://schemas.openxmlformats.org/drawingml/2006/main" noGrp="1"/>
          </p:cNvSpPr>
          <p:nvPr/>
        </p:nvSpPr>
        <p:spPr>
          <a:xfrm xmlns:a="http://schemas.openxmlformats.org/drawingml/2006/main">
            <a:off x="733425" y="2076450"/>
            <a:ext cx="10525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C8E3B3"/>
                </a:solidFill>
                <a:latin typeface="Arial"/>
                <a:ea typeface="Arial"/>
                <a:cs typeface="Arial"/>
              </a:defRPr>
            </a:defPPr>
            <a:lvl1pPr algn="l">
              <a:defRPr sz="2775" b="0">
                <a:solidFill>
                  <a:srgbClr val="C8E3B3"/>
                </a:solidFill>
                <a:latin typeface="Arial"/>
                <a:ea typeface="Arial"/>
                <a:cs typeface="Arial"/>
              </a:defRPr>
            </a:lvl1pPr>
            <a:lvl2pPr algn="l">
              <a:defRPr sz="2775" b="0">
                <a:solidFill>
                  <a:srgbClr val="C8E3B3"/>
                </a:solidFill>
                <a:latin typeface="Arial"/>
                <a:ea typeface="Arial"/>
                <a:cs typeface="Arial"/>
              </a:defRPr>
            </a:lvl2pPr>
            <a:lvl3pPr algn="l">
              <a:defRPr sz="2775" b="0">
                <a:solidFill>
                  <a:srgbClr val="C8E3B3"/>
                </a:solidFill>
                <a:latin typeface="Arial"/>
                <a:ea typeface="Arial"/>
                <a:cs typeface="Arial"/>
              </a:defRPr>
            </a:lvl3pPr>
            <a:lvl4pPr algn="l">
              <a:defRPr sz="2775" b="0">
                <a:solidFill>
                  <a:srgbClr val="C8E3B3"/>
                </a:solidFill>
                <a:latin typeface="Arial"/>
                <a:ea typeface="Arial"/>
                <a:cs typeface="Arial"/>
              </a:defRPr>
            </a:lvl4pPr>
            <a:lvl5pPr algn="l">
              <a:defRPr sz="2775" b="0">
                <a:solidFill>
                  <a:srgbClr val="C8E3B3"/>
                </a:solidFill>
                <a:latin typeface="Arial"/>
                <a:ea typeface="Arial"/>
                <a:cs typeface="Arial"/>
              </a:defRPr>
            </a:lvl5pPr>
            <a:lvl6pPr algn="l">
              <a:defRPr sz="2775" b="0">
                <a:solidFill>
                  <a:srgbClr val="C8E3B3"/>
                </a:solidFill>
                <a:latin typeface="Arial"/>
                <a:ea typeface="Arial"/>
                <a:cs typeface="Arial"/>
              </a:defRPr>
            </a:lvl6pPr>
            <a:lvl7pPr algn="l">
              <a:defRPr sz="2775" b="0">
                <a:solidFill>
                  <a:srgbClr val="C8E3B3"/>
                </a:solidFill>
                <a:latin typeface="Arial"/>
                <a:ea typeface="Arial"/>
                <a:cs typeface="Arial"/>
              </a:defRPr>
            </a:lvl7pPr>
            <a:lvl8pPr algn="l">
              <a:defRPr sz="2775" b="0">
                <a:solidFill>
                  <a:srgbClr val="C8E3B3"/>
                </a:solidFill>
                <a:latin typeface="Arial"/>
                <a:ea typeface="Arial"/>
                <a:cs typeface="Arial"/>
              </a:defRPr>
            </a:lvl8pPr>
            <a:lvl9pPr algn="l">
              <a:defRPr sz="2775" b="0">
                <a:solidFill>
                  <a:srgbClr val="C8E3B3"/>
                </a:solidFill>
                <a:latin typeface="Arial"/>
                <a:ea typeface="Arial"/>
                <a:cs typeface="Arial"/>
              </a:defRPr>
            </a:lvl9pPr>
          </a:lstStyle>
          <a:p xmlns:a="http://schemas.openxmlformats.org/drawingml/2006/main">
            <a:pPr algn="l">
              <a:defRPr sz="2775" b="0">
                <a:solidFill>
                  <a:srgbClr val="C8E3B3"/>
                </a:solidFill>
                <a:latin typeface="Arial"/>
                <a:ea typeface="Arial"/>
                <a:cs typeface="Arial"/>
              </a:defRPr>
            </a:pPr>
            <a:r>
              <a:rPr sz="2775" b="0">
                <a:solidFill>
                  <a:srgbClr val="C8E3B3"/>
                </a:solidFill>
                <a:latin typeface="Arial"/>
                <a:ea typeface="Arial"/>
                <a:cs typeface="Arial"/>
              </a:rPr>
              <a:t>Next: test whether merchants can complete</a:t>
            </a:r>
          </a:p>
          <a:p xmlns:a="http://schemas.openxmlformats.org/drawingml/2006/main">
            <a:pPr algn="l">
              <a:defRPr sz="2775" b="0">
                <a:solidFill>
                  <a:srgbClr val="C8E3B3"/>
                </a:solidFill>
                <a:latin typeface="Arial"/>
                <a:ea typeface="Arial"/>
                <a:cs typeface="Arial"/>
              </a:defRPr>
            </a:pPr>
            <a:r>
              <a:rPr sz="2775" b="0">
                <a:solidFill>
                  <a:srgbClr val="C8E3B3"/>
                </a:solidFill>
                <a:latin typeface="Arial"/>
                <a:ea typeface="Arial"/>
                <a:cs typeface="Arial"/>
              </a:rPr>
              <a:t>and understand the comparison</a:t>
            </a:r>
          </a:p>
        </p:txBody>
      </p:sp>
      <p:sp>
        <p:nvSpPr>
          <p:cNvPr id="4" name="Closing rule">
            <a:extLst xmlns:a="http://schemas.openxmlformats.org/drawingml/2006/main">
              <a:ext uri="{FF2B5EF4-FFF2-40B4-BE49-F238E27FC236}">
                <a16:creationId xmlns:a16="http://schemas.microsoft.com/office/drawing/2014/main" id="{0610D1C0-03FC-4179-BDA2-A4E0E8ED3654}"/>
              </a:ext>
            </a:extLst>
          </p:cNvPr>
          <p:cNvSpPr>
            <a:spLocks xmlns:a="http://schemas.openxmlformats.org/drawingml/2006/main" noGrp="1"/>
          </p:cNvSpPr>
          <p:nvPr/>
        </p:nvSpPr>
        <p:spPr>
          <a:xfrm xmlns:a="http://schemas.openxmlformats.org/drawingml/2006/main">
            <a:off x="733425" y="3524250"/>
            <a:ext cx="10715625" cy="0"/>
          </a:xfrm>
          <a:prstGeom xmlns:a="http://schemas.openxmlformats.org/drawingml/2006/main" prst="line">
            <a:avLst/>
          </a:prstGeom>
          <a:noFill xmlns:a="http://schemas.openxmlformats.org/drawingml/2006/main"/>
          <a:ln xmlns:a="http://schemas.openxmlformats.org/drawingml/2006/main" w="9525">
            <a:solidFill>
              <a:srgbClr val="36534A"/>
            </a:solidFill>
            <a:prstDash val="solid"/>
          </a:ln>
        </p:spPr>
      </p:sp>
      <p:sp>
        <p:nvSpPr>
          <p:cNvPr id="5" name="Link label 1">
            <a:extLst xmlns:a="http://schemas.openxmlformats.org/drawingml/2006/main">
              <a:ext uri="{FF2B5EF4-FFF2-40B4-BE49-F238E27FC236}">
                <a16:creationId xmlns:a16="http://schemas.microsoft.com/office/drawing/2014/main" id="{95565BEB-93FC-43ED-90FF-90741CA6E258}"/>
              </a:ext>
            </a:extLst>
          </p:cNvPr>
          <p:cNvSpPr>
            <a:spLocks xmlns:a="http://schemas.openxmlformats.org/drawingml/2006/main" noGrp="1"/>
          </p:cNvSpPr>
          <p:nvPr/>
        </p:nvSpPr>
        <p:spPr>
          <a:xfrm xmlns:a="http://schemas.openxmlformats.org/drawingml/2006/main">
            <a:off x="742950" y="37909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9C5A9"/>
                </a:solidFill>
                <a:latin typeface="Arial"/>
                <a:ea typeface="Arial"/>
                <a:cs typeface="Arial"/>
              </a:defRPr>
            </a:defPPr>
            <a:lvl1pPr algn="l">
              <a:defRPr sz="1500" b="0">
                <a:solidFill>
                  <a:srgbClr val="A9C5A9"/>
                </a:solidFill>
                <a:latin typeface="Arial"/>
                <a:ea typeface="Arial"/>
                <a:cs typeface="Arial"/>
              </a:defRPr>
            </a:lvl1pPr>
            <a:lvl2pPr algn="l">
              <a:defRPr sz="1500" b="0">
                <a:solidFill>
                  <a:srgbClr val="A9C5A9"/>
                </a:solidFill>
                <a:latin typeface="Arial"/>
                <a:ea typeface="Arial"/>
                <a:cs typeface="Arial"/>
              </a:defRPr>
            </a:lvl2pPr>
            <a:lvl3pPr algn="l">
              <a:defRPr sz="1500" b="0">
                <a:solidFill>
                  <a:srgbClr val="A9C5A9"/>
                </a:solidFill>
                <a:latin typeface="Arial"/>
                <a:ea typeface="Arial"/>
                <a:cs typeface="Arial"/>
              </a:defRPr>
            </a:lvl3pPr>
            <a:lvl4pPr algn="l">
              <a:defRPr sz="1500" b="0">
                <a:solidFill>
                  <a:srgbClr val="A9C5A9"/>
                </a:solidFill>
                <a:latin typeface="Arial"/>
                <a:ea typeface="Arial"/>
                <a:cs typeface="Arial"/>
              </a:defRPr>
            </a:lvl4pPr>
            <a:lvl5pPr algn="l">
              <a:defRPr sz="1500" b="0">
                <a:solidFill>
                  <a:srgbClr val="A9C5A9"/>
                </a:solidFill>
                <a:latin typeface="Arial"/>
                <a:ea typeface="Arial"/>
                <a:cs typeface="Arial"/>
              </a:defRPr>
            </a:lvl5pPr>
            <a:lvl6pPr algn="l">
              <a:defRPr sz="1500" b="0">
                <a:solidFill>
                  <a:srgbClr val="A9C5A9"/>
                </a:solidFill>
                <a:latin typeface="Arial"/>
                <a:ea typeface="Arial"/>
                <a:cs typeface="Arial"/>
              </a:defRPr>
            </a:lvl6pPr>
            <a:lvl7pPr algn="l">
              <a:defRPr sz="1500" b="0">
                <a:solidFill>
                  <a:srgbClr val="A9C5A9"/>
                </a:solidFill>
                <a:latin typeface="Arial"/>
                <a:ea typeface="Arial"/>
                <a:cs typeface="Arial"/>
              </a:defRPr>
            </a:lvl7pPr>
            <a:lvl8pPr algn="l">
              <a:defRPr sz="1500" b="0">
                <a:solidFill>
                  <a:srgbClr val="A9C5A9"/>
                </a:solidFill>
                <a:latin typeface="Arial"/>
                <a:ea typeface="Arial"/>
                <a:cs typeface="Arial"/>
              </a:defRPr>
            </a:lvl8pPr>
            <a:lvl9pPr algn="l">
              <a:defRPr sz="1500" b="0">
                <a:solidFill>
                  <a:srgbClr val="A9C5A9"/>
                </a:solidFill>
                <a:latin typeface="Arial"/>
                <a:ea typeface="Arial"/>
                <a:cs typeface="Arial"/>
              </a:defRPr>
            </a:lvl9pPr>
          </a:lstStyle>
          <a:p xmlns:a="http://schemas.openxmlformats.org/drawingml/2006/main">
            <a:pPr algn="l">
              <a:defRPr sz="1500" b="0">
                <a:solidFill>
                  <a:srgbClr val="A9C5A9"/>
                </a:solidFill>
                <a:latin typeface="Arial"/>
                <a:ea typeface="Arial"/>
                <a:cs typeface="Arial"/>
              </a:defRPr>
            </a:pPr>
            <a:r>
              <a:rPr sz="1500" b="0">
                <a:solidFill>
                  <a:srgbClr val="A9C5A9"/>
                </a:solidFill>
                <a:latin typeface="Arial"/>
                <a:ea typeface="Arial"/>
                <a:cs typeface="Arial"/>
              </a:rPr>
              <a:t>English demo</a:t>
            </a:r>
          </a:p>
        </p:txBody>
      </p:sp>
      <p:sp>
        <p:nvSpPr>
          <p:cNvPr id="6" name="Link 1">
            <a:extLst xmlns:a="http://schemas.openxmlformats.org/drawingml/2006/main">
              <a:ext uri="{FF2B5EF4-FFF2-40B4-BE49-F238E27FC236}">
                <a16:creationId xmlns:a16="http://schemas.microsoft.com/office/drawing/2014/main" id="{D59F15C7-1BB7-4964-9BD3-F277D1A8C97C}"/>
              </a:ext>
            </a:extLst>
          </p:cNvPr>
          <p:cNvSpPr>
            <a:spLocks xmlns:a="http://schemas.openxmlformats.org/drawingml/2006/main" noGrp="1"/>
          </p:cNvSpPr>
          <p:nvPr/>
        </p:nvSpPr>
        <p:spPr>
          <a:xfrm xmlns:a="http://schemas.openxmlformats.org/drawingml/2006/main">
            <a:off x="742950" y="40862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0EFD7"/>
                </a:solidFill>
                <a:latin typeface="Arial"/>
                <a:ea typeface="Arial"/>
                <a:cs typeface="Arial"/>
              </a:defRPr>
            </a:defPPr>
            <a:lvl1pPr algn="l">
              <a:defRPr sz="2100" b="0">
                <a:solidFill>
                  <a:srgbClr val="F0EFD7"/>
                </a:solidFill>
                <a:latin typeface="Arial"/>
                <a:ea typeface="Arial"/>
                <a:cs typeface="Arial"/>
              </a:defRPr>
            </a:lvl1pPr>
            <a:lvl2pPr algn="l">
              <a:defRPr sz="2100" b="0">
                <a:solidFill>
                  <a:srgbClr val="F0EFD7"/>
                </a:solidFill>
                <a:latin typeface="Arial"/>
                <a:ea typeface="Arial"/>
                <a:cs typeface="Arial"/>
              </a:defRPr>
            </a:lvl2pPr>
            <a:lvl3pPr algn="l">
              <a:defRPr sz="2100" b="0">
                <a:solidFill>
                  <a:srgbClr val="F0EFD7"/>
                </a:solidFill>
                <a:latin typeface="Arial"/>
                <a:ea typeface="Arial"/>
                <a:cs typeface="Arial"/>
              </a:defRPr>
            </a:lvl3pPr>
            <a:lvl4pPr algn="l">
              <a:defRPr sz="2100" b="0">
                <a:solidFill>
                  <a:srgbClr val="F0EFD7"/>
                </a:solidFill>
                <a:latin typeface="Arial"/>
                <a:ea typeface="Arial"/>
                <a:cs typeface="Arial"/>
              </a:defRPr>
            </a:lvl4pPr>
            <a:lvl5pPr algn="l">
              <a:defRPr sz="2100" b="0">
                <a:solidFill>
                  <a:srgbClr val="F0EFD7"/>
                </a:solidFill>
                <a:latin typeface="Arial"/>
                <a:ea typeface="Arial"/>
                <a:cs typeface="Arial"/>
              </a:defRPr>
            </a:lvl5pPr>
            <a:lvl6pPr algn="l">
              <a:defRPr sz="2100" b="0">
                <a:solidFill>
                  <a:srgbClr val="F0EFD7"/>
                </a:solidFill>
                <a:latin typeface="Arial"/>
                <a:ea typeface="Arial"/>
                <a:cs typeface="Arial"/>
              </a:defRPr>
            </a:lvl6pPr>
            <a:lvl7pPr algn="l">
              <a:defRPr sz="2100" b="0">
                <a:solidFill>
                  <a:srgbClr val="F0EFD7"/>
                </a:solidFill>
                <a:latin typeface="Arial"/>
                <a:ea typeface="Arial"/>
                <a:cs typeface="Arial"/>
              </a:defRPr>
            </a:lvl7pPr>
            <a:lvl8pPr algn="l">
              <a:defRPr sz="2100" b="0">
                <a:solidFill>
                  <a:srgbClr val="F0EFD7"/>
                </a:solidFill>
                <a:latin typeface="Arial"/>
                <a:ea typeface="Arial"/>
                <a:cs typeface="Arial"/>
              </a:defRPr>
            </a:lvl8pPr>
            <a:lvl9pPr algn="l">
              <a:defRPr sz="2100" b="0">
                <a:solidFill>
                  <a:srgbClr val="F0EFD7"/>
                </a:solidFill>
                <a:latin typeface="Arial"/>
                <a:ea typeface="Arial"/>
                <a:cs typeface="Arial"/>
              </a:defRPr>
            </a:lvl9pPr>
          </a:lstStyle>
          <a:p xmlns:a="http://schemas.openxmlformats.org/drawingml/2006/main">
            <a:pPr algn="l">
              <a:defRPr sz="2100" b="0">
                <a:solidFill>
                  <a:srgbClr val="F0EFD7"/>
                </a:solidFill>
                <a:latin typeface="Arial"/>
                <a:ea typeface="Arial"/>
                <a:cs typeface="Arial"/>
              </a:defRPr>
            </a:pPr>
            <a:r>
              <a:rPr sz="2100" b="0">
                <a:solidFill>
                  <a:srgbClr val="F0EFD7"/>
                </a:solidFill>
                <a:latin typeface="Arial"/>
                <a:ea typeface="Arial"/>
                <a:cs typeface="Arial"/>
                <a:hlinkClick xmlns:r="http://schemas.openxmlformats.org/officeDocument/2006/relationships" r:id="Redc9bc9bed334bc7"/>
              </a:rPr>
              <a:t>kongbaigit.github.io/meiyu-ai4climate/en/</a:t>
            </a:r>
          </a:p>
        </p:txBody>
      </p:sp>
      <p:sp>
        <p:nvSpPr>
          <p:cNvPr id="7" name="Link label 2">
            <a:extLst xmlns:a="http://schemas.openxmlformats.org/drawingml/2006/main">
              <a:ext uri="{FF2B5EF4-FFF2-40B4-BE49-F238E27FC236}">
                <a16:creationId xmlns:a16="http://schemas.microsoft.com/office/drawing/2014/main" id="{77C6BEF4-AC74-4690-B7AA-71BB6A48DF7C}"/>
              </a:ext>
            </a:extLst>
          </p:cNvPr>
          <p:cNvSpPr>
            <a:spLocks xmlns:a="http://schemas.openxmlformats.org/drawingml/2006/main" noGrp="1"/>
          </p:cNvSpPr>
          <p:nvPr/>
        </p:nvSpPr>
        <p:spPr>
          <a:xfrm xmlns:a="http://schemas.openxmlformats.org/drawingml/2006/main">
            <a:off x="742950" y="463867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9C5A9"/>
                </a:solidFill>
                <a:latin typeface="Arial"/>
                <a:ea typeface="Arial"/>
                <a:cs typeface="Arial"/>
              </a:defRPr>
            </a:defPPr>
            <a:lvl1pPr algn="l">
              <a:defRPr sz="1500" b="0">
                <a:solidFill>
                  <a:srgbClr val="A9C5A9"/>
                </a:solidFill>
                <a:latin typeface="Arial"/>
                <a:ea typeface="Arial"/>
                <a:cs typeface="Arial"/>
              </a:defRPr>
            </a:lvl1pPr>
            <a:lvl2pPr algn="l">
              <a:defRPr sz="1500" b="0">
                <a:solidFill>
                  <a:srgbClr val="A9C5A9"/>
                </a:solidFill>
                <a:latin typeface="Arial"/>
                <a:ea typeface="Arial"/>
                <a:cs typeface="Arial"/>
              </a:defRPr>
            </a:lvl2pPr>
            <a:lvl3pPr algn="l">
              <a:defRPr sz="1500" b="0">
                <a:solidFill>
                  <a:srgbClr val="A9C5A9"/>
                </a:solidFill>
                <a:latin typeface="Arial"/>
                <a:ea typeface="Arial"/>
                <a:cs typeface="Arial"/>
              </a:defRPr>
            </a:lvl3pPr>
            <a:lvl4pPr algn="l">
              <a:defRPr sz="1500" b="0">
                <a:solidFill>
                  <a:srgbClr val="A9C5A9"/>
                </a:solidFill>
                <a:latin typeface="Arial"/>
                <a:ea typeface="Arial"/>
                <a:cs typeface="Arial"/>
              </a:defRPr>
            </a:lvl4pPr>
            <a:lvl5pPr algn="l">
              <a:defRPr sz="1500" b="0">
                <a:solidFill>
                  <a:srgbClr val="A9C5A9"/>
                </a:solidFill>
                <a:latin typeface="Arial"/>
                <a:ea typeface="Arial"/>
                <a:cs typeface="Arial"/>
              </a:defRPr>
            </a:lvl5pPr>
            <a:lvl6pPr algn="l">
              <a:defRPr sz="1500" b="0">
                <a:solidFill>
                  <a:srgbClr val="A9C5A9"/>
                </a:solidFill>
                <a:latin typeface="Arial"/>
                <a:ea typeface="Arial"/>
                <a:cs typeface="Arial"/>
              </a:defRPr>
            </a:lvl6pPr>
            <a:lvl7pPr algn="l">
              <a:defRPr sz="1500" b="0">
                <a:solidFill>
                  <a:srgbClr val="A9C5A9"/>
                </a:solidFill>
                <a:latin typeface="Arial"/>
                <a:ea typeface="Arial"/>
                <a:cs typeface="Arial"/>
              </a:defRPr>
            </a:lvl7pPr>
            <a:lvl8pPr algn="l">
              <a:defRPr sz="1500" b="0">
                <a:solidFill>
                  <a:srgbClr val="A9C5A9"/>
                </a:solidFill>
                <a:latin typeface="Arial"/>
                <a:ea typeface="Arial"/>
                <a:cs typeface="Arial"/>
              </a:defRPr>
            </a:lvl8pPr>
            <a:lvl9pPr algn="l">
              <a:defRPr sz="1500" b="0">
                <a:solidFill>
                  <a:srgbClr val="A9C5A9"/>
                </a:solidFill>
                <a:latin typeface="Arial"/>
                <a:ea typeface="Arial"/>
                <a:cs typeface="Arial"/>
              </a:defRPr>
            </a:lvl9pPr>
          </a:lstStyle>
          <a:p xmlns:a="http://schemas.openxmlformats.org/drawingml/2006/main">
            <a:pPr algn="l">
              <a:defRPr sz="1500" b="0">
                <a:solidFill>
                  <a:srgbClr val="A9C5A9"/>
                </a:solidFill>
                <a:latin typeface="Arial"/>
                <a:ea typeface="Arial"/>
                <a:cs typeface="Arial"/>
              </a:defRPr>
            </a:pPr>
            <a:r>
              <a:rPr sz="1500" b="0">
                <a:solidFill>
                  <a:srgbClr val="A9C5A9"/>
                </a:solidFill>
                <a:latin typeface="Arial"/>
                <a:ea typeface="Arial"/>
                <a:cs typeface="Arial"/>
              </a:rPr>
              <a:t>English video</a:t>
            </a:r>
          </a:p>
        </p:txBody>
      </p:sp>
      <p:sp>
        <p:nvSpPr>
          <p:cNvPr id="8" name="Link 2">
            <a:extLst xmlns:a="http://schemas.openxmlformats.org/drawingml/2006/main">
              <a:ext uri="{FF2B5EF4-FFF2-40B4-BE49-F238E27FC236}">
                <a16:creationId xmlns:a16="http://schemas.microsoft.com/office/drawing/2014/main" id="{8311D954-18B5-4222-9948-650EDCBD92D1}"/>
              </a:ext>
            </a:extLst>
          </p:cNvPr>
          <p:cNvSpPr>
            <a:spLocks xmlns:a="http://schemas.openxmlformats.org/drawingml/2006/main" noGrp="1"/>
          </p:cNvSpPr>
          <p:nvPr/>
        </p:nvSpPr>
        <p:spPr>
          <a:xfrm xmlns:a="http://schemas.openxmlformats.org/drawingml/2006/main">
            <a:off x="742950" y="49339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0EFD7"/>
                </a:solidFill>
                <a:latin typeface="Arial"/>
                <a:ea typeface="Arial"/>
                <a:cs typeface="Arial"/>
              </a:defRPr>
            </a:defPPr>
            <a:lvl1pPr algn="l">
              <a:defRPr sz="2100" b="0">
                <a:solidFill>
                  <a:srgbClr val="F0EFD7"/>
                </a:solidFill>
                <a:latin typeface="Arial"/>
                <a:ea typeface="Arial"/>
                <a:cs typeface="Arial"/>
              </a:defRPr>
            </a:lvl1pPr>
            <a:lvl2pPr algn="l">
              <a:defRPr sz="2100" b="0">
                <a:solidFill>
                  <a:srgbClr val="F0EFD7"/>
                </a:solidFill>
                <a:latin typeface="Arial"/>
                <a:ea typeface="Arial"/>
                <a:cs typeface="Arial"/>
              </a:defRPr>
            </a:lvl2pPr>
            <a:lvl3pPr algn="l">
              <a:defRPr sz="2100" b="0">
                <a:solidFill>
                  <a:srgbClr val="F0EFD7"/>
                </a:solidFill>
                <a:latin typeface="Arial"/>
                <a:ea typeface="Arial"/>
                <a:cs typeface="Arial"/>
              </a:defRPr>
            </a:lvl3pPr>
            <a:lvl4pPr algn="l">
              <a:defRPr sz="2100" b="0">
                <a:solidFill>
                  <a:srgbClr val="F0EFD7"/>
                </a:solidFill>
                <a:latin typeface="Arial"/>
                <a:ea typeface="Arial"/>
                <a:cs typeface="Arial"/>
              </a:defRPr>
            </a:lvl4pPr>
            <a:lvl5pPr algn="l">
              <a:defRPr sz="2100" b="0">
                <a:solidFill>
                  <a:srgbClr val="F0EFD7"/>
                </a:solidFill>
                <a:latin typeface="Arial"/>
                <a:ea typeface="Arial"/>
                <a:cs typeface="Arial"/>
              </a:defRPr>
            </a:lvl5pPr>
            <a:lvl6pPr algn="l">
              <a:defRPr sz="2100" b="0">
                <a:solidFill>
                  <a:srgbClr val="F0EFD7"/>
                </a:solidFill>
                <a:latin typeface="Arial"/>
                <a:ea typeface="Arial"/>
                <a:cs typeface="Arial"/>
              </a:defRPr>
            </a:lvl6pPr>
            <a:lvl7pPr algn="l">
              <a:defRPr sz="2100" b="0">
                <a:solidFill>
                  <a:srgbClr val="F0EFD7"/>
                </a:solidFill>
                <a:latin typeface="Arial"/>
                <a:ea typeface="Arial"/>
                <a:cs typeface="Arial"/>
              </a:defRPr>
            </a:lvl7pPr>
            <a:lvl8pPr algn="l">
              <a:defRPr sz="2100" b="0">
                <a:solidFill>
                  <a:srgbClr val="F0EFD7"/>
                </a:solidFill>
                <a:latin typeface="Arial"/>
                <a:ea typeface="Arial"/>
                <a:cs typeface="Arial"/>
              </a:defRPr>
            </a:lvl8pPr>
            <a:lvl9pPr algn="l">
              <a:defRPr sz="2100" b="0">
                <a:solidFill>
                  <a:srgbClr val="F0EFD7"/>
                </a:solidFill>
                <a:latin typeface="Arial"/>
                <a:ea typeface="Arial"/>
                <a:cs typeface="Arial"/>
              </a:defRPr>
            </a:lvl9pPr>
          </a:lstStyle>
          <a:p xmlns:a="http://schemas.openxmlformats.org/drawingml/2006/main">
            <a:pPr algn="l">
              <a:defRPr sz="2100" b="0">
                <a:solidFill>
                  <a:srgbClr val="F0EFD7"/>
                </a:solidFill>
                <a:latin typeface="Arial"/>
                <a:ea typeface="Arial"/>
                <a:cs typeface="Arial"/>
              </a:defRPr>
            </a:pPr>
            <a:r>
              <a:rPr sz="2100" b="0">
                <a:solidFill>
                  <a:srgbClr val="F0EFD7"/>
                </a:solidFill>
                <a:latin typeface="Arial"/>
                <a:ea typeface="Arial"/>
                <a:cs typeface="Arial"/>
                <a:hlinkClick xmlns:r="http://schemas.openxmlformats.org/officeDocument/2006/relationships" r:id="Rd2726837e9a24096"/>
              </a:rPr>
              <a:t>kongbaigit.github.io/meiyu-ai4climate/en/promo/</a:t>
            </a:r>
          </a:p>
        </p:txBody>
      </p:sp>
      <p:sp>
        <p:nvSpPr>
          <p:cNvPr id="9" name="Link label 3">
            <a:extLst xmlns:a="http://schemas.openxmlformats.org/drawingml/2006/main">
              <a:ext uri="{FF2B5EF4-FFF2-40B4-BE49-F238E27FC236}">
                <a16:creationId xmlns:a16="http://schemas.microsoft.com/office/drawing/2014/main" id="{E7744C43-A0C9-48AD-8D78-2C722D661ED7}"/>
              </a:ext>
            </a:extLst>
          </p:cNvPr>
          <p:cNvSpPr>
            <a:spLocks xmlns:a="http://schemas.openxmlformats.org/drawingml/2006/main" noGrp="1"/>
          </p:cNvSpPr>
          <p:nvPr/>
        </p:nvSpPr>
        <p:spPr>
          <a:xfrm xmlns:a="http://schemas.openxmlformats.org/drawingml/2006/main">
            <a:off x="742950" y="54864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9C5A9"/>
                </a:solidFill>
                <a:latin typeface="Arial"/>
                <a:ea typeface="Arial"/>
                <a:cs typeface="Arial"/>
              </a:defRPr>
            </a:defPPr>
            <a:lvl1pPr algn="l">
              <a:defRPr sz="1500" b="0">
                <a:solidFill>
                  <a:srgbClr val="A9C5A9"/>
                </a:solidFill>
                <a:latin typeface="Arial"/>
                <a:ea typeface="Arial"/>
                <a:cs typeface="Arial"/>
              </a:defRPr>
            </a:lvl1pPr>
            <a:lvl2pPr algn="l">
              <a:defRPr sz="1500" b="0">
                <a:solidFill>
                  <a:srgbClr val="A9C5A9"/>
                </a:solidFill>
                <a:latin typeface="Arial"/>
                <a:ea typeface="Arial"/>
                <a:cs typeface="Arial"/>
              </a:defRPr>
            </a:lvl2pPr>
            <a:lvl3pPr algn="l">
              <a:defRPr sz="1500" b="0">
                <a:solidFill>
                  <a:srgbClr val="A9C5A9"/>
                </a:solidFill>
                <a:latin typeface="Arial"/>
                <a:ea typeface="Arial"/>
                <a:cs typeface="Arial"/>
              </a:defRPr>
            </a:lvl3pPr>
            <a:lvl4pPr algn="l">
              <a:defRPr sz="1500" b="0">
                <a:solidFill>
                  <a:srgbClr val="A9C5A9"/>
                </a:solidFill>
                <a:latin typeface="Arial"/>
                <a:ea typeface="Arial"/>
                <a:cs typeface="Arial"/>
              </a:defRPr>
            </a:lvl4pPr>
            <a:lvl5pPr algn="l">
              <a:defRPr sz="1500" b="0">
                <a:solidFill>
                  <a:srgbClr val="A9C5A9"/>
                </a:solidFill>
                <a:latin typeface="Arial"/>
                <a:ea typeface="Arial"/>
                <a:cs typeface="Arial"/>
              </a:defRPr>
            </a:lvl5pPr>
            <a:lvl6pPr algn="l">
              <a:defRPr sz="1500" b="0">
                <a:solidFill>
                  <a:srgbClr val="A9C5A9"/>
                </a:solidFill>
                <a:latin typeface="Arial"/>
                <a:ea typeface="Arial"/>
                <a:cs typeface="Arial"/>
              </a:defRPr>
            </a:lvl6pPr>
            <a:lvl7pPr algn="l">
              <a:defRPr sz="1500" b="0">
                <a:solidFill>
                  <a:srgbClr val="A9C5A9"/>
                </a:solidFill>
                <a:latin typeface="Arial"/>
                <a:ea typeface="Arial"/>
                <a:cs typeface="Arial"/>
              </a:defRPr>
            </a:lvl7pPr>
            <a:lvl8pPr algn="l">
              <a:defRPr sz="1500" b="0">
                <a:solidFill>
                  <a:srgbClr val="A9C5A9"/>
                </a:solidFill>
                <a:latin typeface="Arial"/>
                <a:ea typeface="Arial"/>
                <a:cs typeface="Arial"/>
              </a:defRPr>
            </a:lvl8pPr>
            <a:lvl9pPr algn="l">
              <a:defRPr sz="1500" b="0">
                <a:solidFill>
                  <a:srgbClr val="A9C5A9"/>
                </a:solidFill>
                <a:latin typeface="Arial"/>
                <a:ea typeface="Arial"/>
                <a:cs typeface="Arial"/>
              </a:defRPr>
            </a:lvl9pPr>
          </a:lstStyle>
          <a:p xmlns:a="http://schemas.openxmlformats.org/drawingml/2006/main">
            <a:pPr algn="l">
              <a:defRPr sz="1500" b="0">
                <a:solidFill>
                  <a:srgbClr val="A9C5A9"/>
                </a:solidFill>
                <a:latin typeface="Arial"/>
                <a:ea typeface="Arial"/>
                <a:cs typeface="Arial"/>
              </a:defRPr>
            </a:pPr>
            <a:r>
              <a:rPr sz="1500" b="0">
                <a:solidFill>
                  <a:srgbClr val="A9C5A9"/>
                </a:solidFill>
                <a:latin typeface="Arial"/>
                <a:ea typeface="Arial"/>
                <a:cs typeface="Arial"/>
              </a:rPr>
              <a:t>Code and evidence</a:t>
            </a:r>
          </a:p>
        </p:txBody>
      </p:sp>
      <p:sp>
        <p:nvSpPr>
          <p:cNvPr id="10" name="Link 3">
            <a:extLst xmlns:a="http://schemas.openxmlformats.org/drawingml/2006/main">
              <a:ext uri="{FF2B5EF4-FFF2-40B4-BE49-F238E27FC236}">
                <a16:creationId xmlns:a16="http://schemas.microsoft.com/office/drawing/2014/main" id="{2A7580FC-0064-4AB8-99EE-5C04696E276D}"/>
              </a:ext>
            </a:extLst>
          </p:cNvPr>
          <p:cNvSpPr>
            <a:spLocks xmlns:a="http://schemas.openxmlformats.org/drawingml/2006/main" noGrp="1"/>
          </p:cNvSpPr>
          <p:nvPr/>
        </p:nvSpPr>
        <p:spPr>
          <a:xfrm xmlns:a="http://schemas.openxmlformats.org/drawingml/2006/main">
            <a:off x="742950" y="57816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0EFD7"/>
                </a:solidFill>
                <a:latin typeface="Arial"/>
                <a:ea typeface="Arial"/>
                <a:cs typeface="Arial"/>
              </a:defRPr>
            </a:defPPr>
            <a:lvl1pPr algn="l">
              <a:defRPr sz="2100" b="0">
                <a:solidFill>
                  <a:srgbClr val="F0EFD7"/>
                </a:solidFill>
                <a:latin typeface="Arial"/>
                <a:ea typeface="Arial"/>
                <a:cs typeface="Arial"/>
              </a:defRPr>
            </a:lvl1pPr>
            <a:lvl2pPr algn="l">
              <a:defRPr sz="2100" b="0">
                <a:solidFill>
                  <a:srgbClr val="F0EFD7"/>
                </a:solidFill>
                <a:latin typeface="Arial"/>
                <a:ea typeface="Arial"/>
                <a:cs typeface="Arial"/>
              </a:defRPr>
            </a:lvl2pPr>
            <a:lvl3pPr algn="l">
              <a:defRPr sz="2100" b="0">
                <a:solidFill>
                  <a:srgbClr val="F0EFD7"/>
                </a:solidFill>
                <a:latin typeface="Arial"/>
                <a:ea typeface="Arial"/>
                <a:cs typeface="Arial"/>
              </a:defRPr>
            </a:lvl3pPr>
            <a:lvl4pPr algn="l">
              <a:defRPr sz="2100" b="0">
                <a:solidFill>
                  <a:srgbClr val="F0EFD7"/>
                </a:solidFill>
                <a:latin typeface="Arial"/>
                <a:ea typeface="Arial"/>
                <a:cs typeface="Arial"/>
              </a:defRPr>
            </a:lvl4pPr>
            <a:lvl5pPr algn="l">
              <a:defRPr sz="2100" b="0">
                <a:solidFill>
                  <a:srgbClr val="F0EFD7"/>
                </a:solidFill>
                <a:latin typeface="Arial"/>
                <a:ea typeface="Arial"/>
                <a:cs typeface="Arial"/>
              </a:defRPr>
            </a:lvl5pPr>
            <a:lvl6pPr algn="l">
              <a:defRPr sz="2100" b="0">
                <a:solidFill>
                  <a:srgbClr val="F0EFD7"/>
                </a:solidFill>
                <a:latin typeface="Arial"/>
                <a:ea typeface="Arial"/>
                <a:cs typeface="Arial"/>
              </a:defRPr>
            </a:lvl6pPr>
            <a:lvl7pPr algn="l">
              <a:defRPr sz="2100" b="0">
                <a:solidFill>
                  <a:srgbClr val="F0EFD7"/>
                </a:solidFill>
                <a:latin typeface="Arial"/>
                <a:ea typeface="Arial"/>
                <a:cs typeface="Arial"/>
              </a:defRPr>
            </a:lvl7pPr>
            <a:lvl8pPr algn="l">
              <a:defRPr sz="2100" b="0">
                <a:solidFill>
                  <a:srgbClr val="F0EFD7"/>
                </a:solidFill>
                <a:latin typeface="Arial"/>
                <a:ea typeface="Arial"/>
                <a:cs typeface="Arial"/>
              </a:defRPr>
            </a:lvl8pPr>
            <a:lvl9pPr algn="l">
              <a:defRPr sz="2100" b="0">
                <a:solidFill>
                  <a:srgbClr val="F0EFD7"/>
                </a:solidFill>
                <a:latin typeface="Arial"/>
                <a:ea typeface="Arial"/>
                <a:cs typeface="Arial"/>
              </a:defRPr>
            </a:lvl9pPr>
          </a:lstStyle>
          <a:p xmlns:a="http://schemas.openxmlformats.org/drawingml/2006/main">
            <a:pPr algn="l">
              <a:defRPr sz="2100" b="0">
                <a:solidFill>
                  <a:srgbClr val="F0EFD7"/>
                </a:solidFill>
                <a:latin typeface="Arial"/>
                <a:ea typeface="Arial"/>
                <a:cs typeface="Arial"/>
              </a:defRPr>
            </a:pPr>
            <a:r>
              <a:rPr sz="2100" b="0">
                <a:solidFill>
                  <a:srgbClr val="F0EFD7"/>
                </a:solidFill>
                <a:latin typeface="Arial"/>
                <a:ea typeface="Arial"/>
                <a:cs typeface="Arial"/>
                <a:hlinkClick xmlns:r="http://schemas.openxmlformats.org/officeDocument/2006/relationships" r:id="Rb7a1c51288a242da"/>
              </a:rPr>
              <a:t>github.com/kongbaigit/meiyu-ai4climate</a:t>
            </a:r>
          </a:p>
        </p:txBody>
      </p:sp>
    </p:spTree>
    <p:extLst>
      <p:ext uri="{BB962C8B-B14F-4D97-AF65-F5344CB8AC3E}">
        <p14:creationId xmlns:p14="http://schemas.microsoft.com/office/powerpoint/2010/main" val="1684294781"/>
      </p:ext>
    </p:extLst>
  </p:cSld>
</p:sld>
</file>

<file path=ppt/theme/theme1.xml><?xml version="1.0" encoding="utf-8"?>
<a:theme xmlns:a="http://schemas.openxmlformats.org/drawingml/2006/main" name="ChatGPT">
  <a:themeElements>
    <a:clrScheme name="Meiyu Prepare">
      <a:dk1>
        <a:srgbClr val="102E2A"/>
      </a:dk1>
      <a:lt1>
        <a:srgbClr val="FFFEF8"/>
      </a:lt1>
      <a:dk2>
        <a:srgbClr val="173E36"/>
      </a:dk2>
      <a:lt2>
        <a:srgbClr val="F0EFD7"/>
      </a:lt2>
      <a:accent1>
        <a:srgbClr val="286C60"/>
      </a:accent1>
      <a:accent2>
        <a:srgbClr val="E8BE78"/>
      </a:accent2>
      <a:accent3>
        <a:srgbClr val="C8E3B3"/>
      </a:accent3>
      <a:accent4>
        <a:srgbClr val="B06945"/>
      </a:accent4>
      <a:accent5>
        <a:srgbClr val="687C6C"/>
      </a:accent5>
      <a:accent6>
        <a:srgbClr val="173E36"/>
      </a:accent6>
      <a:hlink>
        <a:srgbClr val="F0EFD7"/>
      </a:hlink>
      <a:folHlink>
        <a:srgbClr val="C8E3B3"/>
      </a:folHlink>
    </a:clrScheme>
    <a:fontScheme name="">
      <a:majorFont>
        <a:latin typeface="Arial"/>
        <a:ea typeface=""/>
        <a:cs typeface=""/>
      </a:majorFont>
      <a:minorFont>
        <a:latin typeface="Arial"/>
        <a:ea typeface=""/>
        <a:cs typeface=""/>
      </a:minorFont>
    </a:fontScheme>
    <a:fmtScheme name="Meiyu Prepa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2026-10-24T09:23:17.8710000Z</dcterms:created>
  <dcterms:modified xsi:type="dcterms:W3CDTF">2026-10-24T09:23:17.8710000Z</dcterms:modified>
</coreProperties>
</file>