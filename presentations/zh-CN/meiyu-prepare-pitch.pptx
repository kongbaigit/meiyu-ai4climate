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fed9c985ad4ff7" /><Relationship Type="http://schemas.openxmlformats.org/officeDocument/2006/relationships/extended-properties" Target="/docProps/app.xml" Id="Rc03ce002136a4e53" /><Relationship Type="http://schemas.openxmlformats.org/officeDocument/2006/relationships/officeDocument" Target="/ppt/presentation.xml" Id="R7537c4243c8144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70ef2e1244c90"/>
  </p:sldMasterIdLst>
  <p:notesMasterIdLst>
    <p:notesMasterId xmlns:r="http://schemas.openxmlformats.org/officeDocument/2006/relationships" r:id="R8d12acb47ef248d5"/>
  </p:notesMasterIdLst>
  <p:sldIdLst>
    <p:sldId xmlns:r="http://schemas.openxmlformats.org/officeDocument/2006/relationships" id="256" r:id="R57ff432f0862497e"/>
    <p:sldId xmlns:r="http://schemas.openxmlformats.org/officeDocument/2006/relationships" id="257" r:id="Ra55672542de84fa5"/>
    <p:sldId xmlns:r="http://schemas.openxmlformats.org/officeDocument/2006/relationships" id="258" r:id="Rf29c3ed9c0b04337"/>
    <p:sldId xmlns:r="http://schemas.openxmlformats.org/officeDocument/2006/relationships" id="259" r:id="R4dffb814249d4b5f"/>
    <p:sldId xmlns:r="http://schemas.openxmlformats.org/officeDocument/2006/relationships" id="260" r:id="R85dc62b2b34346e3"/>
    <p:sldId xmlns:r="http://schemas.openxmlformats.org/officeDocument/2006/relationships" id="261" r:id="Ra485d4a4490d4f9c"/>
    <p:sldId xmlns:r="http://schemas.openxmlformats.org/officeDocument/2006/relationships" id="262" r:id="R04e5c7a46d97461c"/>
    <p:sldId xmlns:r="http://schemas.openxmlformats.org/officeDocument/2006/relationships" id="263" r:id="R0fca62640bec41bd"/>
    <p:sldId xmlns:r="http://schemas.openxmlformats.org/officeDocument/2006/relationships" id="264" r:id="R613379a9844648d7"/>
    <p:sldId xmlns:r="http://schemas.openxmlformats.org/officeDocument/2006/relationships" id="265" r:id="Rda52de050a6c45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72cd9a5bc44d00" /><Relationship Type="http://schemas.openxmlformats.org/officeDocument/2006/relationships/slideMaster" Target="/ppt/slideMasters/slideMaster1.xml" Id="Re9670ef2e1244c90" /><Relationship Type="http://schemas.openxmlformats.org/officeDocument/2006/relationships/notesMaster" Target="/ppt/notesMasters/notesMaster1.xml" Id="R8d12acb47ef248d5" /><Relationship Type="http://schemas.openxmlformats.org/officeDocument/2006/relationships/presProps" Target="/ppt/presProps.xml" Id="R4ebab30410274517" /><Relationship Type="http://schemas.openxmlformats.org/officeDocument/2006/relationships/tableStyles" Target="/ppt/tableStyles.xml" Id="R4beff1b37c5a4c7a" /><Relationship Type="http://schemas.openxmlformats.org/officeDocument/2006/relationships/slide" Target="/ppt/slides/slide1.xml" Id="R57ff432f0862497e" /><Relationship Type="http://schemas.openxmlformats.org/officeDocument/2006/relationships/slide" Target="/ppt/slides/slide2.xml" Id="Ra55672542de84fa5" /><Relationship Type="http://schemas.openxmlformats.org/officeDocument/2006/relationships/slide" Target="/ppt/slides/slide3.xml" Id="Rf29c3ed9c0b04337" /><Relationship Type="http://schemas.openxmlformats.org/officeDocument/2006/relationships/slide" Target="/ppt/slides/slide4.xml" Id="R4dffb814249d4b5f" /><Relationship Type="http://schemas.openxmlformats.org/officeDocument/2006/relationships/slide" Target="/ppt/slides/slide5.xml" Id="R85dc62b2b34346e3" /><Relationship Type="http://schemas.openxmlformats.org/officeDocument/2006/relationships/slide" Target="/ppt/slides/slide6.xml" Id="Ra485d4a4490d4f9c" /><Relationship Type="http://schemas.openxmlformats.org/officeDocument/2006/relationships/slide" Target="/ppt/slides/slide7.xml" Id="R04e5c7a46d97461c" /><Relationship Type="http://schemas.openxmlformats.org/officeDocument/2006/relationships/slide" Target="/ppt/slides/slide8.xml" Id="R0fca62640bec41bd" /><Relationship Type="http://schemas.openxmlformats.org/officeDocument/2006/relationships/slide" Target="/ppt/slides/slide9.xml" Id="R613379a9844648d7" /><Relationship Type="http://schemas.openxmlformats.org/officeDocument/2006/relationships/slide" Target="/ppt/slides/slide10.xml" Id="Rda52de050a6c45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59f19a4f3f46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梅雨有数">
      <a:dk1>
        <a:srgbClr val="102E2A"/>
      </a:dk1>
      <a:lt1>
        <a:srgbClr val="FFFEF8"/>
      </a:lt1>
      <a:dk2>
        <a:srgbClr val="173E36"/>
      </a:dk2>
      <a:lt2>
        <a:srgbClr val="F0EFD7"/>
      </a:lt2>
      <a:accent1>
        <a:srgbClr val="286C60"/>
      </a:accent1>
      <a:accent2>
        <a:srgbClr val="E8BE78"/>
      </a:accent2>
      <a:accent3>
        <a:srgbClr val="C8E3B3"/>
      </a:accent3>
      <a:accent4>
        <a:srgbClr val="B06945"/>
      </a:accent4>
      <a:accent5>
        <a:srgbClr val="687C6C"/>
      </a:accent5>
      <a:accent6>
        <a:srgbClr val="173E36"/>
      </a:accent6>
      <a:hlink>
        <a:srgbClr val="F0EFD7"/>
      </a:hlink>
      <a:folHlink>
        <a:srgbClr val="C8E3B3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梅雨有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a8d816a5f64274" /><Relationship Type="http://schemas.openxmlformats.org/officeDocument/2006/relationships/notesMaster" Target="/ppt/notesMasters/notesMaster1.xml" Id="R9e1798f53983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fc17ef617a4efd" /><Relationship Type="http://schemas.openxmlformats.org/officeDocument/2006/relationships/notesMaster" Target="/ppt/notesMasters/notesMaster1.xml" Id="Rf5e7f823b49f47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7cb84e7a80480d" /><Relationship Type="http://schemas.openxmlformats.org/officeDocument/2006/relationships/notesMaster" Target="/ppt/notesMasters/notesMaster1.xml" Id="R81c2cd69d30842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e3fa9ade764eff" /><Relationship Type="http://schemas.openxmlformats.org/officeDocument/2006/relationships/notesMaster" Target="/ppt/notesMasters/notesMaster1.xml" Id="Rd23da9268dff4b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5a18b444834b9b" /><Relationship Type="http://schemas.openxmlformats.org/officeDocument/2006/relationships/notesMaster" Target="/ppt/notesMasters/notesMaster1.xml" Id="Rec561ad5df9949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34f61052874c49" /><Relationship Type="http://schemas.openxmlformats.org/officeDocument/2006/relationships/notesMaster" Target="/ppt/notesMasters/notesMaster1.xml" Id="R9cfa3cc3278d44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7878f7839440e8" /><Relationship Type="http://schemas.openxmlformats.org/officeDocument/2006/relationships/notesMaster" Target="/ppt/notesMasters/notesMaster1.xml" Id="Ree887e3d99b04d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b9d90f338d40ba" /><Relationship Type="http://schemas.openxmlformats.org/officeDocument/2006/relationships/notesMaster" Target="/ppt/notesMasters/notesMaster1.xml" Id="R4c34f778fd4e40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86d9e5da784cdb" /><Relationship Type="http://schemas.openxmlformats.org/officeDocument/2006/relationships/notesMaster" Target="/ppt/notesMasters/notesMaster1.xml" Id="R7493cafaa78f42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e28a59394e44bf" /><Relationship Type="http://schemas.openxmlformats.org/officeDocument/2006/relationships/notesMaster" Target="/ppt/notesMasters/notesMaster1.xml" Id="Rd2c5df7beaef47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15 秒</a:t>
            </a:r>
          </a:p>
          <a:p xmlns:a="http://schemas.openxmlformats.org/drawingml/2006/main">
            <a:r>
              <a:t>我们是两名同学。梅雨有数是一个雨前搬货成本计算原型。我们想帮助杭州小商户，把天气参考和自己的准备成本放在一起，比较搬与不搬的预计总成本。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项目事实以本轮任务说明和 project/README.md 为准。</a:t>
            </a:r>
          </a:p>
          <a:p xmlns:a="http://schemas.openxmlformats.org/drawingml/2006/main">
            <a:r>
              <a:t>目标用户及需求尚未经过真实商户访谈验证。</a:t>
            </a:r>
          </a:p>
          <a:p xmlns:a="http://schemas.openxmlformats.org/drawingml/2006/main">
            <a:r>
              <a:t>https://github.com/kongbaigit/meiyu-ai4climate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17 秒</a:t>
            </a:r>
          </a:p>
          <a:p xmlns:a="http://schemas.openxmlformats.org/drawingml/2006/main">
            <a:r>
              <a:t>雨前搬货需要人工和耗材，不搬又可能留下货损。原型围绕这一个具体选择展开。我们目前把商户需求当作待验证假设，先把每次计算需要的条件、来源和边界写清楚。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project/docs/90天验证计划.md：目标用户暂定，招募与需求验证尚未开展。</a:t>
            </a:r>
          </a:p>
          <a:p xmlns:a="http://schemas.openxmlformats.org/drawingml/2006/main">
            <a:r>
              <a:t>project/docs/decision-guide.md：准备成本、条件损失与决策比较口径。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17 秒</a:t>
            </a:r>
          </a:p>
          <a:p xmlns:a="http://schemas.openxmlformats.org/drawingml/2006/main">
            <a:r>
              <a:t>用户先选择位置和未来24小时窗口，再填搬货成本、不搬时的条件平均损失，以及搬后剩余损失。页面比较两笔预计总成本，也显示来源和假设。天气缺成员、缺小时或过期时，计算停止。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project/README.md，2026-10-19 搬货决策版说明。</a:t>
            </a:r>
          </a:p>
          <a:p xmlns:a="http://schemas.openxmlformats.org/drawingml/2006/main">
            <a:r>
              <a:t>project/docs/decision-guide.md：输入、完整度与自动更新边界。</a:t>
            </a:r>
          </a:p>
          <a:p xmlns:a="http://schemas.openxmlformats.org/drawingml/2006/main">
            <a:r>
              <a:t>旅程为原型功能说明，不代表已有商户使用记录。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</a:t>
            </a:r>
          </a:p>
          <a:p xmlns:a="http://schemas.openxmlformats.org/drawingml/2006/main">
            <a:r>
              <a:t>数据的一行是一份预报和参考降水在同一24小时窗口内的配对。北京早上八点到次日八点，对应名义UTC日。配置日历有731天，其中670天有完整参考，最终636天能完整配对。缺小时就排除，不把缺测当无雨。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C:\Users\kongbai\Documents\Codex\2026-10-12\zong\work\promo_stock_music_20261019\source\kinetic_evidence.json</a:t>
            </a:r>
          </a:p>
          <a:p xmlns:a="http://schemas.openxmlformats.org/drawingml/2006/main">
            <a:r>
              <a:t>project/docs/data_dictionary.md：日界、字段、passed含义和覆盖分母。</a:t>
            </a:r>
          </a:p>
          <a:p xmlns:a="http://schemas.openxmlformats.org/drawingml/2006/main">
            <a:r>
              <a:t>731为2024和2025两个完整UTC年。passed仅表示通过本项目规则，并不代表雨量已被独立确认。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https://www.ncei.noaa.gov/products/global-historical-climatology-network-hourly/synoptic-summary-of-the-day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24 秒</a:t>
            </a:r>
          </a:p>
          <a:p xmlns:a="http://schemas.openxmlformats.org/drawingml/2006/main">
            <a:r>
              <a:t>两条流程必须分开。左边是历史离线模型，52.5毫米经对数变换、标准化和逻辑回归，得到67.9%的参考降水事件概率。右边是在线集合快照，51个成员各累计24小时，达到25毫米的有零个，所以占比是零。成员占比还没有本地校准，两者都不能直接称作门店货损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C:\Users\kongbai\Documents\Codex\2026-10-12\zong\work\promo_stock_music_20261019\source\kinetic_evidence.json</a:t>
            </a:r>
          </a:p>
          <a:p xmlns:a="http://schemas.openxmlformats.org/drawingml/2006/main">
            <a:r>
              <a:t>history.model、history.example、history.split_counts。</a:t>
            </a:r>
          </a:p>
          <a:p xmlns:a="http://schemas.openxmlformats.org/drawingml/2006/main">
            <a:r>
              <a:t>weather.capture_label、weather.window_label、weather.matrix_shape、weather.event_members、weather.member_fraction。</a:t>
            </a:r>
          </a:p>
          <a:p xmlns:a="http://schemas.openxmlformats.org/drawingml/2006/main">
            <a:r>
              <a:t>快照获取为2026-10-19 19:22北京时间。在线自动更新机制存在，本页展示固定抓取快照。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21 秒</a:t>
            </a:r>
          </a:p>
          <a:p xmlns:a="http://schemas.openxmlformats.org/drawingml/2006/main">
            <a:r>
              <a:t>接下来只演示决策规则，概率明确假设为60%。事件发生时，不搬平均损失1000元，搬后仍损失100元，搬货本身花80元。不搬预计600元，搬预计140元，差额460元。差额来自假设情景，不能当成商户已经节省的钱。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任务给定演示情景：p=0.6，C=80，L0=1000，L1=100。</a:t>
            </a:r>
          </a:p>
          <a:p xmlns:a="http://schemas.openxmlformats.org/drawingml/2006/main">
            <a:r>
              <a:t>C=人工60+耗材20，仅为示例。</a:t>
            </a:r>
          </a:p>
          <a:p xmlns:a="http://schemas.openxmlformats.org/drawingml/2006/main">
            <a:r>
              <a:t>不搬预计成本=pL0，搬预计成本=C+pL1。本例假设未发生事件时无货损。</a:t>
            </a:r>
          </a:p>
          <a:p xmlns:a="http://schemas.openxmlformats.org/drawingml/2006/main">
            <a:r>
              <a:t>60%为情景输入，不来自本页在线天气或离线历史模型。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17 秒</a:t>
            </a:r>
          </a:p>
          <a:p xmlns:a="http://schemas.openxmlformats.org/drawingml/2006/main">
            <a:r>
              <a:t>同样的天气假设，搬货成本会改变选择。80元时搬更低，540元时同价，600元时搬的预计总成本升到660元，就建议暂不搬。原型保留输入和算式，方便用户检查选择为何变化。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任务给定演示情景。图中不搬总成本恒为600元，搬总成本为C+60元。</a:t>
            </a:r>
          </a:p>
          <a:p xmlns:a="http://schemas.openxmlformats.org/drawingml/2006/main">
            <a:r>
              <a:t>横轴为实际金额距离，使用原生可编辑散点线图。</a:t>
            </a:r>
          </a:p>
          <a:p xmlns:a="http://schemas.openxmlformats.org/drawingml/2006/main">
            <a:r>
              <a:t>临界成本=p(L0-L1)=0.6×(1000-100)=540元。全部为假设情景，非商户实测收益。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</a:t>
            </a:r>
          </a:p>
          <a:p xmlns:a="http://schemas.openxmlformats.org/drawingml/2006/main">
            <a:r>
              <a:t>历史离线模型在同一测试集上的Brier为0.0455，训练事件率基线为0.0697。模型只在验证段选择，测试段保留独立性。但测试只有18个事件，固定10%阈值下仍有6次漏报和9次误报。我们还没有商户避损或碳收益数据。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project/reports/evaluation.json：selected_method=logistic_rain，test split。</a:t>
            </a:r>
          </a:p>
          <a:p xmlns:a="http://schemas.openxmlformats.org/drawingml/2006/main">
            <a:r>
              <a:t>project/docs/演示与答辩事实卡.md：测试Brier 0.0455与0.0697、6漏报9误报。</a:t>
            </a:r>
          </a:p>
          <a:p xmlns:a="http://schemas.openxmlformats.org/drawingml/2006/main">
            <a:r>
              <a:t>Brier越小越好。两项均为相同测试集分数，不把训练基线的来源期误写为计分期。</a:t>
            </a:r>
          </a:p>
          <a:p xmlns:a="http://schemas.openxmlformats.org/drawingml/2006/main">
            <a:r>
              <a:t>误报与漏报为固定10%情景阈值，不是等误报率比较。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19 秒</a:t>
            </a:r>
          </a:p>
          <a:p xmlns:a="http://schemas.openxmlformats.org/drawingml/2006/main">
            <a:r>
              <a:t>未来90天，我们先计划招募五到八位自愿参与者，用固定历史案例测试理解，再影子运行并记录真实预报获取。小样本先看能否完成操作、能否理解关键边界。这个时间段不包含下一轮完整梅雨期，预测表现仍需新一季独立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project/docs/90天验证计划.md，2026-10-19工作副本。</a:t>
            </a:r>
          </a:p>
          <a:p xmlns:a="http://schemas.openxmlformats.org/drawingml/2006/main">
            <a:r>
              <a:t>以团队实际确认的启动日为第1天。第1到12周为阶段安排，90天为总体验证期。</a:t>
            </a:r>
          </a:p>
          <a:p xmlns:a="http://schemas.openxmlformats.org/drawingml/2006/main">
            <a:r>
              <a:t>80%为预先登记的计划阈值，非现有结果。独立操作与核心理解分别计分。</a:t>
            </a:r>
          </a:p>
          <a:p xmlns:a="http://schemas.openxmlformats.org/drawingml/2006/main">
            <a:r>
              <a:t>project/docs/用户测试执行包/：已有执行材料，尚未开展真人测试。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10 秒</a:t>
            </a:r>
          </a:p>
          <a:p xmlns:a="http://schemas.openxmlformats.org/drawingml/2006/main">
            <a:r>
              <a:t>梅雨有数已经是一份可运行原型。欢迎打开演示和代码，检查我们的计算、数据与边界。下一步，我们会把真实用户理解测试作为优先验证。谢谢。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https://kongbaigit.github.io/meiyu-ai4climate/</a:t>
            </a:r>
          </a:p>
          <a:p xmlns:a="http://schemas.openxmlformats.org/drawingml/2006/main">
            <a:r>
              <a:t>https://github.com/kongbaigit/meiyu-ai4climate</a:t>
            </a:r>
          </a:p>
          <a:p xmlns:a="http://schemas.openxmlformats.org/drawingml/2006/main">
            <a:r>
              <a:t>本页仅提供已有公开入口，不声称远端展示的是本轮尚在构建的新版。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e970051fa4c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2ca35079e42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fd366312e49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0f3d167c648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01763014f4a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d4514d04747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10B5A1-2A77-4C40-81D3-01C669263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6F8BC4-AA76-4FAB-A2FF-4932E46111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8160D8-F53D-4B41-93FF-75B2A317A0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5ADD19-5FA9-4262-9213-31311DF32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2A9ADB-1F20-4A52-9462-D19F5ED1BA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D6C20E-5E1B-4952-A795-0C99C4D4A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492D7C-965C-452C-B507-BAA2C9A90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8C4571-38FF-4BDC-BF1B-0113845E23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7F2937-4447-4329-9710-B3A14D553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B0DD5D-D241-4B6F-B08F-F6F7CB8A92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90b99ab5ba4d68" /><Relationship Type="http://schemas.openxmlformats.org/officeDocument/2006/relationships/slideLayout" Target="/ppt/slideLayouts/slideLayout1.xml" Id="Rc2d8de3b5ad74a2a" /><Relationship Type="http://schemas.openxmlformats.org/officeDocument/2006/relationships/slideLayout" Target="/ppt/slideLayouts/slideLayout2.xml" Id="Rc257b484e8044ab4" /><Relationship Type="http://schemas.openxmlformats.org/officeDocument/2006/relationships/slideLayout" Target="/ppt/slideLayouts/slideLayout3.xml" Id="Rda5aac17f9914e0c" /><Relationship Type="http://schemas.openxmlformats.org/officeDocument/2006/relationships/slideLayout" Target="/ppt/slideLayouts/slideLayout4.xml" Id="R6624d32570344a23" /><Relationship Type="http://schemas.openxmlformats.org/officeDocument/2006/relationships/slideLayout" Target="/ppt/slideLayouts/slideLayout5.xml" Id="R62c415e8d053444c" /><Relationship Type="http://schemas.openxmlformats.org/officeDocument/2006/relationships/slideLayout" Target="/ppt/slideLayouts/slideLayout6.xml" Id="R5aed5b88932442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d8de3b5ad74a2a"/>
    <p:sldLayoutId xmlns:r="http://schemas.openxmlformats.org/officeDocument/2006/relationships" id="2147483650" r:id="Rc257b484e8044ab4"/>
    <p:sldLayoutId xmlns:r="http://schemas.openxmlformats.org/officeDocument/2006/relationships" id="2147483651" r:id="Rda5aac17f9914e0c"/>
    <p:sldLayoutId xmlns:r="http://schemas.openxmlformats.org/officeDocument/2006/relationships" id="2147483652" r:id="R6624d32570344a23"/>
    <p:sldLayoutId xmlns:r="http://schemas.openxmlformats.org/officeDocument/2006/relationships" id="2147483653" r:id="R62c415e8d053444c"/>
    <p:sldLayoutId xmlns:r="http://schemas.openxmlformats.org/officeDocument/2006/relationships" id="2147483654" r:id="R5aed5b88932442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梅雨有数">
      <a:dk1>
        <a:srgbClr val="102E2A"/>
      </a:dk1>
      <a:lt1>
        <a:srgbClr val="FFFEF8"/>
      </a:lt1>
      <a:dk2>
        <a:srgbClr val="173E36"/>
      </a:dk2>
      <a:lt2>
        <a:srgbClr val="F0EFD7"/>
      </a:lt2>
      <a:accent1>
        <a:srgbClr val="286C60"/>
      </a:accent1>
      <a:accent2>
        <a:srgbClr val="E8BE78"/>
      </a:accent2>
      <a:accent3>
        <a:srgbClr val="C8E3B3"/>
      </a:accent3>
      <a:accent4>
        <a:srgbClr val="B06945"/>
      </a:accent4>
      <a:accent5>
        <a:srgbClr val="687C6C"/>
      </a:accent5>
      <a:accent6>
        <a:srgbClr val="173E36"/>
      </a:accent6>
      <a:hlink>
        <a:srgbClr val="F0EFD7"/>
      </a:hlink>
      <a:folHlink>
        <a:srgbClr val="C8E3B3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梅雨有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97af65203419a" /><Relationship Type="http://schemas.openxmlformats.org/officeDocument/2006/relationships/notesSlide" Target="/ppt/notesSlides/notesSlide1.xml" Id="Rd080319f38f547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723386d38475f" /><Relationship Type="http://schemas.openxmlformats.org/officeDocument/2006/relationships/notesSlide" Target="/ppt/notesSlides/notesSlide2.xml" Id="R532235c987784c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61dabe78a4110" /><Relationship Type="http://schemas.openxmlformats.org/officeDocument/2006/relationships/notesSlide" Target="/ppt/notesSlides/notesSlide3.xml" Id="R55153b40f8d245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424b0510a40ae" /><Relationship Type="http://schemas.openxmlformats.org/officeDocument/2006/relationships/notesSlide" Target="/ppt/notesSlides/notesSlide4.xml" Id="R6ebe5ec3d87d44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9594e75404978" /><Relationship Type="http://schemas.openxmlformats.org/officeDocument/2006/relationships/notesSlide" Target="/ppt/notesSlides/notesSlide5.xml" Id="R4c42d4492aee40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36df857cd4855" /><Relationship Type="http://schemas.openxmlformats.org/officeDocument/2006/relationships/notesSlide" Target="/ppt/notesSlides/notesSlide6.xml" Id="Rd7bb539ae8ce4d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1c3edcb4f4f2b" /><Relationship Type="http://schemas.openxmlformats.org/officeDocument/2006/relationships/chart" Target="/ppt/slides/charts/chart1.xml" Id="Rfb57cfa0bed64ef1" /><Relationship Type="http://schemas.openxmlformats.org/officeDocument/2006/relationships/notesSlide" Target="/ppt/notesSlides/notesSlide7.xml" Id="Rce84e809de3f4d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cfcb96a984f6b" /><Relationship Type="http://schemas.openxmlformats.org/officeDocument/2006/relationships/chart" Target="/ppt/slides/charts/chart2.xml" Id="R4643ddb3130e4239" /><Relationship Type="http://schemas.openxmlformats.org/officeDocument/2006/relationships/notesSlide" Target="/ppt/notesSlides/notesSlide8.xml" Id="R723e377a3a5b49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a502f10214b00" /><Relationship Type="http://schemas.openxmlformats.org/officeDocument/2006/relationships/notesSlide" Target="/ppt/notesSlides/notesSlide9.xml" Id="R8cb4cf389e2c4c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5567bbf3f14fe6" /><Relationship Type="http://schemas.openxmlformats.org/officeDocument/2006/relationships/hyperlink" Target="https://kongbaigit.github.io/meiyu-ai4climate/" TargetMode="External" Id="Rca09483d86f04c84" /><Relationship Type="http://schemas.openxmlformats.org/officeDocument/2006/relationships/hyperlink" Target="https://github.com/kongbaigit/meiyu-ai4climate" TargetMode="External" Id="R41d9b689aee74f2d" /><Relationship Type="http://schemas.openxmlformats.org/officeDocument/2006/relationships/notesSlide" Target="/ppt/notesSlides/notesSlide10.xml" Id="R23eb9b9ca4a948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不搬</c:v>
          </c:tx>
          <c:spPr>
            <a:ln xmlns:a="http://schemas.openxmlformats.org/drawingml/2006/main" w="28575">
              <a:solidFill>
                <a:srgbClr val="687C6C"/>
              </a:solidFill>
            </a:ln>
          </c:spPr>
          <c:marker>
            <c:symbol val="none"/>
            <c:size val="2"/>
            <c:spPr>
              <a:solidFill xmlns:a="http://schemas.openxmlformats.org/drawingml/2006/main">
                <a:srgbClr val="687C6C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80</c:v>
                </c:pt>
                <c:pt idx="2">
                  <c:v>200</c:v>
                </c:pt>
                <c:pt idx="3">
                  <c:v>400</c:v>
                </c:pt>
                <c:pt idx="4">
                  <c:v>540</c:v>
                </c:pt>
                <c:pt idx="5">
                  <c:v>600</c:v>
                </c:pt>
              </c:numCache>
            </c:numRef>
          </c:xVal>
          <c:yVal>
            <c:numRef>
              <c:f>'Chart Data'!$B$2:$B$7</c:f>
              <c:numCache>
                <c:formatCode>0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yVal>
        </c:ser>
        <c:ser>
          <c:idx val="1"/>
          <c:order val="1"/>
          <c:tx>
            <c:v>搬</c:v>
          </c:tx>
          <c:spPr>
            <a:ln xmlns:a="http://schemas.openxmlformats.org/drawingml/2006/main" w="38100">
              <a:solidFill>
                <a:srgbClr val="286C6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86C60"/>
              </a:solidFill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80</c:v>
                </c:pt>
                <c:pt idx="2">
                  <c:v>200</c:v>
                </c:pt>
                <c:pt idx="3">
                  <c:v>400</c:v>
                </c:pt>
                <c:pt idx="4">
                  <c:v>540</c:v>
                </c:pt>
                <c:pt idx="5">
                  <c:v>600</c:v>
                </c:pt>
              </c:numCache>
            </c:numRef>
          </c:xVal>
          <c:yVal>
            <c:numRef>
              <c:f>'Chart Data'!$D$2:$D$7</c:f>
              <c:numCache>
                <c:formatCode>0</c:formatCode>
                <c:ptCount val="6"/>
                <c:pt idx="0">
                  <c:v>60</c:v>
                </c:pt>
                <c:pt idx="1">
                  <c:v>140</c:v>
                </c:pt>
                <c:pt idx="2">
                  <c:v>260</c:v>
                </c:pt>
                <c:pt idx="3">
                  <c:v>460</c:v>
                </c:pt>
                <c:pt idx="4">
                  <c:v>600</c:v>
                </c:pt>
                <c:pt idx="5">
                  <c:v>660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FC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预计总成本 / 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200"/>
      </c:valAx>
      <c:valAx>
        <c:axId val="48650112"/>
        <c:scaling>
          <c:orientation val="minMax"/>
          <c:max val="6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搬货成本 C / 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6DF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00"/>
      </c:valAx>
      <c:spPr>
        <a:solidFill xmlns:a="http://schemas.openxmlformats.org/drawingml/2006/main">
          <a:srgbClr val="F3F2E9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3E36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3F2E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测试Brier</c:v>
          </c:tx>
          <c:spPr>
            <a:solidFill xmlns:a="http://schemas.openxmlformats.org/drawingml/2006/main">
              <a:srgbClr val="286C6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86C6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4AC8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降水逻辑回归</c:v>
                </c:pt>
                <c:pt idx="1">
                  <c:v>训练事件率基线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0.0455</c:v>
                </c:pt>
                <c:pt idx="1">
                  <c:v>0.0697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73E3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FCF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6DF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3F2E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3F2E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页码-1">
            <a:extLst xmlns:a="http://schemas.openxmlformats.org/drawingml/2006/main">
              <a:ext uri="{FF2B5EF4-FFF2-40B4-BE49-F238E27FC236}">
                <a16:creationId xmlns:a16="http://schemas.microsoft.com/office/drawing/2014/main" id="{75854413-BD81-41C8-98A3-FEEA15D1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赛事">
            <a:extLst xmlns:a="http://schemas.openxmlformats.org/drawingml/2006/main">
              <a:ext uri="{FF2B5EF4-FFF2-40B4-BE49-F238E27FC236}">
                <a16:creationId xmlns:a16="http://schemas.microsoft.com/office/drawing/2014/main" id="{4DD289BA-2C4A-4326-B23A-982F6099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AI for Climate 全球青年气候解决方案挑战赛</a:t>
            </a:r>
          </a:p>
        </p:txBody>
      </p:sp>
      <p:sp>
        <p:nvSpPr>
          <p:cNvPr id="3" name="封面项目名">
            <a:extLst xmlns:a="http://schemas.openxmlformats.org/drawingml/2006/main">
              <a:ext uri="{FF2B5EF4-FFF2-40B4-BE49-F238E27FC236}">
                <a16:creationId xmlns:a16="http://schemas.microsoft.com/office/drawing/2014/main" id="{E567AC8D-60A6-419D-BA9A-98DB84D0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梅雨有数</a:t>
            </a:r>
          </a:p>
        </p:txBody>
      </p:sp>
      <p:sp>
        <p:nvSpPr>
          <p:cNvPr id="4" name="封面说明">
            <a:extLst xmlns:a="http://schemas.openxmlformats.org/drawingml/2006/main">
              <a:ext uri="{FF2B5EF4-FFF2-40B4-BE49-F238E27FC236}">
                <a16:creationId xmlns:a16="http://schemas.microsoft.com/office/drawing/2014/main" id="{7A12F463-2E98-41E4-820C-663FF16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rPr>
              <a:t>雨前搬货成本计算</a:t>
            </a:r>
          </a:p>
        </p:txBody>
      </p:sp>
      <p:sp>
        <p:nvSpPr>
          <p:cNvPr id="5" name="封面一句话">
            <a:extLst xmlns:a="http://schemas.openxmlformats.org/drawingml/2006/main">
              <a:ext uri="{FF2B5EF4-FFF2-40B4-BE49-F238E27FC236}">
                <a16:creationId xmlns:a16="http://schemas.microsoft.com/office/drawing/2014/main" id="{4DA38E7B-E462-42B4-AF64-EA597263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672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把天气参考与搬货成本放在一起，</a:t>
            </a:r>
          </a:p>
          <a:p xmlns:a="http://schemas.openxmlformats.org/drawingml/2006/main">
            <a: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帮助小商户比较搬与不搬的预计总成本。</a:t>
            </a:r>
          </a:p>
        </p:txBody>
      </p:sp>
      <p:sp>
        <p:nvSpPr>
          <p:cNvPr id="6" name="封面分隔">
            <a:extLst xmlns:a="http://schemas.openxmlformats.org/drawingml/2006/main">
              <a:ext uri="{FF2B5EF4-FFF2-40B4-BE49-F238E27FC236}">
                <a16:creationId xmlns:a16="http://schemas.microsoft.com/office/drawing/2014/main" id="{D6A3C051-B5ED-4568-B133-C1B60390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150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4A"/>
            </a:solidFill>
            <a:prstDash val="solid"/>
          </a:ln>
        </p:spPr>
      </p:sp>
      <p:sp>
        <p:nvSpPr>
          <p:cNvPr id="7" name="团队与状态">
            <a:extLst xmlns:a="http://schemas.openxmlformats.org/drawingml/2006/main">
              <a:ext uri="{FF2B5EF4-FFF2-40B4-BE49-F238E27FC236}">
                <a16:creationId xmlns:a16="http://schemas.microsoft.com/office/drawing/2014/main" id="{AC8BC51E-6585-4224-898E-723EE5F5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14362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两名同学开发的可运行原型，商户验证待开展</a:t>
            </a:r>
          </a:p>
        </p:txBody>
      </p:sp>
    </p:spTree>
    <p:extLst>
      <p:ext uri="{BB962C8B-B14F-4D97-AF65-F5344CB8AC3E}">
        <p14:creationId xmlns:p14="http://schemas.microsoft.com/office/powerpoint/2010/main" val="204380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-2">
            <a:extLst xmlns:a="http://schemas.openxmlformats.org/drawingml/2006/main">
              <a:ext uri="{FF2B5EF4-FFF2-40B4-BE49-F238E27FC236}">
                <a16:creationId xmlns:a16="http://schemas.microsoft.com/office/drawing/2014/main" id="{5C235F12-A703-448D-B30E-E33CA92D647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雨前，这批货搬不搬</a:t>
            </a:r>
          </a:p>
        </p:txBody>
      </p:sp>
      <p:sp>
        <p:nvSpPr>
          <p:cNvPr id="2" name="页码-2">
            <a:extLst xmlns:a="http://schemas.openxmlformats.org/drawingml/2006/main">
              <a:ext uri="{FF2B5EF4-FFF2-40B4-BE49-F238E27FC236}">
                <a16:creationId xmlns:a16="http://schemas.microsoft.com/office/drawing/2014/main" id="{C9386C51-E086-4D83-886E-F3FDE646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目标用户">
            <a:extLst xmlns:a="http://schemas.openxmlformats.org/drawingml/2006/main">
              <a:ext uri="{FF2B5EF4-FFF2-40B4-BE49-F238E27FC236}">
                <a16:creationId xmlns:a16="http://schemas.microsoft.com/office/drawing/2014/main" id="{B9B945BD-BC04-4513-821F-1353D00C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目标用户是杭州需要防潮备汛的小商户</a:t>
            </a:r>
          </a:p>
        </p:txBody>
      </p:sp>
      <p:sp>
        <p:nvSpPr>
          <p:cNvPr id="4" name="现在搬">
            <a:extLst xmlns:a="http://schemas.openxmlformats.org/drawingml/2006/main">
              <a:ext uri="{FF2B5EF4-FFF2-40B4-BE49-F238E27FC236}">
                <a16:creationId xmlns:a16="http://schemas.microsoft.com/office/drawing/2014/main" id="{8660552E-BC5C-467D-963C-5791BCC0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现在搬</a:t>
            </a:r>
          </a:p>
        </p:txBody>
      </p:sp>
      <p:sp>
        <p:nvSpPr>
          <p:cNvPr id="5" name="暂时不搬">
            <a:extLst xmlns:a="http://schemas.openxmlformats.org/drawingml/2006/main">
              <a:ext uri="{FF2B5EF4-FFF2-40B4-BE49-F238E27FC236}">
                <a16:creationId xmlns:a16="http://schemas.microsoft.com/office/drawing/2014/main" id="{DB4A7723-559A-44D2-BDFE-E07E2CE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暂时不搬</a:t>
            </a:r>
          </a:p>
        </p:txBody>
      </p:sp>
      <p:sp>
        <p:nvSpPr>
          <p:cNvPr id="6" name="搬下划线">
            <a:extLst xmlns:a="http://schemas.openxmlformats.org/drawingml/2006/main">
              <a:ext uri="{FF2B5EF4-FFF2-40B4-BE49-F238E27FC236}">
                <a16:creationId xmlns:a16="http://schemas.microsoft.com/office/drawing/2014/main" id="{1ABE94FA-0F19-4B4A-94D5-058D335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444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6C60"/>
            </a:solidFill>
            <a:prstDash val="solid"/>
          </a:ln>
        </p:spPr>
      </p:sp>
      <p:sp>
        <p:nvSpPr>
          <p:cNvPr id="7" name="不搬下划线">
            <a:extLst xmlns:a="http://schemas.openxmlformats.org/drawingml/2006/main">
              <a:ext uri="{FF2B5EF4-FFF2-40B4-BE49-F238E27FC236}">
                <a16:creationId xmlns:a16="http://schemas.microsoft.com/office/drawing/2014/main" id="{23DE145E-B824-4024-9B18-8AEEAEFD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444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06945"/>
            </a:solidFill>
            <a:prstDash val="solid"/>
          </a:ln>
        </p:spPr>
      </p:sp>
      <p:sp>
        <p:nvSpPr>
          <p:cNvPr id="8" name="搬成本">
            <a:extLst xmlns:a="http://schemas.openxmlformats.org/drawingml/2006/main">
              <a:ext uri="{FF2B5EF4-FFF2-40B4-BE49-F238E27FC236}">
                <a16:creationId xmlns:a16="http://schemas.microsoft.com/office/drawing/2014/main" id="{3DD8F716-E008-4A2B-88A4-D4A5C18C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47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花人工和耗材，</a:t>
            </a:r>
          </a:p>
          <a:p xmlns:a="http://schemas.openxmlformats.org/drawingml/2006/main">
            <a: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减少事件发生时的货损。</a:t>
            </a:r>
          </a:p>
        </p:txBody>
      </p:sp>
      <p:sp>
        <p:nvSpPr>
          <p:cNvPr id="9" name="不搬成本">
            <a:extLst xmlns:a="http://schemas.openxmlformats.org/drawingml/2006/main">
              <a:ext uri="{FF2B5EF4-FFF2-40B4-BE49-F238E27FC236}">
                <a16:creationId xmlns:a16="http://schemas.microsoft.com/office/drawing/2014/main" id="{DB06269D-5B8C-4CCB-903A-002E0E32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38575"/>
            <a:ext cx="45339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省下眼前的搬货成本，</a:t>
            </a:r>
          </a:p>
          <a:p xmlns:a="http://schemas.openxmlformats.org/drawingml/2006/main">
            <a:pPr algn="l"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保留货物暴露。</a:t>
            </a:r>
          </a:p>
        </p:txBody>
      </p:sp>
      <p:sp>
        <p:nvSpPr>
          <p:cNvPr id="10" name="问题收束">
            <a:extLst xmlns:a="http://schemas.openxmlformats.org/drawingml/2006/main">
              <a:ext uri="{FF2B5EF4-FFF2-40B4-BE49-F238E27FC236}">
                <a16:creationId xmlns:a16="http://schemas.microsoft.com/office/drawing/2014/main" id="{1AD7CEF0-9D33-414D-93EF-0BFC102C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天气有不确定性，准备也有成本。</a:t>
            </a:r>
          </a:p>
          <a:p xmlns:a="http://schemas.openxmlformats.org/drawingml/2006/main">
            <a:pPr algn="l">
              <a:def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原型先把这次选择的假设和计算写清楚。</a:t>
            </a:r>
          </a:p>
        </p:txBody>
      </p:sp>
    </p:spTree>
    <p:extLst>
      <p:ext uri="{BB962C8B-B14F-4D97-AF65-F5344CB8AC3E}">
        <p14:creationId xmlns:p14="http://schemas.microsoft.com/office/powerpoint/2010/main" val="866866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标题-3">
            <a:extLst xmlns:a="http://schemas.openxmlformats.org/drawingml/2006/main">
              <a:ext uri="{FF2B5EF4-FFF2-40B4-BE49-F238E27FC236}">
                <a16:creationId xmlns:a16="http://schemas.microsoft.com/office/drawing/2014/main" id="{8F5CDCCF-3F05-4E5D-9355-4E43A33C085C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一次使用，比较同一窗口里的两笔钱</a:t>
            </a:r>
          </a:p>
        </p:txBody>
      </p:sp>
      <p:sp>
        <p:nvSpPr>
          <p:cNvPr id="2" name="页码-3">
            <a:extLst xmlns:a="http://schemas.openxmlformats.org/drawingml/2006/main">
              <a:ext uri="{FF2B5EF4-FFF2-40B4-BE49-F238E27FC236}">
                <a16:creationId xmlns:a16="http://schemas.microsoft.com/office/drawing/2014/main" id="{65664DB1-5842-421C-883C-A3668EE1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旅程说明">
            <a:extLst xmlns:a="http://schemas.openxmlformats.org/drawingml/2006/main">
              <a:ext uri="{FF2B5EF4-FFF2-40B4-BE49-F238E27FC236}">
                <a16:creationId xmlns:a16="http://schemas.microsoft.com/office/drawing/2014/main" id="{C262A987-3267-4A91-8A4F-66DA8CC0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先确认天气窗口，再填写自己的成本假设</a:t>
            </a:r>
          </a:p>
        </p:txBody>
      </p:sp>
      <p:sp>
        <p:nvSpPr>
          <p:cNvPr id="4" name="步骤号-0">
            <a:extLst xmlns:a="http://schemas.openxmlformats.org/drawingml/2006/main">
              <a:ext uri="{FF2B5EF4-FFF2-40B4-BE49-F238E27FC236}">
                <a16:creationId xmlns:a16="http://schemas.microsoft.com/office/drawing/2014/main" id="{58852093-0BB5-456D-A506-D0C66725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步骤标题-0">
            <a:extLst xmlns:a="http://schemas.openxmlformats.org/drawingml/2006/main">
              <a:ext uri="{FF2B5EF4-FFF2-40B4-BE49-F238E27FC236}">
                <a16:creationId xmlns:a16="http://schemas.microsoft.com/office/drawing/2014/main" id="{35A58833-A234-4D2C-B7D5-FF6A9C82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选天气窗口</a:t>
            </a:r>
          </a:p>
        </p:txBody>
      </p:sp>
      <p:sp>
        <p:nvSpPr>
          <p:cNvPr id="6" name="步骤线-0">
            <a:extLst xmlns:a="http://schemas.openxmlformats.org/drawingml/2006/main">
              <a:ext uri="{FF2B5EF4-FFF2-40B4-BE49-F238E27FC236}">
                <a16:creationId xmlns:a16="http://schemas.microsoft.com/office/drawing/2014/main" id="{2ED53F32-22CB-4BA1-B030-B387CAF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FCF"/>
            </a:solidFill>
            <a:prstDash val="solid"/>
          </a:ln>
        </p:spPr>
      </p:sp>
      <p:sp>
        <p:nvSpPr>
          <p:cNvPr id="7" name="步骤说明-0">
            <a:extLst xmlns:a="http://schemas.openxmlformats.org/drawingml/2006/main">
              <a:ext uri="{FF2B5EF4-FFF2-40B4-BE49-F238E27FC236}">
                <a16:creationId xmlns:a16="http://schemas.microsoft.com/office/drawing/2014/main" id="{8A4A8652-D01E-48BE-AF11-09A1946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位置与未来24小时</a:t>
            </a:r>
          </a:p>
          <a:p xmlns:a="http://schemas.openxmlformats.org/drawingml/2006/main">
            <a: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查看获取时刻和完整度</a:t>
            </a:r>
          </a:p>
        </p:txBody>
      </p:sp>
      <p:sp>
        <p:nvSpPr>
          <p:cNvPr id="8" name="步骤号-1">
            <a:extLst xmlns:a="http://schemas.openxmlformats.org/drawingml/2006/main">
              <a:ext uri="{FF2B5EF4-FFF2-40B4-BE49-F238E27FC236}">
                <a16:creationId xmlns:a16="http://schemas.microsoft.com/office/drawing/2014/main" id="{0F32AAA9-3DC9-4BF6-8B55-4892276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步骤标题-1">
            <a:extLst xmlns:a="http://schemas.openxmlformats.org/drawingml/2006/main">
              <a:ext uri="{FF2B5EF4-FFF2-40B4-BE49-F238E27FC236}">
                <a16:creationId xmlns:a16="http://schemas.microsoft.com/office/drawing/2014/main" id="{F623C125-0708-4FE6-AF0B-A3ED7CB9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0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填三笔金额</a:t>
            </a:r>
          </a:p>
        </p:txBody>
      </p:sp>
      <p:sp>
        <p:nvSpPr>
          <p:cNvPr id="10" name="步骤线-1">
            <a:extLst xmlns:a="http://schemas.openxmlformats.org/drawingml/2006/main">
              <a:ext uri="{FF2B5EF4-FFF2-40B4-BE49-F238E27FC236}">
                <a16:creationId xmlns:a16="http://schemas.microsoft.com/office/drawing/2014/main" id="{5D3D8E38-946A-42D7-A673-60DE37D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862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FCF"/>
            </a:solidFill>
            <a:prstDash val="solid"/>
          </a:ln>
        </p:spPr>
      </p:sp>
      <p:sp>
        <p:nvSpPr>
          <p:cNvPr id="11" name="步骤说明-1">
            <a:extLst xmlns:a="http://schemas.openxmlformats.org/drawingml/2006/main">
              <a:ext uri="{FF2B5EF4-FFF2-40B4-BE49-F238E27FC236}">
                <a16:creationId xmlns:a16="http://schemas.microsoft.com/office/drawing/2014/main" id="{8848DD7B-31FC-44DB-AF3E-63560710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71950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搬货成本 C</a:t>
            </a:r>
          </a:p>
          <a:p xmlns:a="http://schemas.openxmlformats.org/drawingml/2006/main">
            <a: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不搬损失 L₀、搬后损失 L₁</a:t>
            </a:r>
          </a:p>
        </p:txBody>
      </p:sp>
      <p:sp>
        <p:nvSpPr>
          <p:cNvPr id="12" name="步骤号-2">
            <a:extLst xmlns:a="http://schemas.openxmlformats.org/drawingml/2006/main">
              <a:ext uri="{FF2B5EF4-FFF2-40B4-BE49-F238E27FC236}">
                <a16:creationId xmlns:a16="http://schemas.microsoft.com/office/drawing/2014/main" id="{186F0A08-FB56-4A67-B0C6-53D7F2FB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步骤标题-2">
            <a:extLst xmlns:a="http://schemas.openxmlformats.org/drawingml/2006/main">
              <a:ext uri="{FF2B5EF4-FFF2-40B4-BE49-F238E27FC236}">
                <a16:creationId xmlns:a16="http://schemas.microsoft.com/office/drawing/2014/main" id="{25264451-3FBA-4C36-A6C8-23943B89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00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看成本比较</a:t>
            </a:r>
          </a:p>
        </p:txBody>
      </p:sp>
      <p:sp>
        <p:nvSpPr>
          <p:cNvPr id="14" name="步骤线-2">
            <a:extLst xmlns:a="http://schemas.openxmlformats.org/drawingml/2006/main">
              <a:ext uri="{FF2B5EF4-FFF2-40B4-BE49-F238E27FC236}">
                <a16:creationId xmlns:a16="http://schemas.microsoft.com/office/drawing/2014/main" id="{24446A29-85F1-482C-9910-05721920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862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FCF"/>
            </a:solidFill>
            <a:prstDash val="solid"/>
          </a:ln>
        </p:spPr>
      </p:sp>
      <p:sp>
        <p:nvSpPr>
          <p:cNvPr id="15" name="步骤说明-2">
            <a:extLst xmlns:a="http://schemas.openxmlformats.org/drawingml/2006/main">
              <a:ext uri="{FF2B5EF4-FFF2-40B4-BE49-F238E27FC236}">
                <a16:creationId xmlns:a16="http://schemas.microsoft.com/office/drawing/2014/main" id="{09AD7BB1-10BE-4F56-833E-7E86995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171950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搬与不搬的预计总成本</a:t>
            </a:r>
          </a:p>
          <a:p xmlns:a="http://schemas.openxmlformats.org/drawingml/2006/main">
            <a:pPr algn="l"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同时保留来源和假设</a:t>
            </a:r>
          </a:p>
        </p:txBody>
      </p:sp>
      <p:cxnSp>
        <p:nvCxnSpPr>
          <p:cNvPr id="16" name="步骤连接1">
            <a:extLst xmlns:a="http://schemas.openxmlformats.org/drawingml/2006/main">
              <a:ext uri="{FF2B5EF4-FFF2-40B4-BE49-F238E27FC236}">
                <a16:creationId xmlns:a16="http://schemas.microsoft.com/office/drawing/2014/main" id="{1523C235-FBB7-4970-A489-0E55801A03A9}"/>
              </a:ext>
            </a:extLst>
          </p:cNvPr>
          <p:cNvCxnSpPr/>
          <p:nvPr/>
        </p:nvCxnSpPr>
        <p:spPr>
          <a:xfrm xmlns:a="http://schemas.openxmlformats.org/drawingml/2006/main">
            <a:off x="3790950" y="34766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6C60"/>
            </a:solidFill>
            <a:tailEnd type="triangle" w="sm" len="sm"/>
          </a:ln>
        </p:spPr>
      </p:cxnSp>
      <p:cxnSp>
        <p:nvCxnSpPr>
          <p:cNvPr id="17" name="步骤连接2">
            <a:extLst xmlns:a="http://schemas.openxmlformats.org/drawingml/2006/main">
              <a:ext uri="{FF2B5EF4-FFF2-40B4-BE49-F238E27FC236}">
                <a16:creationId xmlns:a16="http://schemas.microsoft.com/office/drawing/2014/main" id="{AC93FBE9-2BA5-4780-B6FD-23625F8D05E3}"/>
              </a:ext>
            </a:extLst>
          </p:cNvPr>
          <p:cNvCxnSpPr/>
          <p:nvPr/>
        </p:nvCxnSpPr>
        <p:spPr>
          <a:xfrm xmlns:a="http://schemas.openxmlformats.org/drawingml/2006/main">
            <a:off x="7667625" y="347662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6C60"/>
            </a:solidFill>
            <a:tailEnd type="triangle" w="sm" len="sm"/>
          </a:ln>
        </p:spPr>
      </p:cxnSp>
      <p:sp>
        <p:nvSpPr>
          <p:cNvPr id="18" name="旅程边界">
            <a:extLst xmlns:a="http://schemas.openxmlformats.org/drawingml/2006/main">
              <a:ext uri="{FF2B5EF4-FFF2-40B4-BE49-F238E27FC236}">
                <a16:creationId xmlns:a16="http://schemas.microsoft.com/office/drawing/2014/main" id="{3CC9FF47-31FB-4417-A17A-08737D02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天气缺成员、缺小时或超过有效期时，停止当前天气结论。</a:t>
            </a:r>
          </a:p>
        </p:txBody>
      </p:sp>
    </p:spTree>
    <p:extLst>
      <p:ext uri="{BB962C8B-B14F-4D97-AF65-F5344CB8AC3E}">
        <p14:creationId xmlns:p14="http://schemas.microsoft.com/office/powerpoint/2010/main" val="679340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题-4">
            <a:extLst xmlns:a="http://schemas.openxmlformats.org/drawingml/2006/main">
              <a:ext uri="{FF2B5EF4-FFF2-40B4-BE49-F238E27FC236}">
                <a16:creationId xmlns:a16="http://schemas.microsoft.com/office/drawing/2014/main" id="{FCB896CD-8E44-4C1D-B6DF-1B2820B36A8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一行数据，对齐一个24小时窗口</a:t>
            </a:r>
          </a:p>
        </p:txBody>
      </p:sp>
      <p:sp>
        <p:nvSpPr>
          <p:cNvPr id="2" name="页码-4">
            <a:extLst xmlns:a="http://schemas.openxmlformats.org/drawingml/2006/main">
              <a:ext uri="{FF2B5EF4-FFF2-40B4-BE49-F238E27FC236}">
                <a16:creationId xmlns:a16="http://schemas.microsoft.com/office/drawing/2014/main" id="{9E063DCB-FADF-44A8-B085-6FEE3DA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数据来源">
            <a:extLst xmlns:a="http://schemas.openxmlformats.org/drawingml/2006/main">
              <a:ext uri="{FF2B5EF4-FFF2-40B4-BE49-F238E27FC236}">
                <a16:creationId xmlns:a16="http://schemas.microsoft.com/office/drawing/2014/main" id="{C4DF2DE0-1608-4560-84AC-9B4100C9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ECMWF固定提前量预报，与萧山机场SSOD参考配对</a:t>
            </a:r>
          </a:p>
        </p:txBody>
      </p:sp>
      <p:graphicFrame>
        <p:nvGraphicFramePr>
          <p:cNvPr id="4" name="历史样本示例">
            <a:extLst xmlns:a="http://schemas.openxmlformats.org/drawingml/2006/main">
              <a:ext uri="{FF2B5EF4-FFF2-40B4-BE49-F238E27FC236}">
                <a16:creationId xmlns:a16="http://schemas.microsoft.com/office/drawing/2014/main" id="{CE28B62C-03DE-4922-BFF0-5E1EBAAB90AB}"/>
              </a:ext>
            </a:extLst>
          </p:cNvPr>
          <p:cNvGraphicFramePr/>
          <p:nvPr/>
        </p:nvGraphicFramePr>
        <p:xfrm>
          <a:off xmlns:a="http://schemas.openxmlformats.org/drawingml/2006/main" x="714375" y="2276475"/>
          <a:ext xmlns:a="http://schemas.openxmlformats.org/drawingml/2006/main" cx="10763250" cy="156210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0"/>
              <a:tblGrid>
                <a:gridCol w="4191000"/>
                <a:gridCol w="2238375"/>
                <a:gridCol w="2238375"/>
                <a:gridCol w="2095500"/>
              </a:tblGrid>
              <a:tr h="571500">
                <a:tc>
                  <a:txBody>
                    <a:bodyPr lIns="133350" tIns="133350" rIns="133350" bIns="133350"/>
                    <a:lstStyle/>
                    <a:p>
                      <a:pPr algn="l"/>
                      <a:r>
                        <a:rPr sz="1725" b="1">
                          <a:solidFill>
                            <a:srgbClr val="FFFE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北京时间日窗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FCF"/>
                      </a:solidFill>
                      <a:prstDash val="solid"/>
                    </a:lnL>
                    <a:lnR w="9525">
                      <a:solidFill>
                        <a:srgbClr val="D6DFCF"/>
                      </a:solidFill>
                      <a:prstDash val="solid"/>
                    </a:lnR>
                    <a:lnT w="9525">
                      <a:solidFill>
                        <a:srgbClr val="D6DFCF"/>
                      </a:solidFill>
                      <a:prstDash val="solid"/>
                    </a:lnT>
                    <a:lnB w="9525">
                      <a:solidFill>
                        <a:srgbClr val="D6DFCF"/>
                      </a:solidFill>
                      <a:prstDash val="solid"/>
                    </a:lnB>
                    <a:solidFill>
                      <a:srgbClr val="286C6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l"/>
                      <a:r>
                        <a:rPr sz="1725" b="1">
                          <a:solidFill>
                            <a:srgbClr val="FFFE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预报雨量 /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FCF"/>
                      </a:solidFill>
                      <a:prstDash val="solid"/>
                    </a:lnR>
                    <a:lnT w="9525">
                      <a:solidFill>
                        <a:srgbClr val="D6DFCF"/>
                      </a:solidFill>
                      <a:prstDash val="solid"/>
                    </a:lnT>
                    <a:lnB w="9525">
                      <a:solidFill>
                        <a:srgbClr val="D6DFCF"/>
                      </a:solidFill>
                      <a:prstDash val="solid"/>
                    </a:lnB>
                    <a:solidFill>
                      <a:srgbClr val="286C6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l"/>
                      <a:r>
                        <a:rPr sz="1725" b="1">
                          <a:solidFill>
                            <a:srgbClr val="FFFE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参考雨量 /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FCF"/>
                      </a:solidFill>
                      <a:prstDash val="solid"/>
                    </a:lnR>
                    <a:lnT w="9525">
                      <a:solidFill>
                        <a:srgbClr val="D6DFCF"/>
                      </a:solidFill>
                      <a:prstDash val="solid"/>
                    </a:lnT>
                    <a:lnB w="9525">
                      <a:solidFill>
                        <a:srgbClr val="D6DFCF"/>
                      </a:solidFill>
                      <a:prstDash val="solid"/>
                    </a:lnB>
                    <a:solidFill>
                      <a:srgbClr val="286C6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l"/>
                      <a:r>
                        <a:rPr sz="1725" b="1">
                          <a:solidFill>
                            <a:srgbClr val="FFFE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FCF"/>
                      </a:solidFill>
                      <a:prstDash val="solid"/>
                    </a:lnR>
                    <a:lnT w="9525">
                      <a:solidFill>
                        <a:srgbClr val="D6DFCF"/>
                      </a:solidFill>
                      <a:prstDash val="solid"/>
                    </a:lnT>
                    <a:lnB w="9525">
                      <a:solidFill>
                        <a:srgbClr val="D6DFCF"/>
                      </a:solidFill>
                      <a:prstDash val="solid"/>
                    </a:lnB>
                    <a:solidFill>
                      <a:srgbClr val="286C60"/>
                    </a:solidFill>
                  </a:tcPr>
                </a:tc>
              </a:tr>
              <a:tr h="990600">
                <a:tc>
                  <a:txBody>
                    <a:bodyPr lIns="133350" tIns="133350" rIns="133350" bIns="133350"/>
                    <a:lstStyle/>
                    <a:p>
                      <a:pPr algn="l"/>
                      <a:r>
                        <a:rPr sz="1950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2025-06-01 08:00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至次日08:00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DFCF"/>
                      </a:solidFill>
                      <a:prstDash val="solid"/>
                    </a:lnL>
                    <a:lnR w="9525">
                      <a:solidFill>
                        <a:srgbClr val="D6DFCF"/>
                      </a:solidFill>
                      <a:prstDash val="solid"/>
                    </a:lnR>
                    <a:lnB w="9525">
                      <a:solidFill>
                        <a:srgbClr val="D6DFCF"/>
                      </a:solidFill>
                      <a:prstDash val="solid"/>
                    </a:lnB>
                    <a:solidFill>
                      <a:srgbClr val="F3F2E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l"/>
                      <a:r>
                        <a:rPr sz="1950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FCF"/>
                      </a:solidFill>
                      <a:prstDash val="solid"/>
                    </a:lnR>
                    <a:lnB w="9525">
                      <a:solidFill>
                        <a:srgbClr val="D6DFCF"/>
                      </a:solidFill>
                      <a:prstDash val="solid"/>
                    </a:lnB>
                    <a:solidFill>
                      <a:srgbClr val="F3F2E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l"/>
                      <a:r>
                        <a:rPr sz="1950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FCF"/>
                      </a:solidFill>
                      <a:prstDash val="solid"/>
                    </a:lnR>
                    <a:lnB w="9525">
                      <a:solidFill>
                        <a:srgbClr val="D6DFCF"/>
                      </a:solidFill>
                      <a:prstDash val="solid"/>
                    </a:lnB>
                    <a:solidFill>
                      <a:srgbClr val="F3F2E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pPr algn="l"/>
                      <a:r>
                        <a:rPr sz="1950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DFCF"/>
                      </a:solidFill>
                      <a:prstDash val="solid"/>
                    </a:lnR>
                    <a:lnB w="9525">
                      <a:solidFill>
                        <a:srgbClr val="D6DFCF"/>
                      </a:solidFill>
                      <a:prstDash val="solid"/>
                    </a:lnB>
                    <a:solidFill>
                      <a:srgbClr val="F3F2E9"/>
                    </a:solidFill>
                  </a:tcPr>
                </a:tc>
              </a:tr>
            </a:tbl>
          </a:graphicData>
        </a:graphic>
      </p:graphicFrame>
      <p:sp>
        <p:nvSpPr>
          <p:cNvPr id="5" name="完整度数字-0">
            <a:extLst xmlns:a="http://schemas.openxmlformats.org/drawingml/2006/main">
              <a:ext uri="{FF2B5EF4-FFF2-40B4-BE49-F238E27FC236}">
                <a16:creationId xmlns:a16="http://schemas.microsoft.com/office/drawing/2014/main" id="{33AE2863-A601-46FA-BDA5-174B0AC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862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731</a:t>
            </a:r>
          </a:p>
        </p:txBody>
      </p:sp>
      <p:sp>
        <p:nvSpPr>
          <p:cNvPr id="6" name="完整度名称-0">
            <a:extLst xmlns:a="http://schemas.openxmlformats.org/drawingml/2006/main">
              <a:ext uri="{FF2B5EF4-FFF2-40B4-BE49-F238E27FC236}">
                <a16:creationId xmlns:a16="http://schemas.microsoft.com/office/drawing/2014/main" id="{0A201A55-79FE-4B13-9C72-968EE421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339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配置日历日</a:t>
            </a:r>
          </a:p>
        </p:txBody>
      </p:sp>
      <p:sp>
        <p:nvSpPr>
          <p:cNvPr id="7" name="完整度数字-1">
            <a:extLst xmlns:a="http://schemas.openxmlformats.org/drawingml/2006/main">
              <a:ext uri="{FF2B5EF4-FFF2-40B4-BE49-F238E27FC236}">
                <a16:creationId xmlns:a16="http://schemas.microsoft.com/office/drawing/2014/main" id="{D7A3AA7C-CC14-4AD3-8CD7-D91B0856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862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670</a:t>
            </a:r>
          </a:p>
        </p:txBody>
      </p:sp>
      <p:sp>
        <p:nvSpPr>
          <p:cNvPr id="8" name="完整度名称-1">
            <a:extLst xmlns:a="http://schemas.openxmlformats.org/drawingml/2006/main">
              <a:ext uri="{FF2B5EF4-FFF2-40B4-BE49-F238E27FC236}">
                <a16:creationId xmlns:a16="http://schemas.microsoft.com/office/drawing/2014/main" id="{912B9E8C-36D1-42C0-8CDB-01750D9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1339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完整参考日</a:t>
            </a:r>
          </a:p>
        </p:txBody>
      </p:sp>
      <p:sp>
        <p:nvSpPr>
          <p:cNvPr id="9" name="完整度数字-2">
            <a:extLst xmlns:a="http://schemas.openxmlformats.org/drawingml/2006/main">
              <a:ext uri="{FF2B5EF4-FFF2-40B4-BE49-F238E27FC236}">
                <a16:creationId xmlns:a16="http://schemas.microsoft.com/office/drawing/2014/main" id="{F7DB2642-135E-415A-BB24-2CD58AB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862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636</a:t>
            </a:r>
          </a:p>
        </p:txBody>
      </p:sp>
      <p:sp>
        <p:nvSpPr>
          <p:cNvPr id="10" name="完整度名称-2">
            <a:extLst xmlns:a="http://schemas.openxmlformats.org/drawingml/2006/main">
              <a:ext uri="{FF2B5EF4-FFF2-40B4-BE49-F238E27FC236}">
                <a16:creationId xmlns:a16="http://schemas.microsoft.com/office/drawing/2014/main" id="{63B82C79-1F67-4C9E-9F20-33584D83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339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完整配对日</a:t>
            </a:r>
          </a:p>
        </p:txBody>
      </p:sp>
      <p:sp>
        <p:nvSpPr>
          <p:cNvPr id="11" name="完整度规则">
            <a:extLst xmlns:a="http://schemas.openxmlformats.org/drawingml/2006/main">
              <a:ext uri="{FF2B5EF4-FFF2-40B4-BE49-F238E27FC236}">
                <a16:creationId xmlns:a16="http://schemas.microsoft.com/office/drawing/2014/main" id="{7ABE0C6C-C806-49BB-BF2B-8957041A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00725"/>
            <a:ext cx="10715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缺少任一所需小时、数值无效或负降水，就排除该窗口，不补零。</a:t>
            </a:r>
          </a:p>
        </p:txBody>
      </p:sp>
    </p:spTree>
    <p:extLst>
      <p:ext uri="{BB962C8B-B14F-4D97-AF65-F5344CB8AC3E}">
        <p14:creationId xmlns:p14="http://schemas.microsoft.com/office/powerpoint/2010/main" val="1013792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标题-5">
            <a:extLst xmlns:a="http://schemas.openxmlformats.org/drawingml/2006/main">
              <a:ext uri="{FF2B5EF4-FFF2-40B4-BE49-F238E27FC236}">
                <a16:creationId xmlns:a16="http://schemas.microsoft.com/office/drawing/2014/main" id="{47B71761-C9A5-44D7-9243-5C7C6D23456B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历史模型与在线集合，各自保留含义</a:t>
            </a:r>
          </a:p>
        </p:txBody>
      </p:sp>
      <p:sp>
        <p:nvSpPr>
          <p:cNvPr id="2" name="页码-5">
            <a:extLst xmlns:a="http://schemas.openxmlformats.org/drawingml/2006/main">
              <a:ext uri="{FF2B5EF4-FFF2-40B4-BE49-F238E27FC236}">
                <a16:creationId xmlns:a16="http://schemas.microsoft.com/office/drawing/2014/main" id="{9FC420EA-5753-49EC-8737-45F71C17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流程中线">
            <a:extLst xmlns:a="http://schemas.openxmlformats.org/drawingml/2006/main">
              <a:ext uri="{FF2B5EF4-FFF2-40B4-BE49-F238E27FC236}">
                <a16:creationId xmlns:a16="http://schemas.microsoft.com/office/drawing/2014/main" id="{E3749B1C-EF09-41A2-8824-FF784EF0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478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CF"/>
            </a:solidFill>
            <a:prstDash val="solid"/>
          </a:ln>
        </p:spPr>
      </p:sp>
      <p:sp>
        <p:nvSpPr>
          <p:cNvPr id="4" name="离线流程背景">
            <a:extLst xmlns:a="http://schemas.openxmlformats.org/drawingml/2006/main">
              <a:ext uri="{FF2B5EF4-FFF2-40B4-BE49-F238E27FC236}">
                <a16:creationId xmlns:a16="http://schemas.microsoft.com/office/drawing/2014/main" id="{B5F0679B-9770-45A7-A115-1B16F9C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5019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60"/>
          </a:solidFill>
          <a:ln xmlns:a="http://schemas.openxmlformats.org/drawingml/2006/main" w="0">
            <a:noFill/>
          </a:ln>
        </p:spPr>
      </p:sp>
      <p:sp>
        <p:nvSpPr>
          <p:cNvPr id="5" name="在线流程背景">
            <a:extLst xmlns:a="http://schemas.openxmlformats.org/drawingml/2006/main">
              <a:ext uri="{FF2B5EF4-FFF2-40B4-BE49-F238E27FC236}">
                <a16:creationId xmlns:a16="http://schemas.microsoft.com/office/drawing/2014/main" id="{075B3F15-3A73-4CF5-906B-866EEEF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47850"/>
            <a:ext cx="5019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60"/>
          </a:solidFill>
          <a:ln xmlns:a="http://schemas.openxmlformats.org/drawingml/2006/main" w="0">
            <a:noFill/>
          </a:ln>
        </p:spPr>
      </p:sp>
      <p:sp>
        <p:nvSpPr>
          <p:cNvPr id="6" name="历史支名">
            <a:extLst xmlns:a="http://schemas.openxmlformats.org/drawingml/2006/main">
              <a:ext uri="{FF2B5EF4-FFF2-40B4-BE49-F238E27FC236}">
                <a16:creationId xmlns:a16="http://schemas.microsoft.com/office/drawing/2014/main" id="{31AE5D5D-8750-49DB-AE72-67530C84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历史离线研究</a:t>
            </a:r>
          </a:p>
        </p:txBody>
      </p:sp>
      <p:sp>
        <p:nvSpPr>
          <p:cNvPr id="7" name="在线支名">
            <a:extLst xmlns:a="http://schemas.openxmlformats.org/drawingml/2006/main">
              <a:ext uri="{FF2B5EF4-FFF2-40B4-BE49-F238E27FC236}">
                <a16:creationId xmlns:a16="http://schemas.microsoft.com/office/drawing/2014/main" id="{501BE5E1-2945-44D2-BD73-B0D83F64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38112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在线集合预报快照</a:t>
            </a:r>
          </a:p>
        </p:txBody>
      </p:sp>
      <p:sp>
        <p:nvSpPr>
          <p:cNvPr id="8" name="历史输入">
            <a:extLst xmlns:a="http://schemas.openxmlformats.org/drawingml/2006/main">
              <a:ext uri="{FF2B5EF4-FFF2-40B4-BE49-F238E27FC236}">
                <a16:creationId xmlns:a16="http://schemas.microsoft.com/office/drawing/2014/main" id="{3D6EFD42-7EBE-450C-8B6B-742EED4F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52.5 mm</a:t>
            </a:r>
          </a:p>
        </p:txBody>
      </p:sp>
      <p:sp>
        <p:nvSpPr>
          <p:cNvPr id="9" name="历史日期">
            <a:extLst xmlns:a="http://schemas.openxmlformats.org/drawingml/2006/main">
              <a:ext uri="{FF2B5EF4-FFF2-40B4-BE49-F238E27FC236}">
                <a16:creationId xmlns:a16="http://schemas.microsoft.com/office/drawing/2014/main" id="{D56B6696-A9D3-4600-AA88-399200EE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03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2025-06-01 预报日累计降水</a:t>
            </a:r>
          </a:p>
        </p:txBody>
      </p:sp>
      <p:sp>
        <p:nvSpPr>
          <p:cNvPr id="10" name="历史算法">
            <a:extLst xmlns:a="http://schemas.openxmlformats.org/drawingml/2006/main">
              <a:ext uri="{FF2B5EF4-FFF2-40B4-BE49-F238E27FC236}">
                <a16:creationId xmlns:a16="http://schemas.microsoft.com/office/drawing/2014/main" id="{0B6097C2-8898-46A7-B118-5427062F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52800"/>
            <a:ext cx="5000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log1p 与标准化</a:t>
            </a:r>
          </a:p>
          <a:p xmlns:a="http://schemas.openxmlformats.org/drawingml/2006/main">
            <a: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逻辑回归 logistic_rain</a:t>
            </a:r>
          </a:p>
        </p:txBody>
      </p:sp>
      <p:sp>
        <p:nvSpPr>
          <p:cNvPr id="11" name="历史输出">
            <a:extLst xmlns:a="http://schemas.openxmlformats.org/drawingml/2006/main">
              <a:ext uri="{FF2B5EF4-FFF2-40B4-BE49-F238E27FC236}">
                <a16:creationId xmlns:a16="http://schemas.microsoft.com/office/drawing/2014/main" id="{64A8491B-041E-4391-8531-329D7F19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67.9%</a:t>
            </a:r>
          </a:p>
        </p:txBody>
      </p:sp>
      <p:sp>
        <p:nvSpPr>
          <p:cNvPr id="12" name="历史输出含义">
            <a:extLst xmlns:a="http://schemas.openxmlformats.org/drawingml/2006/main">
              <a:ext uri="{FF2B5EF4-FFF2-40B4-BE49-F238E27FC236}">
                <a16:creationId xmlns:a16="http://schemas.microsoft.com/office/drawing/2014/main" id="{A6379F9C-8378-4B85-8111-29DA9E0D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43500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参考日降水 ≥ 25 mm 的概率</a:t>
            </a:r>
          </a:p>
        </p:txBody>
      </p:sp>
      <p:sp>
        <p:nvSpPr>
          <p:cNvPr id="13" name="历史切分">
            <a:extLst xmlns:a="http://schemas.openxmlformats.org/drawingml/2006/main">
              <a:ext uri="{FF2B5EF4-FFF2-40B4-BE49-F238E27FC236}">
                <a16:creationId xmlns:a16="http://schemas.microsoft.com/office/drawing/2014/main" id="{6BA7F39A-B56F-4126-924F-293B31B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95950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训练276日，验证120日，测试240日／18事件</a:t>
            </a:r>
          </a:p>
        </p:txBody>
      </p:sp>
      <p:sp>
        <p:nvSpPr>
          <p:cNvPr id="14" name="在线输入">
            <a:extLst xmlns:a="http://schemas.openxmlformats.org/drawingml/2006/main">
              <a:ext uri="{FF2B5EF4-FFF2-40B4-BE49-F238E27FC236}">
                <a16:creationId xmlns:a16="http://schemas.microsoft.com/office/drawing/2014/main" id="{FCBF620D-D0B9-4B00-89A8-32EA852D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5000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51 成员 × 24 小时</a:t>
            </a:r>
          </a:p>
        </p:txBody>
      </p:sp>
      <p:sp>
        <p:nvSpPr>
          <p:cNvPr id="15" name="在线窗口">
            <a:extLst xmlns:a="http://schemas.openxmlformats.org/drawingml/2006/main">
              <a:ext uri="{FF2B5EF4-FFF2-40B4-BE49-F238E27FC236}">
                <a16:creationId xmlns:a16="http://schemas.microsoft.com/office/drawing/2014/main" id="{32D96B2E-CBB3-4D7D-B936-05F65702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9875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10/20 08:00 至 10/21 08:00（北京时间）</a:t>
            </a:r>
          </a:p>
        </p:txBody>
      </p:sp>
      <p:sp>
        <p:nvSpPr>
          <p:cNvPr id="16" name="在线算法">
            <a:extLst xmlns:a="http://schemas.openxmlformats.org/drawingml/2006/main">
              <a:ext uri="{FF2B5EF4-FFF2-40B4-BE49-F238E27FC236}">
                <a16:creationId xmlns:a16="http://schemas.microsoft.com/office/drawing/2014/main" id="{EB365A8A-1335-4E96-A62D-FFFCCCAC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52800"/>
            <a:ext cx="5000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逐成员累计24小时雨量</a:t>
            </a:r>
          </a:p>
          <a:p xmlns:a="http://schemas.openxmlformats.org/drawingml/2006/main">
            <a:pPr algn="l">
              <a:def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统计达到25 mm的成员</a:t>
            </a:r>
          </a:p>
        </p:txBody>
      </p:sp>
      <p:sp>
        <p:nvSpPr>
          <p:cNvPr id="17" name="在线输出">
            <a:extLst xmlns:a="http://schemas.openxmlformats.org/drawingml/2006/main">
              <a:ext uri="{FF2B5EF4-FFF2-40B4-BE49-F238E27FC236}">
                <a16:creationId xmlns:a16="http://schemas.microsoft.com/office/drawing/2014/main" id="{0E8B1D2A-2F1D-4890-AA14-BE7B9E4C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3875"/>
            <a:ext cx="5029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0 / 51 = 0%</a:t>
            </a:r>
          </a:p>
        </p:txBody>
      </p:sp>
      <p:sp>
        <p:nvSpPr>
          <p:cNvPr id="18" name="在线输出含义">
            <a:extLst xmlns:a="http://schemas.openxmlformats.org/drawingml/2006/main">
              <a:ext uri="{FF2B5EF4-FFF2-40B4-BE49-F238E27FC236}">
                <a16:creationId xmlns:a16="http://schemas.microsoft.com/office/drawing/2014/main" id="{C2D6216C-E580-4AED-8308-A7CAC977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143500"/>
            <a:ext cx="500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集合成员占比，未经本地校准</a:t>
            </a:r>
          </a:p>
        </p:txBody>
      </p:sp>
      <p:sp>
        <p:nvSpPr>
          <p:cNvPr id="19" name="在线获取时间">
            <a:extLst xmlns:a="http://schemas.openxmlformats.org/drawingml/2006/main">
              <a:ext uri="{FF2B5EF4-FFF2-40B4-BE49-F238E27FC236}">
                <a16:creationId xmlns:a16="http://schemas.microsoft.com/office/drawing/2014/main" id="{922A91BB-CD9F-4159-8C8A-EFDAEBBC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95950"/>
            <a:ext cx="5000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2026-10-19 19:22 北京时间获取</a:t>
            </a:r>
          </a:p>
        </p:txBody>
      </p:sp>
      <p:sp>
        <p:nvSpPr>
          <p:cNvPr id="20" name="共同边界">
            <a:extLst xmlns:a="http://schemas.openxmlformats.org/drawingml/2006/main">
              <a:ext uri="{FF2B5EF4-FFF2-40B4-BE49-F238E27FC236}">
                <a16:creationId xmlns:a16="http://schemas.microsoft.com/office/drawing/2014/main" id="{8B0112DE-3A63-47C6-971E-CB3DE2F8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238875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rPr>
              <a:t>上述输出均不等于门店积水概率或货损概率。历史模型只用于离线实验。</a:t>
            </a:r>
          </a:p>
        </p:txBody>
      </p:sp>
    </p:spTree>
    <p:extLst>
      <p:ext uri="{BB962C8B-B14F-4D97-AF65-F5344CB8AC3E}">
        <p14:creationId xmlns:p14="http://schemas.microsoft.com/office/powerpoint/2010/main" val="2140092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标题-6">
            <a:extLst xmlns:a="http://schemas.openxmlformats.org/drawingml/2006/main">
              <a:ext uri="{FF2B5EF4-FFF2-40B4-BE49-F238E27FC236}">
                <a16:creationId xmlns:a16="http://schemas.microsoft.com/office/drawing/2014/main" id="{7C58D6A6-23A6-443F-872B-B0A718EEB706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同一情景，预计成本相差460元</a:t>
            </a:r>
          </a:p>
        </p:txBody>
      </p:sp>
      <p:sp>
        <p:nvSpPr>
          <p:cNvPr id="2" name="页码-6">
            <a:extLst xmlns:a="http://schemas.openxmlformats.org/drawingml/2006/main">
              <a:ext uri="{FF2B5EF4-FFF2-40B4-BE49-F238E27FC236}">
                <a16:creationId xmlns:a16="http://schemas.microsoft.com/office/drawing/2014/main" id="{A7CA3125-07AA-48BF-93C6-9E29103E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情景假设">
            <a:extLst xmlns:a="http://schemas.openxmlformats.org/drawingml/2006/main">
              <a:ext uri="{FF2B5EF4-FFF2-40B4-BE49-F238E27FC236}">
                <a16:creationId xmlns:a16="http://schemas.microsoft.com/office/drawing/2014/main" id="{DC111220-0756-4245-9156-3FA4C19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rPr>
              <a:t>演示假设 p = 60%，与当前天气分开</a:t>
            </a:r>
          </a:p>
        </p:txBody>
      </p:sp>
      <p:sp>
        <p:nvSpPr>
          <p:cNvPr id="4" name="条件损失">
            <a:extLst xmlns:a="http://schemas.openxmlformats.org/drawingml/2006/main">
              <a:ext uri="{FF2B5EF4-FFF2-40B4-BE49-F238E27FC236}">
                <a16:creationId xmlns:a16="http://schemas.microsoft.com/office/drawing/2014/main" id="{7A0DC559-DD36-469B-95B1-AC2A088D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事件发生时，不搬平均损失 L₀ = 1000元，搬后 L₁ = 100元</a:t>
            </a:r>
          </a:p>
        </p:txBody>
      </p:sp>
      <p:sp>
        <p:nvSpPr>
          <p:cNvPr id="5" name="搬成本构成">
            <a:extLst xmlns:a="http://schemas.openxmlformats.org/drawingml/2006/main">
              <a:ext uri="{FF2B5EF4-FFF2-40B4-BE49-F238E27FC236}">
                <a16:creationId xmlns:a16="http://schemas.microsoft.com/office/drawing/2014/main" id="{CB5CAA59-5905-4638-91D5-C75DEF59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搬货成本 C = 80元（人工60元、耗材20元，均为示例）</a:t>
            </a:r>
          </a:p>
        </p:txBody>
      </p:sp>
      <p:sp>
        <p:nvSpPr>
          <p:cNvPr id="6" name="计算分隔">
            <a:extLst xmlns:a="http://schemas.openxmlformats.org/drawingml/2006/main">
              <a:ext uri="{FF2B5EF4-FFF2-40B4-BE49-F238E27FC236}">
                <a16:creationId xmlns:a16="http://schemas.microsoft.com/office/drawing/2014/main" id="{5B3637AC-F744-42F7-9329-B4B48BAD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4A"/>
            </a:solidFill>
            <a:prstDash val="solid"/>
          </a:ln>
        </p:spPr>
      </p:sp>
      <p:sp>
        <p:nvSpPr>
          <p:cNvPr id="7" name="不搬名称">
            <a:extLst xmlns:a="http://schemas.openxmlformats.org/drawingml/2006/main">
              <a:ext uri="{FF2B5EF4-FFF2-40B4-BE49-F238E27FC236}">
                <a16:creationId xmlns:a16="http://schemas.microsoft.com/office/drawing/2014/main" id="{34960207-295A-4528-A988-9BAA4FDF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不搬</a:t>
            </a:r>
          </a:p>
        </p:txBody>
      </p:sp>
      <p:sp>
        <p:nvSpPr>
          <p:cNvPr id="8" name="不搬算式">
            <a:extLst xmlns:a="http://schemas.openxmlformats.org/drawingml/2006/main">
              <a:ext uri="{FF2B5EF4-FFF2-40B4-BE49-F238E27FC236}">
                <a16:creationId xmlns:a16="http://schemas.microsoft.com/office/drawing/2014/main" id="{C95BF59A-C373-4E8F-A38B-06D61243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pL₀ = 0.60 × 1000</a:t>
            </a:r>
          </a:p>
        </p:txBody>
      </p:sp>
      <p:sp>
        <p:nvSpPr>
          <p:cNvPr id="9" name="不搬预计">
            <a:extLst xmlns:a="http://schemas.openxmlformats.org/drawingml/2006/main">
              <a:ext uri="{FF2B5EF4-FFF2-40B4-BE49-F238E27FC236}">
                <a16:creationId xmlns:a16="http://schemas.microsoft.com/office/drawing/2014/main" id="{F8D5AE79-8B0B-414E-8191-218D62F5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76775"/>
            <a:ext cx="5048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600 元</a:t>
            </a:r>
          </a:p>
        </p:txBody>
      </p:sp>
      <p:sp>
        <p:nvSpPr>
          <p:cNvPr id="10" name="搬名称">
            <a:extLst xmlns:a="http://schemas.openxmlformats.org/drawingml/2006/main">
              <a:ext uri="{FF2B5EF4-FFF2-40B4-BE49-F238E27FC236}">
                <a16:creationId xmlns:a16="http://schemas.microsoft.com/office/drawing/2014/main" id="{989320E3-FB5C-4A68-8D9B-4C391CDC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433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rPr>
              <a:t>搬</a:t>
            </a:r>
          </a:p>
        </p:txBody>
      </p:sp>
      <p:sp>
        <p:nvSpPr>
          <p:cNvPr id="11" name="搬算式">
            <a:extLst xmlns:a="http://schemas.openxmlformats.org/drawingml/2006/main">
              <a:ext uri="{FF2B5EF4-FFF2-40B4-BE49-F238E27FC236}">
                <a16:creationId xmlns:a16="http://schemas.microsoft.com/office/drawing/2014/main" id="{179AC138-9FE4-4100-ACCC-8AB9DF2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719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C + pL₁ = 80 + 0.60 × 100</a:t>
            </a:r>
          </a:p>
        </p:txBody>
      </p:sp>
      <p:sp>
        <p:nvSpPr>
          <p:cNvPr id="12" name="搬预计">
            <a:extLst xmlns:a="http://schemas.openxmlformats.org/drawingml/2006/main">
              <a:ext uri="{FF2B5EF4-FFF2-40B4-BE49-F238E27FC236}">
                <a16:creationId xmlns:a16="http://schemas.microsoft.com/office/drawing/2014/main" id="{5D1C1E5D-5253-46E6-A42A-1BE1ADEE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76775"/>
            <a:ext cx="4552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rPr>
              <a:t>140 元</a:t>
            </a:r>
          </a:p>
        </p:txBody>
      </p:sp>
      <p:sp>
        <p:nvSpPr>
          <p:cNvPr id="13" name="计算尾分隔">
            <a:extLst xmlns:a="http://schemas.openxmlformats.org/drawingml/2006/main">
              <a:ext uri="{FF2B5EF4-FFF2-40B4-BE49-F238E27FC236}">
                <a16:creationId xmlns:a16="http://schemas.microsoft.com/office/drawing/2014/main" id="{232BAE65-D384-4858-B011-99132A05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4A"/>
            </a:solidFill>
            <a:prstDash val="solid"/>
          </a:ln>
        </p:spPr>
      </p:sp>
      <p:sp>
        <p:nvSpPr>
          <p:cNvPr id="14" name="差额说明">
            <a:extLst xmlns:a="http://schemas.openxmlformats.org/drawingml/2006/main">
              <a:ext uri="{FF2B5EF4-FFF2-40B4-BE49-F238E27FC236}">
                <a16:creationId xmlns:a16="http://schemas.microsoft.com/office/drawing/2014/main" id="{6A0471C6-B042-4E2A-A825-753FA9D3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912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预计差额460元，是假设情景的计算结果。真实避损尚未验证。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27350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-7">
            <a:extLst xmlns:a="http://schemas.openxmlformats.org/drawingml/2006/main">
              <a:ext uri="{FF2B5EF4-FFF2-40B4-BE49-F238E27FC236}">
                <a16:creationId xmlns:a16="http://schemas.microsoft.com/office/drawing/2014/main" id="{58ABCB1B-F47F-400D-AEC0-B26340B63F9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搬货成本变化，选择随之改变</a:t>
            </a:r>
          </a:p>
        </p:txBody>
      </p:sp>
      <p:sp>
        <p:nvSpPr>
          <p:cNvPr id="2" name="页码-7">
            <a:extLst xmlns:a="http://schemas.openxmlformats.org/drawingml/2006/main">
              <a:ext uri="{FF2B5EF4-FFF2-40B4-BE49-F238E27FC236}">
                <a16:creationId xmlns:a16="http://schemas.microsoft.com/office/drawing/2014/main" id="{9B2FD4FE-F622-40DC-88B1-FA44FB76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同假设">
            <a:extLst xmlns:a="http://schemas.openxmlformats.org/drawingml/2006/main">
              <a:ext uri="{FF2B5EF4-FFF2-40B4-BE49-F238E27FC236}">
                <a16:creationId xmlns:a16="http://schemas.microsoft.com/office/drawing/2014/main" id="{E1FABC8C-8D38-41EF-A1CC-0EA3583F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保持 p = 60%、L₀ = 1000元、L₁ = 100元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22C39C7-0921-4C6A-9BC4-BA2A3A6C9599}"/>
              </a:ext>
            </a:extLst>
          </p:cNvPr>
          <p:cNvGraphicFramePr/>
          <p:nvPr/>
        </p:nvGraphicFramePr>
        <p:xfrm>
          <a:off xmlns:a="http://schemas.openxmlformats.org/drawingml/2006/main" x="590550" y="2133600"/>
          <a:ext xmlns:a="http://schemas.openxmlformats.org/drawingml/2006/main" cx="752475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57cfa0bed64ef1"/>
          </a:graphicData>
        </a:graphic>
      </p:graphicFrame>
      <p:sp>
        <p:nvSpPr>
          <p:cNvPr id="5" name="成本80">
            <a:extLst xmlns:a="http://schemas.openxmlformats.org/drawingml/2006/main">
              <a:ext uri="{FF2B5EF4-FFF2-40B4-BE49-F238E27FC236}">
                <a16:creationId xmlns:a16="http://schemas.microsoft.com/office/drawing/2014/main" id="{7F9D4BF5-9C9C-46E1-AC8D-EFE11F3D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2885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C = 80元</a:t>
            </a:r>
          </a:p>
        </p:txBody>
      </p:sp>
      <p:sp>
        <p:nvSpPr>
          <p:cNvPr id="6" name="成本80结论">
            <a:extLst xmlns:a="http://schemas.openxmlformats.org/drawingml/2006/main">
              <a:ext uri="{FF2B5EF4-FFF2-40B4-BE49-F238E27FC236}">
                <a16:creationId xmlns:a16="http://schemas.microsoft.com/office/drawing/2014/main" id="{569D3DD4-1473-4F4E-A321-1937FDC2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43200"/>
            <a:ext cx="2819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搬预计140元</a:t>
            </a:r>
          </a:p>
          <a:p xmlns:a="http://schemas.openxmlformats.org/drawingml/2006/main">
            <a: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不搬预计600元</a:t>
            </a:r>
          </a:p>
        </p:txBody>
      </p:sp>
      <p:sp>
        <p:nvSpPr>
          <p:cNvPr id="7" name="成本分隔1">
            <a:extLst xmlns:a="http://schemas.openxmlformats.org/drawingml/2006/main">
              <a:ext uri="{FF2B5EF4-FFF2-40B4-BE49-F238E27FC236}">
                <a16:creationId xmlns:a16="http://schemas.microsoft.com/office/drawing/2014/main" id="{2431FE16-3128-4666-8EBA-B20087F0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05225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CF"/>
            </a:solidFill>
            <a:prstDash val="solid"/>
          </a:ln>
        </p:spPr>
      </p:sp>
      <p:sp>
        <p:nvSpPr>
          <p:cNvPr id="8" name="成本540">
            <a:extLst xmlns:a="http://schemas.openxmlformats.org/drawingml/2006/main">
              <a:ext uri="{FF2B5EF4-FFF2-40B4-BE49-F238E27FC236}">
                <a16:creationId xmlns:a16="http://schemas.microsoft.com/office/drawing/2014/main" id="{11AB5464-9142-4643-92E7-F119B887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933825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C = 540元，两笔钱同价</a:t>
            </a:r>
          </a:p>
        </p:txBody>
      </p:sp>
      <p:sp>
        <p:nvSpPr>
          <p:cNvPr id="9" name="成本600">
            <a:extLst xmlns:a="http://schemas.openxmlformats.org/drawingml/2006/main">
              <a:ext uri="{FF2B5EF4-FFF2-40B4-BE49-F238E27FC236}">
                <a16:creationId xmlns:a16="http://schemas.microsoft.com/office/drawing/2014/main" id="{99D36D31-4793-41EA-A051-121B05B3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81575"/>
            <a:ext cx="2819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rPr>
              <a:t>C = 600元，建议暂不搬</a:t>
            </a:r>
          </a:p>
        </p:txBody>
      </p:sp>
      <p:sp>
        <p:nvSpPr>
          <p:cNvPr id="10" name="临界公式">
            <a:extLst xmlns:a="http://schemas.openxmlformats.org/drawingml/2006/main">
              <a:ext uri="{FF2B5EF4-FFF2-40B4-BE49-F238E27FC236}">
                <a16:creationId xmlns:a16="http://schemas.microsoft.com/office/drawing/2014/main" id="{7957E60F-B4C8-421B-8C6F-CCA8595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6265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本例临界成本 C* = p(L₀ − L₁) = 540元。选择取决于天气假设和自己的成本。</a:t>
            </a:r>
          </a:p>
        </p:txBody>
      </p:sp>
    </p:spTree>
    <p:extLst>
      <p:ext uri="{BB962C8B-B14F-4D97-AF65-F5344CB8AC3E}">
        <p14:creationId xmlns:p14="http://schemas.microsoft.com/office/powerpoint/2010/main" val="7136014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标题-8">
            <a:extLst xmlns:a="http://schemas.openxmlformats.org/drawingml/2006/main">
              <a:ext uri="{FF2B5EF4-FFF2-40B4-BE49-F238E27FC236}">
                <a16:creationId xmlns:a16="http://schemas.microsoft.com/office/drawing/2014/main" id="{FC2C83B0-ED71-48D8-B20A-08B52C81997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现有证据与待验证的部分</a:t>
            </a:r>
          </a:p>
        </p:txBody>
      </p:sp>
      <p:sp>
        <p:nvSpPr>
          <p:cNvPr id="2" name="页码-8">
            <a:extLst xmlns:a="http://schemas.openxmlformats.org/drawingml/2006/main">
              <a:ext uri="{FF2B5EF4-FFF2-40B4-BE49-F238E27FC236}">
                <a16:creationId xmlns:a16="http://schemas.microsoft.com/office/drawing/2014/main" id="{3E3BB6DC-016C-4AD8-BC3F-1A436008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证据范围">
            <a:extLst xmlns:a="http://schemas.openxmlformats.org/drawingml/2006/main">
              <a:ext uri="{FF2B5EF4-FFF2-40B4-BE49-F238E27FC236}">
                <a16:creationId xmlns:a16="http://schemas.microsoft.com/office/drawing/2014/main" id="{2B99959D-9CDA-44EF-9874-54A5463C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历史离线实验，同一240个测试日／18个参考事件</a:t>
            </a:r>
          </a:p>
        </p:txBody>
      </p:sp>
      <p:sp>
        <p:nvSpPr>
          <p:cNvPr id="4" name="Brier说明">
            <a:extLst xmlns:a="http://schemas.openxmlformats.org/drawingml/2006/main">
              <a:ext uri="{FF2B5EF4-FFF2-40B4-BE49-F238E27FC236}">
                <a16:creationId xmlns:a16="http://schemas.microsoft.com/office/drawing/2014/main" id="{B7907035-7F15-43E5-9CCE-43F86F72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526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测试Brier分数，越小越好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D1B2472-F18A-47C8-8308-B57CE9E2EFF1}"/>
              </a:ext>
            </a:extLst>
          </p:cNvPr>
          <p:cNvGraphicFramePr/>
          <p:nvPr/>
        </p:nvGraphicFramePr>
        <p:xfrm>
          <a:off xmlns:a="http://schemas.openxmlformats.org/drawingml/2006/main" x="619125" y="2762250"/>
          <a:ext xmlns:a="http://schemas.openxmlformats.org/drawingml/2006/main" cx="62865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43ddb3130e4239"/>
          </a:graphicData>
        </a:graphic>
      </p:graphicFrame>
      <p:sp>
        <p:nvSpPr>
          <p:cNvPr id="6" name="证据边界1">
            <a:extLst xmlns:a="http://schemas.openxmlformats.org/drawingml/2006/main">
              <a:ext uri="{FF2B5EF4-FFF2-40B4-BE49-F238E27FC236}">
                <a16:creationId xmlns:a16="http://schemas.microsoft.com/office/drawing/2014/main" id="{40049A44-31DD-457E-9372-078BC4A1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00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测试事件少，参考标签有局限</a:t>
            </a:r>
          </a:p>
        </p:txBody>
      </p:sp>
      <p:sp>
        <p:nvSpPr>
          <p:cNvPr id="7" name="证据边界2">
            <a:extLst xmlns:a="http://schemas.openxmlformats.org/drawingml/2006/main">
              <a:ext uri="{FF2B5EF4-FFF2-40B4-BE49-F238E27FC236}">
                <a16:creationId xmlns:a16="http://schemas.microsoft.com/office/drawing/2014/main" id="{A706C77C-FAB9-47A3-B0BB-D1D7B1DF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线上成员占比未经本地校准</a:t>
            </a:r>
          </a:p>
        </p:txBody>
      </p:sp>
      <p:sp>
        <p:nvSpPr>
          <p:cNvPr id="8" name="证据边界3">
            <a:extLst xmlns:a="http://schemas.openxmlformats.org/drawingml/2006/main">
              <a:ext uri="{FF2B5EF4-FFF2-40B4-BE49-F238E27FC236}">
                <a16:creationId xmlns:a16="http://schemas.microsoft.com/office/drawing/2014/main" id="{C7E96874-3A34-4559-A5D7-59742FD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4000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尚无真实商户避损与碳收益数据</a:t>
            </a:r>
          </a:p>
        </p:txBody>
      </p:sp>
      <p:sp>
        <p:nvSpPr>
          <p:cNvPr id="9" name="错误证据">
            <a:extLst xmlns:a="http://schemas.openxmlformats.org/drawingml/2006/main">
              <a:ext uri="{FF2B5EF4-FFF2-40B4-BE49-F238E27FC236}">
                <a16:creationId xmlns:a16="http://schemas.microsoft.com/office/drawing/2014/main" id="{1B842686-922F-494E-9755-666B0AA2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29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rPr>
              <a:t>固定10%情景阈值下，历史模型有6次漏报、9次误报。低概率不等于安全。</a:t>
            </a:r>
          </a:p>
        </p:txBody>
      </p:sp>
    </p:spTree>
    <p:extLst>
      <p:ext uri="{BB962C8B-B14F-4D97-AF65-F5344CB8AC3E}">
        <p14:creationId xmlns:p14="http://schemas.microsoft.com/office/powerpoint/2010/main" val="362470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标题-9">
            <a:extLst xmlns:a="http://schemas.openxmlformats.org/drawingml/2006/main">
              <a:ext uri="{FF2B5EF4-FFF2-40B4-BE49-F238E27FC236}">
                <a16:creationId xmlns:a16="http://schemas.microsoft.com/office/drawing/2014/main" id="{68DA666B-9C4C-4757-80D5-66441E197307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90天先验证理解、操作和数据获取</a:t>
            </a:r>
          </a:p>
        </p:txBody>
      </p:sp>
      <p:sp>
        <p:nvSpPr>
          <p:cNvPr id="2" name="页码-9">
            <a:extLst xmlns:a="http://schemas.openxmlformats.org/drawingml/2006/main">
              <a:ext uri="{FF2B5EF4-FFF2-40B4-BE49-F238E27FC236}">
                <a16:creationId xmlns:a16="http://schemas.microsoft.com/office/drawing/2014/main" id="{370FD370-BB44-42D5-BF88-F845D58F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C6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计划状态">
            <a:extLst xmlns:a="http://schemas.openxmlformats.org/drawingml/2006/main">
              <a:ext uri="{FF2B5EF4-FFF2-40B4-BE49-F238E27FC236}">
                <a16:creationId xmlns:a16="http://schemas.microsoft.com/office/drawing/2014/main" id="{32525CD1-3A4C-4DDA-9129-995F378D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待执行计划，由两名同学推进，参与者尚未招募</a:t>
            </a:r>
          </a:p>
        </p:txBody>
      </p:sp>
      <p:sp>
        <p:nvSpPr>
          <p:cNvPr id="4" name="阶段-0">
            <a:extLst xmlns:a="http://schemas.openxmlformats.org/drawingml/2006/main">
              <a:ext uri="{FF2B5EF4-FFF2-40B4-BE49-F238E27FC236}">
                <a16:creationId xmlns:a16="http://schemas.microsoft.com/office/drawing/2014/main" id="{F80D8B60-225B-49C6-8A0E-A0FC94A9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28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第1到2周</a:t>
            </a:r>
          </a:p>
        </p:txBody>
      </p:sp>
      <p:sp>
        <p:nvSpPr>
          <p:cNvPr id="5" name="阶段名-0">
            <a:extLst xmlns:a="http://schemas.openxmlformats.org/drawingml/2006/main">
              <a:ext uri="{FF2B5EF4-FFF2-40B4-BE49-F238E27FC236}">
                <a16:creationId xmlns:a16="http://schemas.microsoft.com/office/drawing/2014/main" id="{FC0026E5-D1A4-4CAD-A71E-9E23116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43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确认需求</a:t>
            </a:r>
          </a:p>
        </p:txBody>
      </p:sp>
      <p:sp>
        <p:nvSpPr>
          <p:cNvPr id="6" name="阶段分隔-0">
            <a:extLst xmlns:a="http://schemas.openxmlformats.org/drawingml/2006/main">
              <a:ext uri="{FF2B5EF4-FFF2-40B4-BE49-F238E27FC236}">
                <a16:creationId xmlns:a16="http://schemas.microsoft.com/office/drawing/2014/main" id="{3834E8E0-5A3C-4C77-A1EE-5EE058F6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100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FCF"/>
            </a:solidFill>
            <a:prstDash val="solid"/>
          </a:ln>
        </p:spPr>
      </p:sp>
      <p:sp>
        <p:nvSpPr>
          <p:cNvPr id="7" name="阶段内容-0">
            <a:extLst xmlns:a="http://schemas.openxmlformats.org/drawingml/2006/main">
              <a:ext uri="{FF2B5EF4-FFF2-40B4-BE49-F238E27FC236}">
                <a16:creationId xmlns:a16="http://schemas.microsoft.com/office/drawing/2014/main" id="{16F0AF88-791E-45C1-AB25-00B1799F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14800"/>
            <a:ext cx="2333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计划招募5到8位</a:t>
            </a:r>
          </a:p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自愿参与者</a:t>
            </a:r>
          </a:p>
        </p:txBody>
      </p:sp>
      <p:sp>
        <p:nvSpPr>
          <p:cNvPr id="8" name="阶段-1">
            <a:extLst xmlns:a="http://schemas.openxmlformats.org/drawingml/2006/main">
              <a:ext uri="{FF2B5EF4-FFF2-40B4-BE49-F238E27FC236}">
                <a16:creationId xmlns:a16="http://schemas.microsoft.com/office/drawing/2014/main" id="{CBE642C6-4DCD-496F-B1BC-687015B9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第3到4周</a:t>
            </a:r>
          </a:p>
        </p:txBody>
      </p:sp>
      <p:sp>
        <p:nvSpPr>
          <p:cNvPr id="9" name="阶段名-1">
            <a:extLst xmlns:a="http://schemas.openxmlformats.org/drawingml/2006/main">
              <a:ext uri="{FF2B5EF4-FFF2-40B4-BE49-F238E27FC236}">
                <a16:creationId xmlns:a16="http://schemas.microsoft.com/office/drawing/2014/main" id="{34675851-25A4-4A22-900F-3FB5D4FE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理解测试</a:t>
            </a:r>
          </a:p>
        </p:txBody>
      </p:sp>
      <p:sp>
        <p:nvSpPr>
          <p:cNvPr id="10" name="阶段分隔-1">
            <a:extLst xmlns:a="http://schemas.openxmlformats.org/drawingml/2006/main">
              <a:ext uri="{FF2B5EF4-FFF2-40B4-BE49-F238E27FC236}">
                <a16:creationId xmlns:a16="http://schemas.microsoft.com/office/drawing/2014/main" id="{411AD2B3-2A52-4CBF-997B-BC7E35E5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FCF"/>
            </a:solidFill>
            <a:prstDash val="solid"/>
          </a:ln>
        </p:spPr>
      </p:sp>
      <p:sp>
        <p:nvSpPr>
          <p:cNvPr id="11" name="阶段内容-1">
            <a:extLst xmlns:a="http://schemas.openxmlformats.org/drawingml/2006/main">
              <a:ext uri="{FF2B5EF4-FFF2-40B4-BE49-F238E27FC236}">
                <a16:creationId xmlns:a16="http://schemas.microsoft.com/office/drawing/2014/main" id="{940B544F-B06B-4F0B-B2CD-B6963283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14800"/>
            <a:ext cx="2333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固定历史案例</a:t>
            </a:r>
          </a:p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记录关键误解</a:t>
            </a:r>
          </a:p>
        </p:txBody>
      </p:sp>
      <p:sp>
        <p:nvSpPr>
          <p:cNvPr id="12" name="阶段-2">
            <a:extLst xmlns:a="http://schemas.openxmlformats.org/drawingml/2006/main">
              <a:ext uri="{FF2B5EF4-FFF2-40B4-BE49-F238E27FC236}">
                <a16:creationId xmlns:a16="http://schemas.microsoft.com/office/drawing/2014/main" id="{46AB135D-39B1-4CD1-BCF1-F80AA321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第5到8周</a:t>
            </a:r>
          </a:p>
        </p:txBody>
      </p:sp>
      <p:sp>
        <p:nvSpPr>
          <p:cNvPr id="13" name="阶段名-2">
            <a:extLst xmlns:a="http://schemas.openxmlformats.org/drawingml/2006/main">
              <a:ext uri="{FF2B5EF4-FFF2-40B4-BE49-F238E27FC236}">
                <a16:creationId xmlns:a16="http://schemas.microsoft.com/office/drawing/2014/main" id="{CF42C924-EDCF-44AA-93FF-1DAE229D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影子运行</a:t>
            </a:r>
          </a:p>
        </p:txBody>
      </p:sp>
      <p:sp>
        <p:nvSpPr>
          <p:cNvPr id="14" name="阶段分隔-2">
            <a:extLst xmlns:a="http://schemas.openxmlformats.org/drawingml/2006/main">
              <a:ext uri="{FF2B5EF4-FFF2-40B4-BE49-F238E27FC236}">
                <a16:creationId xmlns:a16="http://schemas.microsoft.com/office/drawing/2014/main" id="{4D3FB2E1-65E8-4C25-B167-27DFB46A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FCF"/>
            </a:solidFill>
            <a:prstDash val="solid"/>
          </a:ln>
        </p:spPr>
      </p:sp>
      <p:sp>
        <p:nvSpPr>
          <p:cNvPr id="15" name="阶段内容-2">
            <a:extLst xmlns:a="http://schemas.openxmlformats.org/drawingml/2006/main">
              <a:ext uri="{FF2B5EF4-FFF2-40B4-BE49-F238E27FC236}">
                <a16:creationId xmlns:a16="http://schemas.microsoft.com/office/drawing/2014/main" id="{3099DBC2-F09A-4D28-A6C4-39C006D5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333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核对真实预报获取</a:t>
            </a:r>
          </a:p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记录失败和缺失</a:t>
            </a:r>
          </a:p>
        </p:txBody>
      </p:sp>
      <p:sp>
        <p:nvSpPr>
          <p:cNvPr id="16" name="阶段-3">
            <a:extLst xmlns:a="http://schemas.openxmlformats.org/drawingml/2006/main">
              <a:ext uri="{FF2B5EF4-FFF2-40B4-BE49-F238E27FC236}">
                <a16:creationId xmlns:a16="http://schemas.microsoft.com/office/drawing/2014/main" id="{0249777D-1350-4D6B-9398-E34BEBE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288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C60"/>
                </a:solidFill>
                <a:latin typeface="Microsoft YaHei"/>
                <a:ea typeface="Microsoft YaHei"/>
                <a:cs typeface="Microsoft YaHei"/>
              </a:rPr>
              <a:t>第9到12周</a:t>
            </a:r>
          </a:p>
        </p:txBody>
      </p:sp>
      <p:sp>
        <p:nvSpPr>
          <p:cNvPr id="17" name="阶段名-3">
            <a:extLst xmlns:a="http://schemas.openxmlformats.org/drawingml/2006/main">
              <a:ext uri="{FF2B5EF4-FFF2-40B4-BE49-F238E27FC236}">
                <a16:creationId xmlns:a16="http://schemas.microsoft.com/office/drawing/2014/main" id="{F70D08A7-128B-44C9-9001-66621029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复查与决定</a:t>
            </a:r>
          </a:p>
        </p:txBody>
      </p:sp>
      <p:sp>
        <p:nvSpPr>
          <p:cNvPr id="18" name="阶段分隔-3">
            <a:extLst xmlns:a="http://schemas.openxmlformats.org/drawingml/2006/main">
              <a:ext uri="{FF2B5EF4-FFF2-40B4-BE49-F238E27FC236}">
                <a16:creationId xmlns:a16="http://schemas.microsoft.com/office/drawing/2014/main" id="{2CCCD5FB-5055-46B4-ACF4-C328839B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DFCF"/>
            </a:solidFill>
            <a:prstDash val="solid"/>
          </a:ln>
        </p:spPr>
      </p:sp>
      <p:sp>
        <p:nvSpPr>
          <p:cNvPr id="19" name="阶段内容-3">
            <a:extLst xmlns:a="http://schemas.openxmlformats.org/drawingml/2006/main">
              <a:ext uri="{FF2B5EF4-FFF2-40B4-BE49-F238E27FC236}">
                <a16:creationId xmlns:a16="http://schemas.microsoft.com/office/drawing/2014/main" id="{261AE92D-FCB1-44B5-9BF7-5ABC6298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14800"/>
            <a:ext cx="2333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复查操作与失败</a:t>
            </a:r>
          </a:p>
          <a:p xmlns:a="http://schemas.openxmlformats.org/drawingml/2006/main">
            <a:pPr algn="l">
              <a:def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决定继续、修改或停止</a:t>
            </a:r>
          </a:p>
        </p:txBody>
      </p:sp>
      <p:cxnSp>
        <p:nvCxnSpPr>
          <p:cNvPr id="20" name="阶段连接-0">
            <a:extLst xmlns:a="http://schemas.openxmlformats.org/drawingml/2006/main">
              <a:ext uri="{FF2B5EF4-FFF2-40B4-BE49-F238E27FC236}">
                <a16:creationId xmlns:a16="http://schemas.microsoft.com/office/drawing/2014/main" id="{A0403409-DF75-4FAD-84B1-624FC1464996}"/>
              </a:ext>
            </a:extLst>
          </p:cNvPr>
          <p:cNvCxnSpPr/>
          <p:nvPr/>
        </p:nvCxnSpPr>
        <p:spPr>
          <a:xfrm xmlns:a="http://schemas.openxmlformats.org/drawingml/2006/main">
            <a:off x="3181350" y="33813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6C60"/>
            </a:solidFill>
            <a:tailEnd type="triangle" w="sm" len="sm"/>
          </a:ln>
        </p:spPr>
      </p:cxnSp>
      <p:cxnSp>
        <p:nvCxnSpPr>
          <p:cNvPr id="21" name="阶段连接-1">
            <a:extLst xmlns:a="http://schemas.openxmlformats.org/drawingml/2006/main">
              <a:ext uri="{FF2B5EF4-FFF2-40B4-BE49-F238E27FC236}">
                <a16:creationId xmlns:a16="http://schemas.microsoft.com/office/drawing/2014/main" id="{6A63539B-1667-478D-A877-E41FB0BD0269}"/>
              </a:ext>
            </a:extLst>
          </p:cNvPr>
          <p:cNvCxnSpPr/>
          <p:nvPr/>
        </p:nvCxnSpPr>
        <p:spPr>
          <a:xfrm xmlns:a="http://schemas.openxmlformats.org/drawingml/2006/main">
            <a:off x="5972175" y="33813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6C60"/>
            </a:solidFill>
            <a:tailEnd type="triangle" w="sm" len="sm"/>
          </a:ln>
        </p:spPr>
      </p:cxnSp>
      <p:cxnSp>
        <p:nvCxnSpPr>
          <p:cNvPr id="22" name="阶段连接-2">
            <a:extLst xmlns:a="http://schemas.openxmlformats.org/drawingml/2006/main">
              <a:ext uri="{FF2B5EF4-FFF2-40B4-BE49-F238E27FC236}">
                <a16:creationId xmlns:a16="http://schemas.microsoft.com/office/drawing/2014/main" id="{52812EEA-45DC-45E1-B276-5821A546568E}"/>
              </a:ext>
            </a:extLst>
          </p:cNvPr>
          <p:cNvCxnSpPr/>
          <p:nvPr/>
        </p:nvCxnSpPr>
        <p:spPr>
          <a:xfrm xmlns:a="http://schemas.openxmlformats.org/drawingml/2006/main">
            <a:off x="8772525" y="33813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6C60"/>
            </a:solidFill>
            <a:tailEnd type="triangle" w="sm" len="sm"/>
          </a:ln>
        </p:spPr>
      </p:cxnSp>
      <p:sp>
        <p:nvSpPr>
          <p:cNvPr id="23" name="计划目标">
            <a:extLst xmlns:a="http://schemas.openxmlformats.org/drawingml/2006/main">
              <a:ext uri="{FF2B5EF4-FFF2-40B4-BE49-F238E27FC236}">
                <a16:creationId xmlns:a16="http://schemas.microsoft.com/office/drawing/2014/main" id="{6E7EBFF3-6AFE-41B0-B3E4-2FE237A0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29250"/>
            <a:ext cx="1071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计划目标：至少80%能在3分钟内完成操作，并正确说明关键边界。</a:t>
            </a:r>
          </a:p>
        </p:txBody>
      </p:sp>
      <p:sp>
        <p:nvSpPr>
          <p:cNvPr id="24" name="计划限制">
            <a:extLst xmlns:a="http://schemas.openxmlformats.org/drawingml/2006/main">
              <a:ext uri="{FF2B5EF4-FFF2-40B4-BE49-F238E27FC236}">
                <a16:creationId xmlns:a16="http://schemas.microsoft.com/office/drawing/2014/main" id="{0D447099-D51A-4916-B781-5DC90778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721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06945"/>
                </a:solidFill>
                <a:latin typeface="Microsoft YaHei"/>
                <a:ea typeface="Microsoft YaHei"/>
                <a:cs typeface="Microsoft YaHei"/>
              </a:rPr>
              <a:t>小样本只作可用性探索。本轮90天不包含下一轮完整梅雨期。</a:t>
            </a:r>
          </a:p>
        </p:txBody>
      </p:sp>
    </p:spTree>
    <p:extLst>
      <p:ext uri="{BB962C8B-B14F-4D97-AF65-F5344CB8AC3E}">
        <p14:creationId xmlns:p14="http://schemas.microsoft.com/office/powerpoint/2010/main" val="733994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页码-10">
            <a:extLst xmlns:a="http://schemas.openxmlformats.org/drawingml/2006/main">
              <a:ext uri="{FF2B5EF4-FFF2-40B4-BE49-F238E27FC236}">
                <a16:creationId xmlns:a16="http://schemas.microsoft.com/office/drawing/2014/main" id="{1C417253-A7EF-4CED-8C33-9F47E54A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收束项目">
            <a:extLst xmlns:a="http://schemas.openxmlformats.org/drawingml/2006/main">
              <a:ext uri="{FF2B5EF4-FFF2-40B4-BE49-F238E27FC236}">
                <a16:creationId xmlns:a16="http://schemas.microsoft.com/office/drawing/2014/main" id="{382ABA5A-62A3-4E6D-A2D1-70E9F1FB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23900"/>
            <a:ext cx="1028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rPr>
              <a:t>梅雨有数</a:t>
            </a:r>
          </a:p>
        </p:txBody>
      </p:sp>
      <p:sp>
        <p:nvSpPr>
          <p:cNvPr id="3" name="收束下一步">
            <a:extLst xmlns:a="http://schemas.openxmlformats.org/drawingml/2006/main">
              <a:ext uri="{FF2B5EF4-FFF2-40B4-BE49-F238E27FC236}">
                <a16:creationId xmlns:a16="http://schemas.microsoft.com/office/drawing/2014/main" id="{89704DA9-D0C4-4DF0-918B-91989DD4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81225"/>
            <a:ext cx="10525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C8E3B3"/>
                </a:solidFill>
                <a:latin typeface="Microsoft YaHei"/>
                <a:ea typeface="Microsoft YaHei"/>
                <a:cs typeface="Microsoft YaHei"/>
              </a:rPr>
              <a:t>下一步，检验商户能否看懂并完成这次成本比较</a:t>
            </a:r>
          </a:p>
        </p:txBody>
      </p:sp>
      <p:sp>
        <p:nvSpPr>
          <p:cNvPr id="4" name="收束分隔">
            <a:extLst xmlns:a="http://schemas.openxmlformats.org/drawingml/2006/main">
              <a:ext uri="{FF2B5EF4-FFF2-40B4-BE49-F238E27FC236}">
                <a16:creationId xmlns:a16="http://schemas.microsoft.com/office/drawing/2014/main" id="{3B1F620D-0520-4E97-86D2-078F17D7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2425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34A"/>
            </a:solidFill>
            <a:prstDash val="solid"/>
          </a:ln>
        </p:spPr>
      </p:sp>
      <p:sp>
        <p:nvSpPr>
          <p:cNvPr id="5" name="演示入口标题">
            <a:extLst xmlns:a="http://schemas.openxmlformats.org/drawingml/2006/main">
              <a:ext uri="{FF2B5EF4-FFF2-40B4-BE49-F238E27FC236}">
                <a16:creationId xmlns:a16="http://schemas.microsoft.com/office/drawing/2014/main" id="{CABFC195-64BD-4AD1-9AD6-574F0C48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公开演示入口</a:t>
            </a:r>
          </a:p>
        </p:txBody>
      </p:sp>
      <p:sp>
        <p:nvSpPr>
          <p:cNvPr id="6" name="演示入口">
            <a:extLst xmlns:a="http://schemas.openxmlformats.org/drawingml/2006/main">
              <a:ext uri="{FF2B5EF4-FFF2-40B4-BE49-F238E27FC236}">
                <a16:creationId xmlns:a16="http://schemas.microsoft.com/office/drawing/2014/main" id="{166D65CF-B39C-426D-9A6E-00F5474D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09483d86f04c84"/>
              </a:rPr>
              <a:t>kongbaigit.github.io/meiyu-ai4climate/</a:t>
            </a:r>
          </a:p>
        </p:txBody>
      </p:sp>
      <p:sp>
        <p:nvSpPr>
          <p:cNvPr id="7" name="仓库入口标题">
            <a:extLst xmlns:a="http://schemas.openxmlformats.org/drawingml/2006/main">
              <a:ext uri="{FF2B5EF4-FFF2-40B4-BE49-F238E27FC236}">
                <a16:creationId xmlns:a16="http://schemas.microsoft.com/office/drawing/2014/main" id="{7C756B00-C963-42B3-99BB-84384D79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9C5A9"/>
                </a:solidFill>
                <a:latin typeface="Microsoft YaHei"/>
                <a:ea typeface="Microsoft YaHei"/>
                <a:cs typeface="Microsoft YaHei"/>
              </a:rPr>
              <a:t>代码与可复现证据</a:t>
            </a:r>
          </a:p>
        </p:txBody>
      </p:sp>
      <p:sp>
        <p:nvSpPr>
          <p:cNvPr id="8" name="代码入口">
            <a:extLst xmlns:a="http://schemas.openxmlformats.org/drawingml/2006/main">
              <a:ext uri="{FF2B5EF4-FFF2-40B4-BE49-F238E27FC236}">
                <a16:creationId xmlns:a16="http://schemas.microsoft.com/office/drawing/2014/main" id="{CDC3DF00-0016-4188-98F0-F13EC2A2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0EFD7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d9b689aee74f2d"/>
              </a:rPr>
              <a:t>github.com/kongbaigit/meiyu-ai4climate</a:t>
            </a:r>
          </a:p>
        </p:txBody>
      </p:sp>
    </p:spTree>
    <p:extLst>
      <p:ext uri="{BB962C8B-B14F-4D97-AF65-F5344CB8AC3E}">
        <p14:creationId xmlns:p14="http://schemas.microsoft.com/office/powerpoint/2010/main" val="781759265"/>
      </p:ext>
    </p:extLst>
  </p:cSld>
</p:sld>
</file>

<file path=ppt/theme/theme1.xml><?xml version="1.0" encoding="utf-8"?>
<a:theme xmlns:a="http://schemas.openxmlformats.org/drawingml/2006/main" name="ChatGPT">
  <a:themeElements>
    <a:clrScheme name="梅雨有数">
      <a:dk1>
        <a:srgbClr val="102E2A"/>
      </a:dk1>
      <a:lt1>
        <a:srgbClr val="FFFEF8"/>
      </a:lt1>
      <a:dk2>
        <a:srgbClr val="173E36"/>
      </a:dk2>
      <a:lt2>
        <a:srgbClr val="F0EFD7"/>
      </a:lt2>
      <a:accent1>
        <a:srgbClr val="286C60"/>
      </a:accent1>
      <a:accent2>
        <a:srgbClr val="E8BE78"/>
      </a:accent2>
      <a:accent3>
        <a:srgbClr val="C8E3B3"/>
      </a:accent3>
      <a:accent4>
        <a:srgbClr val="B06945"/>
      </a:accent4>
      <a:accent5>
        <a:srgbClr val="687C6C"/>
      </a:accent5>
      <a:accent6>
        <a:srgbClr val="173E36"/>
      </a:accent6>
      <a:hlink>
        <a:srgbClr val="F0EFD7"/>
      </a:hlink>
      <a:folHlink>
        <a:srgbClr val="C8E3B3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梅雨有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2026-10-19T12:15:52.3770000Z</dcterms:created>
  <dcterms:modified xsi:type="dcterms:W3CDTF">2026-10-19T12:15:52.3770000Z</dcterms:modified>
</coreProperties>
</file>